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alibri" panose="020F0502020204030204" pitchFamily="34" charset="0"/>
      <p:regular r:id="rId24"/>
      <p:bold r:id="rId25"/>
      <p:italic r:id="rId26"/>
      <p:boldItalic r:id="rId27"/>
    </p:embeddedFont>
    <p:embeddedFont>
      <p:font typeface="Open Sauce" panose="020B0604020202020204" charset="0"/>
      <p:regular r:id="rId28"/>
    </p:embeddedFont>
    <p:embeddedFont>
      <p:font typeface="Open Sauce Bold" panose="020B0604020202020204" charset="0"/>
      <p:regular r:id="rId29"/>
    </p:embeddedFont>
    <p:embeddedFont>
      <p:font typeface="Open Sauce Medium" panose="020B0604020202020204" charset="0"/>
      <p:regular r:id="rId30"/>
    </p:embeddedFont>
    <p:embeddedFont>
      <p:font typeface="Open Sauce Semi-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57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228104" y="1642920"/>
            <a:ext cx="5478542" cy="6343575"/>
          </a:xfrm>
          <a:custGeom>
            <a:avLst/>
            <a:gdLst/>
            <a:ahLst/>
            <a:cxnLst/>
            <a:rect l="l" t="t" r="r" b="b"/>
            <a:pathLst>
              <a:path w="5478542" h="6343575">
                <a:moveTo>
                  <a:pt x="0" y="0"/>
                </a:moveTo>
                <a:lnTo>
                  <a:pt x="5478542" y="0"/>
                </a:lnTo>
                <a:lnTo>
                  <a:pt x="5478542" y="6343575"/>
                </a:lnTo>
                <a:lnTo>
                  <a:pt x="0" y="634357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491933" y="834292"/>
            <a:ext cx="12711761" cy="3980415"/>
          </a:xfrm>
          <a:prstGeom prst="rect">
            <a:avLst/>
          </a:prstGeom>
        </p:spPr>
        <p:txBody>
          <a:bodyPr lIns="0" tIns="0" rIns="0" bIns="0" rtlCol="0" anchor="t">
            <a:spAutoFit/>
          </a:bodyPr>
          <a:lstStyle/>
          <a:p>
            <a:pPr algn="l">
              <a:lnSpc>
                <a:spcPts val="10274"/>
              </a:lnSpc>
            </a:pPr>
            <a:r>
              <a:rPr lang="en-US" sz="10930" b="1" spc="-229">
                <a:solidFill>
                  <a:srgbClr val="FFFFFF"/>
                </a:solidFill>
                <a:latin typeface="Open Sauce Bold"/>
                <a:ea typeface="Open Sauce Bold"/>
                <a:cs typeface="Open Sauce Bold"/>
                <a:sym typeface="Open Sauce Bold"/>
              </a:rPr>
              <a:t>Customer Attrition Forecasting in Banking</a:t>
            </a:r>
          </a:p>
        </p:txBody>
      </p:sp>
      <p:sp>
        <p:nvSpPr>
          <p:cNvPr id="4" name="TextBox 4"/>
          <p:cNvSpPr txBox="1"/>
          <p:nvPr/>
        </p:nvSpPr>
        <p:spPr>
          <a:xfrm>
            <a:off x="588480" y="5765914"/>
            <a:ext cx="9758048" cy="882113"/>
          </a:xfrm>
          <a:prstGeom prst="rect">
            <a:avLst/>
          </a:prstGeom>
        </p:spPr>
        <p:txBody>
          <a:bodyPr lIns="0" tIns="0" rIns="0" bIns="0" rtlCol="0" anchor="t">
            <a:spAutoFit/>
          </a:bodyPr>
          <a:lstStyle/>
          <a:p>
            <a:pPr algn="l">
              <a:lnSpc>
                <a:spcPts val="3502"/>
              </a:lnSpc>
            </a:pPr>
            <a:r>
              <a:rPr lang="en-US" sz="3019" b="1">
                <a:gradFill>
                  <a:gsLst>
                    <a:gs pos="0">
                      <a:srgbClr val="000000">
                        <a:alpha val="100000"/>
                      </a:srgbClr>
                    </a:gs>
                    <a:gs pos="100000">
                      <a:srgbClr val="3533CD">
                        <a:alpha val="100000"/>
                      </a:srgbClr>
                    </a:gs>
                  </a:gsLst>
                  <a:lin ang="0"/>
                </a:gradFill>
                <a:latin typeface="Open Sauce Medium"/>
                <a:ea typeface="Open Sauce Medium"/>
                <a:cs typeface="Open Sauce Medium"/>
                <a:sym typeface="Open Sauce Medium"/>
              </a:rPr>
              <a:t>Data-driven insights to retain customers and improve loyalty </a:t>
            </a:r>
          </a:p>
        </p:txBody>
      </p:sp>
      <p:sp>
        <p:nvSpPr>
          <p:cNvPr id="5" name="TextBox 5"/>
          <p:cNvSpPr txBox="1"/>
          <p:nvPr/>
        </p:nvSpPr>
        <p:spPr>
          <a:xfrm>
            <a:off x="588480" y="8656842"/>
            <a:ext cx="6259334" cy="462915"/>
          </a:xfrm>
          <a:prstGeom prst="rect">
            <a:avLst/>
          </a:prstGeom>
        </p:spPr>
        <p:txBody>
          <a:bodyPr lIns="0" tIns="0" rIns="0" bIns="0" rtlCol="0" anchor="t">
            <a:spAutoFit/>
          </a:bodyPr>
          <a:lstStyle/>
          <a:p>
            <a:pPr algn="l">
              <a:lnSpc>
                <a:spcPts val="3465"/>
              </a:lnSpc>
            </a:pPr>
            <a:r>
              <a:rPr lang="en-US" sz="3300" spc="-26">
                <a:solidFill>
                  <a:srgbClr val="FFFFFF"/>
                </a:solidFill>
                <a:latin typeface="Open Sauce"/>
                <a:ea typeface="Open Sauce"/>
                <a:cs typeface="Open Sauce"/>
                <a:sym typeface="Open Sauce"/>
              </a:rPr>
              <a:t>Satelite Alison Ndayikunda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12390070" y="2872253"/>
            <a:ext cx="5477339" cy="3993478"/>
          </a:xfrm>
          <a:custGeom>
            <a:avLst/>
            <a:gdLst/>
            <a:ahLst/>
            <a:cxnLst/>
            <a:rect l="l" t="t" r="r" b="b"/>
            <a:pathLst>
              <a:path w="5477339" h="3993478">
                <a:moveTo>
                  <a:pt x="0" y="0"/>
                </a:moveTo>
                <a:lnTo>
                  <a:pt x="5477339" y="0"/>
                </a:lnTo>
                <a:lnTo>
                  <a:pt x="5477339" y="3993478"/>
                </a:lnTo>
                <a:lnTo>
                  <a:pt x="0" y="399347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TextBox 4"/>
          <p:cNvSpPr txBox="1"/>
          <p:nvPr/>
        </p:nvSpPr>
        <p:spPr>
          <a:xfrm>
            <a:off x="1310900" y="603880"/>
            <a:ext cx="6958584" cy="878216"/>
          </a:xfrm>
          <a:prstGeom prst="rect">
            <a:avLst/>
          </a:prstGeom>
        </p:spPr>
        <p:txBody>
          <a:bodyPr lIns="0" tIns="0" rIns="0" bIns="0" rtlCol="0" anchor="t">
            <a:spAutoFit/>
          </a:bodyPr>
          <a:lstStyle/>
          <a:p>
            <a:pPr marL="0" lvl="0" indent="0" algn="l">
              <a:lnSpc>
                <a:spcPts val="6962"/>
              </a:lnSpc>
              <a:spcBef>
                <a:spcPct val="0"/>
              </a:spcBef>
            </a:pPr>
            <a:r>
              <a:rPr lang="en-US" sz="6002" b="1" spc="-306">
                <a:solidFill>
                  <a:srgbClr val="0097B2"/>
                </a:solidFill>
                <a:latin typeface="Open Sauce Bold"/>
                <a:ea typeface="Open Sauce Bold"/>
                <a:cs typeface="Open Sauce Bold"/>
                <a:sym typeface="Open Sauce Bold"/>
              </a:rPr>
              <a:t>Problem Statement</a:t>
            </a:r>
          </a:p>
        </p:txBody>
      </p:sp>
      <p:sp>
        <p:nvSpPr>
          <p:cNvPr id="5" name="TextBox 5"/>
          <p:cNvSpPr txBox="1"/>
          <p:nvPr/>
        </p:nvSpPr>
        <p:spPr>
          <a:xfrm>
            <a:off x="1310900" y="1737553"/>
            <a:ext cx="10300288" cy="3131439"/>
          </a:xfrm>
          <a:prstGeom prst="rect">
            <a:avLst/>
          </a:prstGeom>
        </p:spPr>
        <p:txBody>
          <a:bodyPr lIns="0" tIns="0" rIns="0" bIns="0" rtlCol="0" anchor="t">
            <a:spAutoFit/>
          </a:bodyPr>
          <a:lstStyle/>
          <a:p>
            <a:pPr marL="0" lvl="0" indent="0" algn="l">
              <a:lnSpc>
                <a:spcPts val="3528"/>
              </a:lnSpc>
              <a:spcBef>
                <a:spcPct val="0"/>
              </a:spcBef>
            </a:pPr>
            <a:r>
              <a:rPr lang="en-US" sz="2800" b="1" u="none" strike="noStrike" spc="8">
                <a:solidFill>
                  <a:srgbClr val="282A29"/>
                </a:solidFill>
                <a:latin typeface="Open Sauce Medium"/>
                <a:ea typeface="Open Sauce Medium"/>
                <a:cs typeface="Open Sauce Medium"/>
                <a:sym typeface="Open Sauce Medium"/>
              </a:rPr>
              <a:t>Lison Bank faces customer churn in its credit card services, with approximately 16% of customers leaving. Understanding which customers are likely to churn and which are most loyal is critical for designing effective retention strategies and maximizing revenue. The challenge is compounded by class imbalance and limited context on certain customer behaviors.</a:t>
            </a:r>
          </a:p>
        </p:txBody>
      </p:sp>
      <p:sp>
        <p:nvSpPr>
          <p:cNvPr id="6" name="TextBox 6"/>
          <p:cNvSpPr txBox="1"/>
          <p:nvPr/>
        </p:nvSpPr>
        <p:spPr>
          <a:xfrm>
            <a:off x="1310900" y="5172075"/>
            <a:ext cx="6981028" cy="740294"/>
          </a:xfrm>
          <a:prstGeom prst="rect">
            <a:avLst/>
          </a:prstGeom>
        </p:spPr>
        <p:txBody>
          <a:bodyPr lIns="0" tIns="0" rIns="0" bIns="0" rtlCol="0" anchor="t">
            <a:spAutoFit/>
          </a:bodyPr>
          <a:lstStyle/>
          <a:p>
            <a:pPr marL="0" lvl="0" indent="0" algn="l">
              <a:lnSpc>
                <a:spcPts val="5918"/>
              </a:lnSpc>
              <a:spcBef>
                <a:spcPct val="0"/>
              </a:spcBef>
            </a:pPr>
            <a:r>
              <a:rPr lang="en-US" sz="5102" b="1" spc="-260">
                <a:solidFill>
                  <a:srgbClr val="0097B2"/>
                </a:solidFill>
                <a:latin typeface="Open Sauce Semi-Bold"/>
                <a:ea typeface="Open Sauce Semi-Bold"/>
                <a:cs typeface="Open Sauce Semi-Bold"/>
                <a:sym typeface="Open Sauce Semi-Bold"/>
              </a:rPr>
              <a:t>Presentation Objectives</a:t>
            </a:r>
          </a:p>
        </p:txBody>
      </p:sp>
      <p:sp>
        <p:nvSpPr>
          <p:cNvPr id="7" name="TextBox 7"/>
          <p:cNvSpPr txBox="1"/>
          <p:nvPr/>
        </p:nvSpPr>
        <p:spPr>
          <a:xfrm>
            <a:off x="1028700" y="6169544"/>
            <a:ext cx="11079169" cy="4922139"/>
          </a:xfrm>
          <a:prstGeom prst="rect">
            <a:avLst/>
          </a:prstGeom>
        </p:spPr>
        <p:txBody>
          <a:bodyPr lIns="0" tIns="0" rIns="0" bIns="0" rtlCol="0" anchor="t">
            <a:spAutoFit/>
          </a:bodyPr>
          <a:lstStyle/>
          <a:p>
            <a:pPr marL="604532" lvl="1" indent="-302266" algn="l">
              <a:lnSpc>
                <a:spcPts val="3528"/>
              </a:lnSpc>
              <a:spcBef>
                <a:spcPct val="0"/>
              </a:spcBef>
              <a:buFont typeface="Arial"/>
              <a:buChar char="•"/>
            </a:pPr>
            <a:r>
              <a:rPr lang="en-US" sz="2800" b="1" spc="8">
                <a:solidFill>
                  <a:srgbClr val="282A29"/>
                </a:solidFill>
                <a:latin typeface="Open Sauce Medium"/>
                <a:ea typeface="Open Sauce Medium"/>
                <a:cs typeface="Open Sauce Medium"/>
                <a:sym typeface="Open Sauce Medium"/>
              </a:rPr>
              <a:t>Sh</a:t>
            </a:r>
            <a:r>
              <a:rPr lang="en-US" sz="2800" b="1" u="none" strike="noStrike" spc="8">
                <a:solidFill>
                  <a:srgbClr val="282A29"/>
                </a:solidFill>
                <a:latin typeface="Open Sauce Medium"/>
                <a:ea typeface="Open Sauce Medium"/>
                <a:cs typeface="Open Sauce Medium"/>
                <a:sym typeface="Open Sauce Medium"/>
              </a:rPr>
              <a:t>ow analysis of customer churn patterns at Lison Bank</a:t>
            </a:r>
          </a:p>
          <a:p>
            <a:pPr marL="604532" lvl="1" indent="-302266" algn="l">
              <a:lnSpc>
                <a:spcPts val="3528"/>
              </a:lnSpc>
              <a:spcBef>
                <a:spcPct val="0"/>
              </a:spcBef>
              <a:buFont typeface="Arial"/>
              <a:buChar char="•"/>
            </a:pPr>
            <a:r>
              <a:rPr lang="en-US" sz="2800" b="1" u="none" strike="noStrike" spc="8">
                <a:solidFill>
                  <a:srgbClr val="282A29"/>
                </a:solidFill>
                <a:latin typeface="Open Sauce Medium"/>
                <a:ea typeface="Open Sauce Medium"/>
                <a:cs typeface="Open Sauce Medium"/>
                <a:sym typeface="Open Sauce Medium"/>
              </a:rPr>
              <a:t>Highlight key factors driving churn using feature importance</a:t>
            </a:r>
          </a:p>
          <a:p>
            <a:pPr marL="604532" lvl="1" indent="-302266" algn="l">
              <a:lnSpc>
                <a:spcPts val="3528"/>
              </a:lnSpc>
              <a:spcBef>
                <a:spcPct val="0"/>
              </a:spcBef>
              <a:buFont typeface="Arial"/>
              <a:buChar char="•"/>
            </a:pPr>
            <a:r>
              <a:rPr lang="en-US" sz="2800" b="1" u="none" strike="noStrike" spc="8">
                <a:solidFill>
                  <a:srgbClr val="282A29"/>
                </a:solidFill>
                <a:latin typeface="Open Sauce Medium"/>
                <a:ea typeface="Open Sauce Medium"/>
                <a:cs typeface="Open Sauce Medium"/>
                <a:sym typeface="Open Sauce Medium"/>
              </a:rPr>
              <a:t>Present predictive models to identify high-risk and loyal customers</a:t>
            </a:r>
          </a:p>
          <a:p>
            <a:pPr marL="604532" lvl="1" indent="-302266" algn="l">
              <a:lnSpc>
                <a:spcPts val="3528"/>
              </a:lnSpc>
              <a:spcBef>
                <a:spcPct val="0"/>
              </a:spcBef>
              <a:buFont typeface="Arial"/>
              <a:buChar char="•"/>
            </a:pPr>
            <a:r>
              <a:rPr lang="en-US" sz="2800" b="1" u="none" strike="noStrike" spc="8">
                <a:solidFill>
                  <a:srgbClr val="282A29"/>
                </a:solidFill>
                <a:latin typeface="Open Sauce Medium"/>
                <a:ea typeface="Open Sauce Medium"/>
                <a:cs typeface="Open Sauce Medium"/>
                <a:sym typeface="Open Sauce Medium"/>
              </a:rPr>
              <a:t>Recommend data-driven strategies to improve retention and engagement</a:t>
            </a:r>
          </a:p>
          <a:p>
            <a:pPr marL="0" lvl="0" indent="0" algn="l">
              <a:lnSpc>
                <a:spcPts val="3528"/>
              </a:lnSpc>
              <a:spcBef>
                <a:spcPct val="0"/>
              </a:spcBef>
            </a:pPr>
            <a:endParaRPr lang="en-US" sz="2800" b="1" u="none" strike="noStrike" spc="8">
              <a:solidFill>
                <a:srgbClr val="282A29"/>
              </a:solidFill>
              <a:latin typeface="Open Sauce Medium"/>
              <a:ea typeface="Open Sauce Medium"/>
              <a:cs typeface="Open Sauce Medium"/>
              <a:sym typeface="Open Sauce Medium"/>
            </a:endParaRPr>
          </a:p>
          <a:p>
            <a:pPr marL="0" lvl="0" indent="0" algn="l">
              <a:lnSpc>
                <a:spcPts val="3528"/>
              </a:lnSpc>
              <a:spcBef>
                <a:spcPct val="0"/>
              </a:spcBef>
            </a:pPr>
            <a:endParaRPr lang="en-US" sz="2800" b="1" u="none" strike="noStrike" spc="8">
              <a:solidFill>
                <a:srgbClr val="282A29"/>
              </a:solidFill>
              <a:latin typeface="Open Sauce Medium"/>
              <a:ea typeface="Open Sauce Medium"/>
              <a:cs typeface="Open Sauce Medium"/>
              <a:sym typeface="Open Sauce Medium"/>
            </a:endParaRPr>
          </a:p>
          <a:p>
            <a:pPr marL="0" lvl="0" indent="0" algn="l">
              <a:lnSpc>
                <a:spcPts val="3528"/>
              </a:lnSpc>
              <a:spcBef>
                <a:spcPct val="0"/>
              </a:spcBef>
            </a:pPr>
            <a:endParaRPr lang="en-US" sz="2800" b="1" u="none" strike="noStrike" spc="8">
              <a:solidFill>
                <a:srgbClr val="282A29"/>
              </a:solidFill>
              <a:latin typeface="Open Sauce Medium"/>
              <a:ea typeface="Open Sauce Medium"/>
              <a:cs typeface="Open Sauce Medium"/>
              <a:sym typeface="Open Sauce Medium"/>
            </a:endParaRPr>
          </a:p>
          <a:p>
            <a:pPr marL="0" lvl="0" indent="0" algn="l">
              <a:lnSpc>
                <a:spcPts val="3528"/>
              </a:lnSpc>
              <a:spcBef>
                <a:spcPct val="0"/>
              </a:spcBef>
            </a:pPr>
            <a:endParaRPr lang="en-US" sz="2800" b="1" u="none" strike="noStrike" spc="8">
              <a:solidFill>
                <a:srgbClr val="282A29"/>
              </a:solidFill>
              <a:latin typeface="Open Sauce Medium"/>
              <a:ea typeface="Open Sauce Medium"/>
              <a:cs typeface="Open Sauce Medium"/>
              <a:sym typeface="Open Sauce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4204801" y="341713"/>
            <a:ext cx="9270290" cy="1042386"/>
          </a:xfrm>
          <a:prstGeom prst="rect">
            <a:avLst/>
          </a:prstGeom>
        </p:spPr>
        <p:txBody>
          <a:bodyPr lIns="0" tIns="0" rIns="0" bIns="0" rtlCol="0" anchor="t">
            <a:spAutoFit/>
          </a:bodyPr>
          <a:lstStyle/>
          <a:p>
            <a:pPr algn="ctr">
              <a:lnSpc>
                <a:spcPts val="8012"/>
              </a:lnSpc>
            </a:pPr>
            <a:r>
              <a:rPr lang="en-US" sz="7704" b="1" spc="-392">
                <a:solidFill>
                  <a:srgbClr val="0097B2"/>
                </a:solidFill>
                <a:latin typeface="Open Sauce Semi-Bold"/>
                <a:ea typeface="Open Sauce Semi-Bold"/>
                <a:cs typeface="Open Sauce Semi-Bold"/>
                <a:sym typeface="Open Sauce Semi-Bold"/>
              </a:rPr>
              <a:t>Dataset Overview</a:t>
            </a:r>
          </a:p>
        </p:txBody>
      </p:sp>
      <p:sp>
        <p:nvSpPr>
          <p:cNvPr id="4" name="TextBox 4"/>
          <p:cNvSpPr txBox="1"/>
          <p:nvPr/>
        </p:nvSpPr>
        <p:spPr>
          <a:xfrm>
            <a:off x="1028700" y="1859446"/>
            <a:ext cx="16388526" cy="8529027"/>
          </a:xfrm>
          <a:prstGeom prst="rect">
            <a:avLst/>
          </a:prstGeom>
        </p:spPr>
        <p:txBody>
          <a:bodyPr lIns="0" tIns="0" rIns="0" bIns="0" rtlCol="0" anchor="t">
            <a:spAutoFit/>
          </a:bodyPr>
          <a:lstStyle/>
          <a:p>
            <a:pPr algn="l">
              <a:lnSpc>
                <a:spcPts val="4104"/>
              </a:lnSpc>
            </a:pPr>
            <a:r>
              <a:rPr lang="en-US" sz="3086" spc="9">
                <a:solidFill>
                  <a:srgbClr val="282A29"/>
                </a:solidFill>
                <a:latin typeface="Open Sauce"/>
                <a:ea typeface="Open Sauce"/>
                <a:cs typeface="Open Sauce"/>
                <a:sym typeface="Open Sauce"/>
              </a:rPr>
              <a:t>Records: </a:t>
            </a:r>
            <a:r>
              <a:rPr lang="en-US" sz="3086" b="1" spc="9">
                <a:solidFill>
                  <a:srgbClr val="000000"/>
                </a:solidFill>
                <a:latin typeface="Open Sauce Bold"/>
                <a:ea typeface="Open Sauce Bold"/>
                <a:cs typeface="Open Sauce Bold"/>
                <a:sym typeface="Open Sauce Bold"/>
              </a:rPr>
              <a:t>10,127 customers</a:t>
            </a:r>
            <a:r>
              <a:rPr lang="en-US" sz="3086" spc="9">
                <a:solidFill>
                  <a:srgbClr val="282A29"/>
                </a:solidFill>
                <a:latin typeface="Open Sauce"/>
                <a:ea typeface="Open Sauce"/>
                <a:cs typeface="Open Sauce"/>
                <a:sym typeface="Open Sauce"/>
              </a:rPr>
              <a:t> with demographics, credit card usage, and transaction history</a:t>
            </a:r>
          </a:p>
          <a:p>
            <a:pPr algn="l">
              <a:lnSpc>
                <a:spcPts val="4104"/>
              </a:lnSpc>
            </a:pPr>
            <a:endParaRPr lang="en-US" sz="3086" spc="9">
              <a:solidFill>
                <a:srgbClr val="282A29"/>
              </a:solidFill>
              <a:latin typeface="Open Sauce"/>
              <a:ea typeface="Open Sauce"/>
              <a:cs typeface="Open Sauce"/>
              <a:sym typeface="Open Sauce"/>
            </a:endParaRPr>
          </a:p>
          <a:p>
            <a:pPr algn="l">
              <a:lnSpc>
                <a:spcPts val="4104"/>
              </a:lnSpc>
            </a:pPr>
            <a:r>
              <a:rPr lang="en-US" sz="3086" b="1" spc="9">
                <a:solidFill>
                  <a:srgbClr val="000000"/>
                </a:solidFill>
                <a:latin typeface="Open Sauce Bold"/>
                <a:ea typeface="Open Sauce Bold"/>
                <a:cs typeface="Open Sauce Bold"/>
                <a:sym typeface="Open Sauce Bold"/>
              </a:rPr>
              <a:t>Target Variable</a:t>
            </a:r>
            <a:r>
              <a:rPr lang="en-US" sz="3086" spc="9">
                <a:solidFill>
                  <a:srgbClr val="000000"/>
                </a:solidFill>
                <a:latin typeface="Open Sauce"/>
                <a:ea typeface="Open Sauce"/>
                <a:cs typeface="Open Sauce"/>
                <a:sym typeface="Open Sauce"/>
              </a:rPr>
              <a:t>:</a:t>
            </a:r>
            <a:r>
              <a:rPr lang="en-US" sz="3086" spc="9">
                <a:solidFill>
                  <a:srgbClr val="004AAD"/>
                </a:solidFill>
                <a:latin typeface="Open Sauce"/>
                <a:ea typeface="Open Sauce"/>
                <a:cs typeface="Open Sauce"/>
                <a:sym typeface="Open Sauce"/>
              </a:rPr>
              <a:t> </a:t>
            </a:r>
            <a:r>
              <a:rPr lang="en-US" sz="3086" spc="9">
                <a:solidFill>
                  <a:srgbClr val="0097B2"/>
                </a:solidFill>
                <a:latin typeface="Open Sauce"/>
                <a:ea typeface="Open Sauce"/>
                <a:cs typeface="Open Sauce"/>
                <a:sym typeface="Open Sauce"/>
              </a:rPr>
              <a:t>Attrition_Flag – </a:t>
            </a:r>
            <a:r>
              <a:rPr lang="en-US" sz="3086" spc="9">
                <a:solidFill>
                  <a:srgbClr val="282A29"/>
                </a:solidFill>
                <a:latin typeface="Open Sauce"/>
                <a:ea typeface="Open Sauce"/>
                <a:cs typeface="Open Sauce"/>
                <a:sym typeface="Open Sauce"/>
              </a:rPr>
              <a:t>whether a customer churned or stayed (~16% churn)</a:t>
            </a:r>
          </a:p>
          <a:p>
            <a:pPr algn="l">
              <a:lnSpc>
                <a:spcPts val="4104"/>
              </a:lnSpc>
            </a:pPr>
            <a:endParaRPr lang="en-US" sz="3086" spc="9">
              <a:solidFill>
                <a:srgbClr val="282A29"/>
              </a:solidFill>
              <a:latin typeface="Open Sauce"/>
              <a:ea typeface="Open Sauce"/>
              <a:cs typeface="Open Sauce"/>
              <a:sym typeface="Open Sauce"/>
            </a:endParaRPr>
          </a:p>
          <a:p>
            <a:pPr algn="l">
              <a:lnSpc>
                <a:spcPts val="4104"/>
              </a:lnSpc>
            </a:pPr>
            <a:r>
              <a:rPr lang="en-US" sz="3086" b="1" spc="9">
                <a:solidFill>
                  <a:srgbClr val="000000"/>
                </a:solidFill>
                <a:latin typeface="Open Sauce Bold"/>
                <a:ea typeface="Open Sauce Bold"/>
                <a:cs typeface="Open Sauce Bold"/>
                <a:sym typeface="Open Sauce Bold"/>
              </a:rPr>
              <a:t>Feature Groups:</a:t>
            </a:r>
          </a:p>
          <a:p>
            <a:pPr marL="666365" lvl="1" indent="-333183" algn="l">
              <a:lnSpc>
                <a:spcPts val="4104"/>
              </a:lnSpc>
              <a:buFont typeface="Arial"/>
              <a:buChar char="•"/>
            </a:pPr>
            <a:r>
              <a:rPr lang="en-US" sz="3086" b="1" spc="9">
                <a:solidFill>
                  <a:srgbClr val="0097B2"/>
                </a:solidFill>
                <a:latin typeface="Open Sauce Bold"/>
                <a:ea typeface="Open Sauce Bold"/>
                <a:cs typeface="Open Sauce Bold"/>
                <a:sym typeface="Open Sauce Bold"/>
              </a:rPr>
              <a:t>Demographics:</a:t>
            </a:r>
            <a:r>
              <a:rPr lang="en-US" sz="3086" spc="9">
                <a:solidFill>
                  <a:srgbClr val="0097B2"/>
                </a:solidFill>
                <a:latin typeface="Open Sauce"/>
                <a:ea typeface="Open Sauce"/>
                <a:cs typeface="Open Sauce"/>
                <a:sym typeface="Open Sauce"/>
              </a:rPr>
              <a:t> </a:t>
            </a:r>
            <a:r>
              <a:rPr lang="en-US" sz="3086" spc="9">
                <a:solidFill>
                  <a:srgbClr val="282A29"/>
                </a:solidFill>
                <a:latin typeface="Open Sauce"/>
                <a:ea typeface="Open Sauce"/>
                <a:cs typeface="Open Sauce"/>
                <a:sym typeface="Open Sauce"/>
              </a:rPr>
              <a:t>Customer_Age, Gender, Dependent_count, Education_Level, Marital_Status, Income_Category</a:t>
            </a:r>
          </a:p>
          <a:p>
            <a:pPr marL="666365" lvl="1" indent="-333183" algn="l">
              <a:lnSpc>
                <a:spcPts val="4104"/>
              </a:lnSpc>
              <a:buFont typeface="Arial"/>
              <a:buChar char="•"/>
            </a:pPr>
            <a:r>
              <a:rPr lang="en-US" sz="3086" b="1" spc="9">
                <a:solidFill>
                  <a:srgbClr val="0097B2"/>
                </a:solidFill>
                <a:latin typeface="Open Sauce Bold"/>
                <a:ea typeface="Open Sauce Bold"/>
                <a:cs typeface="Open Sauce Bold"/>
                <a:sym typeface="Open Sauce Bold"/>
              </a:rPr>
              <a:t>Product &amp; Relationship:</a:t>
            </a:r>
            <a:r>
              <a:rPr lang="en-US" sz="3086" spc="9">
                <a:solidFill>
                  <a:srgbClr val="0097B2"/>
                </a:solidFill>
                <a:latin typeface="Open Sauce"/>
                <a:ea typeface="Open Sauce"/>
                <a:cs typeface="Open Sauce"/>
                <a:sym typeface="Open Sauce"/>
              </a:rPr>
              <a:t> </a:t>
            </a:r>
            <a:r>
              <a:rPr lang="en-US" sz="3086" spc="9">
                <a:solidFill>
                  <a:srgbClr val="282A29"/>
                </a:solidFill>
                <a:latin typeface="Open Sauce"/>
                <a:ea typeface="Open Sauce"/>
                <a:cs typeface="Open Sauce"/>
                <a:sym typeface="Open Sauce"/>
              </a:rPr>
              <a:t>Months_on_book, Total_Relationship_Count, Card_Category</a:t>
            </a:r>
          </a:p>
          <a:p>
            <a:pPr marL="666365" lvl="1" indent="-333183" algn="l">
              <a:lnSpc>
                <a:spcPts val="4104"/>
              </a:lnSpc>
              <a:buFont typeface="Arial"/>
              <a:buChar char="•"/>
            </a:pPr>
            <a:r>
              <a:rPr lang="en-US" sz="3086" b="1" spc="9">
                <a:solidFill>
                  <a:srgbClr val="0097B2"/>
                </a:solidFill>
                <a:latin typeface="Open Sauce Bold"/>
                <a:ea typeface="Open Sauce Bold"/>
                <a:cs typeface="Open Sauce Bold"/>
                <a:sym typeface="Open Sauce Bold"/>
              </a:rPr>
              <a:t>Engagement</a:t>
            </a:r>
            <a:r>
              <a:rPr lang="en-US" sz="3086" spc="9">
                <a:solidFill>
                  <a:srgbClr val="0097B2"/>
                </a:solidFill>
                <a:latin typeface="Open Sauce"/>
                <a:ea typeface="Open Sauce"/>
                <a:cs typeface="Open Sauce"/>
                <a:sym typeface="Open Sauce"/>
              </a:rPr>
              <a:t>: </a:t>
            </a:r>
            <a:r>
              <a:rPr lang="en-US" sz="3086" spc="9">
                <a:solidFill>
                  <a:srgbClr val="282A29"/>
                </a:solidFill>
                <a:latin typeface="Open Sauce"/>
                <a:ea typeface="Open Sauce"/>
                <a:cs typeface="Open Sauce"/>
                <a:sym typeface="Open Sauce"/>
              </a:rPr>
              <a:t>Months_Inactive_12_mon, Contacts_Count_12_mon</a:t>
            </a:r>
          </a:p>
          <a:p>
            <a:pPr marL="666365" lvl="1" indent="-333183" algn="l">
              <a:lnSpc>
                <a:spcPts val="4104"/>
              </a:lnSpc>
              <a:buFont typeface="Arial"/>
              <a:buChar char="•"/>
            </a:pPr>
            <a:r>
              <a:rPr lang="en-US" sz="3086" b="1" spc="9">
                <a:solidFill>
                  <a:srgbClr val="0097B2"/>
                </a:solidFill>
                <a:latin typeface="Open Sauce Bold"/>
                <a:ea typeface="Open Sauce Bold"/>
                <a:cs typeface="Open Sauce Bold"/>
                <a:sym typeface="Open Sauce Bold"/>
              </a:rPr>
              <a:t>Financial Metrics:</a:t>
            </a:r>
            <a:r>
              <a:rPr lang="en-US" sz="3086" spc="9">
                <a:solidFill>
                  <a:srgbClr val="0097B2"/>
                </a:solidFill>
                <a:latin typeface="Open Sauce"/>
                <a:ea typeface="Open Sauce"/>
                <a:cs typeface="Open Sauce"/>
                <a:sym typeface="Open Sauce"/>
              </a:rPr>
              <a:t> </a:t>
            </a:r>
            <a:r>
              <a:rPr lang="en-US" sz="3086" spc="9">
                <a:solidFill>
                  <a:srgbClr val="282A29"/>
                </a:solidFill>
                <a:latin typeface="Open Sauce"/>
                <a:ea typeface="Open Sauce"/>
                <a:cs typeface="Open Sauce"/>
                <a:sym typeface="Open Sauce"/>
              </a:rPr>
              <a:t>Credit_Limit, Total_Revolving_Bal, Avg_Open_To_Buy, Avg_Utilization_Ratio</a:t>
            </a:r>
          </a:p>
          <a:p>
            <a:pPr marL="666365" lvl="1" indent="-333183" algn="l">
              <a:lnSpc>
                <a:spcPts val="4104"/>
              </a:lnSpc>
              <a:buFont typeface="Arial"/>
              <a:buChar char="•"/>
            </a:pPr>
            <a:r>
              <a:rPr lang="en-US" sz="3086" b="1" spc="9">
                <a:solidFill>
                  <a:srgbClr val="0097B2"/>
                </a:solidFill>
                <a:latin typeface="Open Sauce Bold"/>
                <a:ea typeface="Open Sauce Bold"/>
                <a:cs typeface="Open Sauce Bold"/>
                <a:sym typeface="Open Sauce Bold"/>
              </a:rPr>
              <a:t>Transaction Behavior:</a:t>
            </a:r>
            <a:r>
              <a:rPr lang="en-US" sz="3086" spc="9">
                <a:solidFill>
                  <a:srgbClr val="0097B2"/>
                </a:solidFill>
                <a:latin typeface="Open Sauce"/>
                <a:ea typeface="Open Sauce"/>
                <a:cs typeface="Open Sauce"/>
                <a:sym typeface="Open Sauce"/>
              </a:rPr>
              <a:t> </a:t>
            </a:r>
            <a:r>
              <a:rPr lang="en-US" sz="3086" spc="9">
                <a:solidFill>
                  <a:srgbClr val="282A29"/>
                </a:solidFill>
                <a:latin typeface="Open Sauce"/>
                <a:ea typeface="Open Sauce"/>
                <a:cs typeface="Open Sauce"/>
                <a:sym typeface="Open Sauce"/>
              </a:rPr>
              <a:t>Total_Trans_Amt, Total_Trans_Ct, Total_Ct_Chng_Q4_Q1, Total_Amt_Chng_Q4_Q1</a:t>
            </a:r>
          </a:p>
          <a:p>
            <a:pPr algn="l">
              <a:lnSpc>
                <a:spcPts val="3572"/>
              </a:lnSpc>
            </a:pPr>
            <a:endParaRPr lang="en-US" sz="3086" spc="9">
              <a:solidFill>
                <a:srgbClr val="282A29"/>
              </a:solidFill>
              <a:latin typeface="Open Sauce"/>
              <a:ea typeface="Open Sauce"/>
              <a:cs typeface="Open Sauce"/>
              <a:sym typeface="Open Sauce"/>
            </a:endParaRPr>
          </a:p>
          <a:p>
            <a:pPr algn="l">
              <a:lnSpc>
                <a:spcPts val="2899"/>
              </a:lnSpc>
            </a:pPr>
            <a:endParaRPr lang="en-US" sz="3086" spc="9">
              <a:solidFill>
                <a:srgbClr val="282A29"/>
              </a:solidFill>
              <a:latin typeface="Open Sauce"/>
              <a:ea typeface="Open Sauce"/>
              <a:cs typeface="Open Sauce"/>
              <a:sym typeface="Open Sauce"/>
            </a:endParaRPr>
          </a:p>
        </p:txBody>
      </p:sp>
      <p:sp>
        <p:nvSpPr>
          <p:cNvPr id="5" name="TextBox 5"/>
          <p:cNvSpPr txBox="1"/>
          <p:nvPr/>
        </p:nvSpPr>
        <p:spPr>
          <a:xfrm>
            <a:off x="8992939" y="5008880"/>
            <a:ext cx="302121" cy="240665"/>
          </a:xfrm>
          <a:prstGeom prst="rect">
            <a:avLst/>
          </a:prstGeom>
        </p:spPr>
        <p:txBody>
          <a:bodyPr lIns="0" tIns="0" rIns="0" bIns="0" rtlCol="0" anchor="t">
            <a:spAutoFit/>
          </a:bodyPr>
          <a:lstStyle/>
          <a:p>
            <a:pPr marL="302261" lvl="1" indent="-151130" algn="ctr">
              <a:lnSpc>
                <a:spcPts val="1960"/>
              </a:lnSpc>
              <a:spcBef>
                <a:spcPct val="0"/>
              </a:spcBef>
              <a:buFont typeface="Arial"/>
              <a:buChar cha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818212" y="3207656"/>
            <a:ext cx="13946780" cy="2940159"/>
          </a:xfrm>
          <a:prstGeom prst="rect">
            <a:avLst/>
          </a:prstGeom>
        </p:spPr>
        <p:txBody>
          <a:bodyPr lIns="0" tIns="0" rIns="0" bIns="0" rtlCol="0" anchor="t">
            <a:spAutoFit/>
          </a:bodyPr>
          <a:lstStyle/>
          <a:p>
            <a:pPr algn="l">
              <a:lnSpc>
                <a:spcPts val="11295"/>
              </a:lnSpc>
            </a:pPr>
            <a:r>
              <a:rPr lang="en-US" sz="12016" b="1" spc="-252">
                <a:solidFill>
                  <a:srgbClr val="FFFFFF"/>
                </a:solidFill>
                <a:latin typeface="Open Sauce Bold"/>
                <a:ea typeface="Open Sauce Bold"/>
                <a:cs typeface="Open Sauce Bold"/>
                <a:sym typeface="Open Sauce Bold"/>
              </a:rPr>
              <a:t>Data Insights &amp; Visualizations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6" name="Freeform 6"/>
          <p:cNvSpPr/>
          <p:nvPr/>
        </p:nvSpPr>
        <p:spPr>
          <a:xfrm>
            <a:off x="0" y="0"/>
            <a:ext cx="9719549" cy="10287000"/>
          </a:xfrm>
          <a:custGeom>
            <a:avLst/>
            <a:gdLst/>
            <a:ahLst/>
            <a:cxnLst/>
            <a:rect l="l" t="t" r="r" b="b"/>
            <a:pathLst>
              <a:path w="8816292" h="9258300">
                <a:moveTo>
                  <a:pt x="0" y="0"/>
                </a:moveTo>
                <a:lnTo>
                  <a:pt x="8816292" y="0"/>
                </a:lnTo>
                <a:lnTo>
                  <a:pt x="8816292" y="9258300"/>
                </a:lnTo>
                <a:lnTo>
                  <a:pt x="0" y="9258300"/>
                </a:lnTo>
                <a:lnTo>
                  <a:pt x="0" y="0"/>
                </a:lnTo>
                <a:close/>
              </a:path>
            </a:pathLst>
          </a:custGeom>
          <a:blipFill>
            <a:blip r:embed="rId3"/>
            <a:stretch>
              <a:fillRect l="-5850" r="-1520" b="-6709"/>
            </a:stretch>
          </a:blipFill>
        </p:spPr>
      </p:sp>
      <p:sp>
        <p:nvSpPr>
          <p:cNvPr id="7" name="TextBox 7"/>
          <p:cNvSpPr txBox="1"/>
          <p:nvPr/>
        </p:nvSpPr>
        <p:spPr>
          <a:xfrm>
            <a:off x="9295061" y="638175"/>
            <a:ext cx="9270290" cy="1042386"/>
          </a:xfrm>
          <a:prstGeom prst="rect">
            <a:avLst/>
          </a:prstGeom>
        </p:spPr>
        <p:txBody>
          <a:bodyPr lIns="0" tIns="0" rIns="0" bIns="0" rtlCol="0" anchor="t">
            <a:spAutoFit/>
          </a:bodyPr>
          <a:lstStyle/>
          <a:p>
            <a:pPr algn="ctr">
              <a:lnSpc>
                <a:spcPts val="8012"/>
              </a:lnSpc>
            </a:pPr>
            <a:r>
              <a:rPr lang="en-US" sz="7704" b="1" spc="-392" dirty="0">
                <a:solidFill>
                  <a:srgbClr val="FA7F71"/>
                </a:solidFill>
                <a:latin typeface="Open Sauce Semi-Bold"/>
                <a:ea typeface="Open Sauce Semi-Bold"/>
                <a:cs typeface="Open Sauce Semi-Bold"/>
                <a:sym typeface="Open Sauce Semi-Bold"/>
              </a:rPr>
              <a:t>Target Variable</a:t>
            </a:r>
          </a:p>
        </p:txBody>
      </p:sp>
      <p:sp>
        <p:nvSpPr>
          <p:cNvPr id="8" name="TextBox 8"/>
          <p:cNvSpPr txBox="1"/>
          <p:nvPr/>
        </p:nvSpPr>
        <p:spPr>
          <a:xfrm>
            <a:off x="8992939" y="5008880"/>
            <a:ext cx="302121" cy="240665"/>
          </a:xfrm>
          <a:prstGeom prst="rect">
            <a:avLst/>
          </a:prstGeom>
        </p:spPr>
        <p:txBody>
          <a:bodyPr lIns="0" tIns="0" rIns="0" bIns="0" rtlCol="0" anchor="t">
            <a:spAutoFit/>
          </a:bodyPr>
          <a:lstStyle/>
          <a:p>
            <a:pPr marL="302261" lvl="1" indent="-151130" algn="ctr">
              <a:lnSpc>
                <a:spcPts val="1960"/>
              </a:lnSpc>
              <a:spcBef>
                <a:spcPct val="0"/>
              </a:spcBef>
              <a:buFont typeface="Arial"/>
              <a:buChar char="•"/>
            </a:pPr>
            <a:endParaRPr/>
          </a:p>
        </p:txBody>
      </p:sp>
      <p:sp>
        <p:nvSpPr>
          <p:cNvPr id="9" name="TextBox 9"/>
          <p:cNvSpPr txBox="1"/>
          <p:nvPr/>
        </p:nvSpPr>
        <p:spPr>
          <a:xfrm>
            <a:off x="9719549" y="2289794"/>
            <a:ext cx="8367033" cy="7327701"/>
          </a:xfrm>
          <a:prstGeom prst="rect">
            <a:avLst/>
          </a:prstGeom>
        </p:spPr>
        <p:txBody>
          <a:bodyPr lIns="0" tIns="0" rIns="0" bIns="0" rtlCol="0" anchor="t">
            <a:spAutoFit/>
          </a:bodyPr>
          <a:lstStyle/>
          <a:p>
            <a:pPr marL="681615" lvl="1" indent="-340808" algn="l">
              <a:lnSpc>
                <a:spcPts val="4419"/>
              </a:lnSpc>
              <a:spcBef>
                <a:spcPct val="0"/>
              </a:spcBef>
              <a:buFont typeface="Arial"/>
              <a:buChar char="•"/>
            </a:pPr>
            <a:r>
              <a:rPr lang="en-US" sz="3157" dirty="0">
                <a:solidFill>
                  <a:srgbClr val="282A29"/>
                </a:solidFill>
                <a:latin typeface="Open Sauce"/>
                <a:ea typeface="Open Sauce"/>
                <a:cs typeface="Open Sauce"/>
                <a:sym typeface="Open Sauce"/>
              </a:rPr>
              <a:t>The dataset is imbalanced: 84% existing customers vs 16% churned customers.</a:t>
            </a:r>
          </a:p>
          <a:p>
            <a:pPr algn="l">
              <a:lnSpc>
                <a:spcPts val="4419"/>
              </a:lnSpc>
              <a:spcBef>
                <a:spcPct val="0"/>
              </a:spcBef>
            </a:pPr>
            <a:endParaRPr lang="en-US" sz="3157" dirty="0">
              <a:solidFill>
                <a:srgbClr val="282A29"/>
              </a:solidFill>
              <a:latin typeface="Open Sauce"/>
              <a:ea typeface="Open Sauce"/>
              <a:cs typeface="Open Sauce"/>
              <a:sym typeface="Open Sauce"/>
            </a:endParaRPr>
          </a:p>
          <a:p>
            <a:pPr marL="681615" lvl="1" indent="-340808" algn="l">
              <a:lnSpc>
                <a:spcPts val="4419"/>
              </a:lnSpc>
              <a:spcBef>
                <a:spcPct val="0"/>
              </a:spcBef>
              <a:buFont typeface="Arial"/>
              <a:buChar char="•"/>
            </a:pPr>
            <a:r>
              <a:rPr lang="en-US" sz="3157" dirty="0">
                <a:solidFill>
                  <a:srgbClr val="282A29"/>
                </a:solidFill>
                <a:latin typeface="Open Sauce"/>
                <a:ea typeface="Open Sauce"/>
                <a:cs typeface="Open Sauce"/>
                <a:sym typeface="Open Sauce"/>
              </a:rPr>
              <a:t>Without addressing this, models tend to favor the majority class, reducing prediction accuracy for churners.</a:t>
            </a:r>
          </a:p>
          <a:p>
            <a:pPr algn="l">
              <a:lnSpc>
                <a:spcPts val="4419"/>
              </a:lnSpc>
              <a:spcBef>
                <a:spcPct val="0"/>
              </a:spcBef>
            </a:pPr>
            <a:endParaRPr lang="en-US" sz="3157" dirty="0">
              <a:solidFill>
                <a:srgbClr val="282A29"/>
              </a:solidFill>
              <a:latin typeface="Open Sauce"/>
              <a:ea typeface="Open Sauce"/>
              <a:cs typeface="Open Sauce"/>
              <a:sym typeface="Open Sauce"/>
            </a:endParaRPr>
          </a:p>
          <a:p>
            <a:pPr marL="681615" lvl="1" indent="-340808" algn="l">
              <a:lnSpc>
                <a:spcPts val="4419"/>
              </a:lnSpc>
              <a:spcBef>
                <a:spcPct val="0"/>
              </a:spcBef>
              <a:buFont typeface="Arial"/>
              <a:buChar char="•"/>
            </a:pPr>
            <a:r>
              <a:rPr lang="en-US" sz="3157" dirty="0">
                <a:solidFill>
                  <a:srgbClr val="282A29"/>
                </a:solidFill>
                <a:latin typeface="Open Sauce"/>
                <a:ea typeface="Open Sauce"/>
                <a:cs typeface="Open Sauce"/>
                <a:sym typeface="Open Sauce"/>
              </a:rPr>
              <a:t>Solution: SMOTE used to create synthetic churn examples for better model learning.</a:t>
            </a:r>
          </a:p>
          <a:p>
            <a:pPr algn="l">
              <a:lnSpc>
                <a:spcPts val="4419"/>
              </a:lnSpc>
              <a:spcBef>
                <a:spcPct val="0"/>
              </a:spcBef>
            </a:pPr>
            <a:endParaRPr lang="en-US" sz="3157" dirty="0">
              <a:solidFill>
                <a:srgbClr val="282A29"/>
              </a:solidFill>
              <a:latin typeface="Open Sauce"/>
              <a:ea typeface="Open Sauce"/>
              <a:cs typeface="Open Sauce"/>
              <a:sym typeface="Open Sauce"/>
            </a:endParaRPr>
          </a:p>
          <a:p>
            <a:pPr algn="l">
              <a:lnSpc>
                <a:spcPts val="5752"/>
              </a:lnSpc>
              <a:spcBef>
                <a:spcPct val="0"/>
              </a:spcBef>
            </a:pPr>
            <a:endParaRPr lang="en-US" sz="3157" dirty="0">
              <a:solidFill>
                <a:srgbClr val="282A29"/>
              </a:solidFill>
              <a:latin typeface="Open Sauce"/>
              <a:ea typeface="Open Sauce"/>
              <a:cs typeface="Open Sauce"/>
              <a:sym typeface="Open Sauc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0"/>
            <a:ext cx="18288000" cy="7219026"/>
            <a:chOff x="0" y="0"/>
            <a:chExt cx="17617551" cy="6954372"/>
          </a:xfrm>
        </p:grpSpPr>
        <p:sp>
          <p:nvSpPr>
            <p:cNvPr id="4" name="Freeform 4"/>
            <p:cNvSpPr/>
            <p:nvPr/>
          </p:nvSpPr>
          <p:spPr>
            <a:xfrm>
              <a:off x="0" y="0"/>
              <a:ext cx="17617551" cy="6954372"/>
            </a:xfrm>
            <a:custGeom>
              <a:avLst/>
              <a:gdLst/>
              <a:ahLst/>
              <a:cxnLst/>
              <a:rect l="l" t="t" r="r" b="b"/>
              <a:pathLst>
                <a:path w="17617551" h="6954372">
                  <a:moveTo>
                    <a:pt x="16087" y="0"/>
                  </a:moveTo>
                  <a:lnTo>
                    <a:pt x="17601465" y="0"/>
                  </a:lnTo>
                  <a:cubicBezTo>
                    <a:pt x="17610348" y="0"/>
                    <a:pt x="17617551" y="7202"/>
                    <a:pt x="17617551" y="16087"/>
                  </a:cubicBezTo>
                  <a:lnTo>
                    <a:pt x="17617551" y="6938286"/>
                  </a:lnTo>
                  <a:cubicBezTo>
                    <a:pt x="17617551" y="6947171"/>
                    <a:pt x="17610348" y="6954372"/>
                    <a:pt x="17601465" y="6954372"/>
                  </a:cubicBezTo>
                  <a:lnTo>
                    <a:pt x="16087" y="6954372"/>
                  </a:lnTo>
                  <a:cubicBezTo>
                    <a:pt x="7202" y="6954372"/>
                    <a:pt x="0" y="6947171"/>
                    <a:pt x="0" y="6938286"/>
                  </a:cubicBezTo>
                  <a:lnTo>
                    <a:pt x="0" y="16087"/>
                  </a:lnTo>
                  <a:cubicBezTo>
                    <a:pt x="0" y="7202"/>
                    <a:pt x="7202" y="0"/>
                    <a:pt x="16087" y="0"/>
                  </a:cubicBezTo>
                  <a:close/>
                </a:path>
              </a:pathLst>
            </a:custGeom>
            <a:solidFill>
              <a:srgbClr val="FFFFFF"/>
            </a:solidFill>
          </p:spPr>
        </p:sp>
        <p:sp>
          <p:nvSpPr>
            <p:cNvPr id="5" name="TextBox 5"/>
            <p:cNvSpPr txBox="1"/>
            <p:nvPr/>
          </p:nvSpPr>
          <p:spPr>
            <a:xfrm>
              <a:off x="0" y="-28575"/>
              <a:ext cx="17617551" cy="6982947"/>
            </a:xfrm>
            <a:prstGeom prst="rect">
              <a:avLst/>
            </a:prstGeom>
          </p:spPr>
          <p:txBody>
            <a:bodyPr lIns="50800" tIns="50800" rIns="50800" bIns="50800" rtlCol="0" anchor="ctr"/>
            <a:lstStyle/>
            <a:p>
              <a:pPr algn="ctr">
                <a:lnSpc>
                  <a:spcPts val="1960"/>
                </a:lnSpc>
                <a:spcBef>
                  <a:spcPct val="0"/>
                </a:spcBef>
              </a:pPr>
              <a:endParaRPr/>
            </a:p>
          </p:txBody>
        </p:sp>
      </p:grpSp>
      <p:sp>
        <p:nvSpPr>
          <p:cNvPr id="6" name="Freeform 6"/>
          <p:cNvSpPr/>
          <p:nvPr/>
        </p:nvSpPr>
        <p:spPr>
          <a:xfrm>
            <a:off x="202703" y="768869"/>
            <a:ext cx="8736838" cy="6236232"/>
          </a:xfrm>
          <a:custGeom>
            <a:avLst/>
            <a:gdLst/>
            <a:ahLst/>
            <a:cxnLst/>
            <a:rect l="l" t="t" r="r" b="b"/>
            <a:pathLst>
              <a:path w="8301471" h="6098309">
                <a:moveTo>
                  <a:pt x="0" y="0"/>
                </a:moveTo>
                <a:lnTo>
                  <a:pt x="8301471" y="0"/>
                </a:lnTo>
                <a:lnTo>
                  <a:pt x="8301471" y="6098308"/>
                </a:lnTo>
                <a:lnTo>
                  <a:pt x="0" y="6098308"/>
                </a:lnTo>
                <a:lnTo>
                  <a:pt x="0" y="0"/>
                </a:lnTo>
                <a:close/>
              </a:path>
            </a:pathLst>
          </a:custGeom>
          <a:blipFill>
            <a:blip r:embed="rId3"/>
            <a:stretch>
              <a:fillRect l="-2947" r="-272" b="-2585"/>
            </a:stretch>
          </a:blipFill>
        </p:spPr>
      </p:sp>
      <p:sp>
        <p:nvSpPr>
          <p:cNvPr id="7" name="Freeform 7"/>
          <p:cNvSpPr/>
          <p:nvPr/>
        </p:nvSpPr>
        <p:spPr>
          <a:xfrm>
            <a:off x="9143999" y="742118"/>
            <a:ext cx="8939543" cy="6262982"/>
          </a:xfrm>
          <a:custGeom>
            <a:avLst/>
            <a:gdLst/>
            <a:ahLst/>
            <a:cxnLst/>
            <a:rect l="l" t="t" r="r" b="b"/>
            <a:pathLst>
              <a:path w="8278726" h="6021073">
                <a:moveTo>
                  <a:pt x="0" y="0"/>
                </a:moveTo>
                <a:lnTo>
                  <a:pt x="8278726" y="0"/>
                </a:lnTo>
                <a:lnTo>
                  <a:pt x="8278726" y="6021073"/>
                </a:lnTo>
                <a:lnTo>
                  <a:pt x="0" y="6021073"/>
                </a:lnTo>
                <a:lnTo>
                  <a:pt x="0" y="0"/>
                </a:lnTo>
                <a:close/>
              </a:path>
            </a:pathLst>
          </a:custGeom>
          <a:blipFill>
            <a:blip r:embed="rId4"/>
            <a:stretch>
              <a:fillRect t="-284" b="-284"/>
            </a:stretch>
          </a:blipFill>
        </p:spPr>
      </p:sp>
      <p:sp>
        <p:nvSpPr>
          <p:cNvPr id="8" name="TextBox 8"/>
          <p:cNvSpPr txBox="1"/>
          <p:nvPr/>
        </p:nvSpPr>
        <p:spPr>
          <a:xfrm>
            <a:off x="4353438" y="28575"/>
            <a:ext cx="10966491" cy="740294"/>
          </a:xfrm>
          <a:prstGeom prst="rect">
            <a:avLst/>
          </a:prstGeom>
        </p:spPr>
        <p:txBody>
          <a:bodyPr lIns="0" tIns="0" rIns="0" bIns="0" rtlCol="0" anchor="t">
            <a:spAutoFit/>
          </a:bodyPr>
          <a:lstStyle/>
          <a:p>
            <a:pPr marL="0" lvl="0" indent="0" algn="l">
              <a:lnSpc>
                <a:spcPts val="5918"/>
              </a:lnSpc>
              <a:spcBef>
                <a:spcPct val="0"/>
              </a:spcBef>
            </a:pPr>
            <a:r>
              <a:rPr lang="en-US" sz="5102" b="1" spc="-260">
                <a:solidFill>
                  <a:srgbClr val="0097B2"/>
                </a:solidFill>
                <a:latin typeface="Open Sauce Semi-Bold"/>
                <a:ea typeface="Open Sauce Semi-Bold"/>
                <a:cs typeface="Open Sauce Semi-Bold"/>
                <a:sym typeface="Open Sauce Semi-Bold"/>
              </a:rPr>
              <a:t>Gender &amp; Education Level vs Churn</a:t>
            </a:r>
          </a:p>
        </p:txBody>
      </p:sp>
      <p:sp>
        <p:nvSpPr>
          <p:cNvPr id="9" name="TextBox 9"/>
          <p:cNvSpPr txBox="1"/>
          <p:nvPr/>
        </p:nvSpPr>
        <p:spPr>
          <a:xfrm>
            <a:off x="1028700" y="7285701"/>
            <a:ext cx="5991671" cy="2685416"/>
          </a:xfrm>
          <a:prstGeom prst="rect">
            <a:avLst/>
          </a:prstGeom>
        </p:spPr>
        <p:txBody>
          <a:bodyPr lIns="0" tIns="0" rIns="0" bIns="0" rtlCol="0" anchor="t">
            <a:spAutoFit/>
          </a:bodyPr>
          <a:lstStyle/>
          <a:p>
            <a:pPr algn="ctr">
              <a:lnSpc>
                <a:spcPts val="3919"/>
              </a:lnSpc>
            </a:pPr>
            <a:r>
              <a:rPr lang="en-US" sz="2799">
                <a:solidFill>
                  <a:srgbClr val="0097B2"/>
                </a:solidFill>
                <a:latin typeface="Open Sauce"/>
                <a:ea typeface="Open Sauce"/>
                <a:cs typeface="Open Sauce"/>
                <a:sym typeface="Open Sauce"/>
              </a:rPr>
              <a:t> </a:t>
            </a:r>
            <a:r>
              <a:rPr lang="en-US" sz="2799" b="1">
                <a:solidFill>
                  <a:srgbClr val="0097B2"/>
                </a:solidFill>
                <a:latin typeface="Open Sauce Bold"/>
                <a:ea typeface="Open Sauce Bold"/>
                <a:cs typeface="Open Sauce Bold"/>
                <a:sym typeface="Open Sauce Bold"/>
              </a:rPr>
              <a:t>Gender</a:t>
            </a:r>
          </a:p>
          <a:p>
            <a:pPr algn="ctr">
              <a:lnSpc>
                <a:spcPts val="3499"/>
              </a:lnSpc>
            </a:pPr>
            <a:endParaRPr lang="en-US" sz="2799" b="1">
              <a:solidFill>
                <a:srgbClr val="0097B2"/>
              </a:solidFill>
              <a:latin typeface="Open Sauce Bold"/>
              <a:ea typeface="Open Sauce Bold"/>
              <a:cs typeface="Open Sauce Bold"/>
              <a:sym typeface="Open Sauce Bold"/>
            </a:endParaRPr>
          </a:p>
          <a:p>
            <a:pPr algn="l">
              <a:lnSpc>
                <a:spcPts val="3499"/>
              </a:lnSpc>
              <a:spcBef>
                <a:spcPct val="0"/>
              </a:spcBef>
            </a:pPr>
            <a:r>
              <a:rPr lang="en-US" sz="2499">
                <a:solidFill>
                  <a:srgbClr val="0097B2"/>
                </a:solidFill>
                <a:latin typeface="Open Sauce"/>
                <a:ea typeface="Open Sauce"/>
                <a:cs typeface="Open Sauce"/>
                <a:sym typeface="Open Sauce"/>
              </a:rPr>
              <a:t>- </a:t>
            </a:r>
            <a:r>
              <a:rPr lang="en-US" sz="2499">
                <a:solidFill>
                  <a:srgbClr val="4D5154"/>
                </a:solidFill>
                <a:latin typeface="Open Sauce"/>
                <a:ea typeface="Open Sauce"/>
                <a:cs typeface="Open Sauce"/>
                <a:sym typeface="Open Sauce"/>
              </a:rPr>
              <a:t>More women are customers overall.</a:t>
            </a:r>
          </a:p>
          <a:p>
            <a:pPr algn="l">
              <a:lnSpc>
                <a:spcPts val="3499"/>
              </a:lnSpc>
              <a:spcBef>
                <a:spcPct val="0"/>
              </a:spcBef>
            </a:pPr>
            <a:r>
              <a:rPr lang="en-US" sz="2499">
                <a:solidFill>
                  <a:srgbClr val="4D5154"/>
                </a:solidFill>
                <a:latin typeface="Open Sauce"/>
                <a:ea typeface="Open Sauce"/>
                <a:cs typeface="Open Sauce"/>
                <a:sym typeface="Open Sauce"/>
              </a:rPr>
              <a:t>- Women churn slightly more than men.</a:t>
            </a:r>
          </a:p>
          <a:p>
            <a:pPr algn="l">
              <a:lnSpc>
                <a:spcPts val="3499"/>
              </a:lnSpc>
              <a:spcBef>
                <a:spcPct val="0"/>
              </a:spcBef>
            </a:pPr>
            <a:endParaRPr lang="en-US" sz="2499">
              <a:solidFill>
                <a:srgbClr val="4D5154"/>
              </a:solidFill>
              <a:latin typeface="Open Sauce"/>
              <a:ea typeface="Open Sauce"/>
              <a:cs typeface="Open Sauce"/>
              <a:sym typeface="Open Sauce"/>
            </a:endParaRPr>
          </a:p>
          <a:p>
            <a:pPr algn="l">
              <a:lnSpc>
                <a:spcPts val="3499"/>
              </a:lnSpc>
              <a:spcBef>
                <a:spcPct val="0"/>
              </a:spcBef>
            </a:pPr>
            <a:endParaRPr lang="en-US" sz="2499">
              <a:solidFill>
                <a:srgbClr val="4D5154"/>
              </a:solidFill>
              <a:latin typeface="Open Sauce"/>
              <a:ea typeface="Open Sauce"/>
              <a:cs typeface="Open Sauce"/>
              <a:sym typeface="Open Sauce"/>
            </a:endParaRPr>
          </a:p>
        </p:txBody>
      </p:sp>
      <p:sp>
        <p:nvSpPr>
          <p:cNvPr id="10" name="TextBox 10"/>
          <p:cNvSpPr txBox="1"/>
          <p:nvPr/>
        </p:nvSpPr>
        <p:spPr>
          <a:xfrm>
            <a:off x="9498730" y="7285701"/>
            <a:ext cx="8584813" cy="3222485"/>
          </a:xfrm>
          <a:prstGeom prst="rect">
            <a:avLst/>
          </a:prstGeom>
        </p:spPr>
        <p:txBody>
          <a:bodyPr lIns="0" tIns="0" rIns="0" bIns="0" rtlCol="0" anchor="t">
            <a:spAutoFit/>
          </a:bodyPr>
          <a:lstStyle/>
          <a:p>
            <a:pPr algn="ctr">
              <a:lnSpc>
                <a:spcPts val="3919"/>
              </a:lnSpc>
              <a:spcBef>
                <a:spcPct val="0"/>
              </a:spcBef>
            </a:pPr>
            <a:r>
              <a:rPr lang="en-US" sz="2799" b="1" dirty="0">
                <a:solidFill>
                  <a:srgbClr val="0097B2"/>
                </a:solidFill>
                <a:latin typeface="Open Sauce Bold"/>
                <a:ea typeface="Open Sauce Bold"/>
                <a:cs typeface="Open Sauce Bold"/>
                <a:sym typeface="Open Sauce Bold"/>
              </a:rPr>
              <a:t>Education Level</a:t>
            </a:r>
          </a:p>
          <a:p>
            <a:pPr algn="l">
              <a:lnSpc>
                <a:spcPts val="3220"/>
              </a:lnSpc>
              <a:spcBef>
                <a:spcPct val="0"/>
              </a:spcBef>
            </a:pPr>
            <a:r>
              <a:rPr lang="en-US" sz="2300" dirty="0">
                <a:solidFill>
                  <a:srgbClr val="4D5154"/>
                </a:solidFill>
                <a:latin typeface="Open Sauce"/>
                <a:ea typeface="Open Sauce"/>
                <a:cs typeface="Open Sauce"/>
                <a:sym typeface="Open Sauce"/>
              </a:rPr>
              <a:t>-Most customers are graduates — and they also have the highest number of people leaving.  </a:t>
            </a:r>
          </a:p>
          <a:p>
            <a:pPr algn="l">
              <a:lnSpc>
                <a:spcPts val="3220"/>
              </a:lnSpc>
              <a:spcBef>
                <a:spcPct val="0"/>
              </a:spcBef>
            </a:pPr>
            <a:r>
              <a:rPr lang="en-US" sz="2300" dirty="0">
                <a:solidFill>
                  <a:srgbClr val="4D5154"/>
                </a:solidFill>
                <a:latin typeface="Open Sauce"/>
                <a:ea typeface="Open Sauce"/>
                <a:cs typeface="Open Sauce"/>
                <a:sym typeface="Open Sauce"/>
              </a:rPr>
              <a:t>- However, within smaller groups, the Uneducated segment may have the highest percentage of churn.  </a:t>
            </a:r>
          </a:p>
          <a:p>
            <a:pPr algn="l">
              <a:lnSpc>
                <a:spcPts val="3220"/>
              </a:lnSpc>
              <a:spcBef>
                <a:spcPct val="0"/>
              </a:spcBef>
            </a:pPr>
            <a:r>
              <a:rPr lang="en-US" sz="2300" dirty="0">
                <a:solidFill>
                  <a:srgbClr val="4D5154"/>
                </a:solidFill>
                <a:latin typeface="Open Sauce"/>
                <a:ea typeface="Open Sauce"/>
                <a:cs typeface="Open Sauce"/>
                <a:sym typeface="Open Sauce"/>
              </a:rPr>
              <a:t>- This indicates a bigger churn issue relative to the size of that group.</a:t>
            </a:r>
          </a:p>
          <a:p>
            <a:pPr algn="l">
              <a:lnSpc>
                <a:spcPts val="1960"/>
              </a:lnSpc>
              <a:spcBef>
                <a:spcPct val="0"/>
              </a:spcBef>
            </a:pPr>
            <a:endParaRPr lang="en-US" sz="2300" dirty="0">
              <a:solidFill>
                <a:srgbClr val="4D5154"/>
              </a:solidFill>
              <a:latin typeface="Open Sauce"/>
              <a:ea typeface="Open Sauce"/>
              <a:cs typeface="Open Sauce"/>
              <a:sym typeface="Open Sau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0" y="0"/>
            <a:ext cx="18288000" cy="7219026"/>
            <a:chOff x="0" y="0"/>
            <a:chExt cx="17617551" cy="6954372"/>
          </a:xfrm>
        </p:grpSpPr>
        <p:sp>
          <p:nvSpPr>
            <p:cNvPr id="4" name="Freeform 4"/>
            <p:cNvSpPr/>
            <p:nvPr/>
          </p:nvSpPr>
          <p:spPr>
            <a:xfrm>
              <a:off x="0" y="0"/>
              <a:ext cx="17617551" cy="6954372"/>
            </a:xfrm>
            <a:custGeom>
              <a:avLst/>
              <a:gdLst/>
              <a:ahLst/>
              <a:cxnLst/>
              <a:rect l="l" t="t" r="r" b="b"/>
              <a:pathLst>
                <a:path w="17617551" h="6954372">
                  <a:moveTo>
                    <a:pt x="16087" y="0"/>
                  </a:moveTo>
                  <a:lnTo>
                    <a:pt x="17601465" y="0"/>
                  </a:lnTo>
                  <a:cubicBezTo>
                    <a:pt x="17610348" y="0"/>
                    <a:pt x="17617551" y="7202"/>
                    <a:pt x="17617551" y="16087"/>
                  </a:cubicBezTo>
                  <a:lnTo>
                    <a:pt x="17617551" y="6938286"/>
                  </a:lnTo>
                  <a:cubicBezTo>
                    <a:pt x="17617551" y="6947171"/>
                    <a:pt x="17610348" y="6954372"/>
                    <a:pt x="17601465" y="6954372"/>
                  </a:cubicBezTo>
                  <a:lnTo>
                    <a:pt x="16087" y="6954372"/>
                  </a:lnTo>
                  <a:cubicBezTo>
                    <a:pt x="7202" y="6954372"/>
                    <a:pt x="0" y="6947171"/>
                    <a:pt x="0" y="6938286"/>
                  </a:cubicBezTo>
                  <a:lnTo>
                    <a:pt x="0" y="16087"/>
                  </a:lnTo>
                  <a:cubicBezTo>
                    <a:pt x="0" y="7202"/>
                    <a:pt x="7202" y="0"/>
                    <a:pt x="16087" y="0"/>
                  </a:cubicBezTo>
                  <a:close/>
                </a:path>
              </a:pathLst>
            </a:custGeom>
            <a:solidFill>
              <a:srgbClr val="FFFFFF"/>
            </a:solidFill>
          </p:spPr>
        </p:sp>
        <p:sp>
          <p:nvSpPr>
            <p:cNvPr id="5" name="TextBox 5"/>
            <p:cNvSpPr txBox="1"/>
            <p:nvPr/>
          </p:nvSpPr>
          <p:spPr>
            <a:xfrm>
              <a:off x="0" y="-28575"/>
              <a:ext cx="17617551" cy="6982947"/>
            </a:xfrm>
            <a:prstGeom prst="rect">
              <a:avLst/>
            </a:prstGeom>
          </p:spPr>
          <p:txBody>
            <a:bodyPr lIns="50800" tIns="50800" rIns="50800" bIns="50800" rtlCol="0" anchor="ctr"/>
            <a:lstStyle/>
            <a:p>
              <a:pPr algn="ctr">
                <a:lnSpc>
                  <a:spcPts val="1960"/>
                </a:lnSpc>
                <a:spcBef>
                  <a:spcPct val="0"/>
                </a:spcBef>
              </a:pPr>
              <a:endParaRPr/>
            </a:p>
          </p:txBody>
        </p:sp>
      </p:grpSp>
      <p:sp>
        <p:nvSpPr>
          <p:cNvPr id="6" name="Freeform 6"/>
          <p:cNvSpPr/>
          <p:nvPr/>
        </p:nvSpPr>
        <p:spPr>
          <a:xfrm>
            <a:off x="25940" y="766832"/>
            <a:ext cx="9118060" cy="6205468"/>
          </a:xfrm>
          <a:custGeom>
            <a:avLst/>
            <a:gdLst/>
            <a:ahLst/>
            <a:cxnLst/>
            <a:rect l="l" t="t" r="r" b="b"/>
            <a:pathLst>
              <a:path w="8524057" h="6049331">
                <a:moveTo>
                  <a:pt x="0" y="0"/>
                </a:moveTo>
                <a:lnTo>
                  <a:pt x="8524057" y="0"/>
                </a:lnTo>
                <a:lnTo>
                  <a:pt x="8524057" y="6049331"/>
                </a:lnTo>
                <a:lnTo>
                  <a:pt x="0" y="6049331"/>
                </a:lnTo>
                <a:lnTo>
                  <a:pt x="0" y="0"/>
                </a:lnTo>
                <a:close/>
              </a:path>
            </a:pathLst>
          </a:custGeom>
          <a:blipFill>
            <a:blip r:embed="rId3"/>
            <a:stretch>
              <a:fillRect/>
            </a:stretch>
          </a:blipFill>
        </p:spPr>
        <p:txBody>
          <a:bodyPr/>
          <a:lstStyle/>
          <a:p>
            <a:endParaRPr lang="en-US" dirty="0"/>
          </a:p>
        </p:txBody>
      </p:sp>
      <p:sp>
        <p:nvSpPr>
          <p:cNvPr id="7" name="Freeform 7"/>
          <p:cNvSpPr/>
          <p:nvPr/>
        </p:nvSpPr>
        <p:spPr>
          <a:xfrm>
            <a:off x="9199123" y="766832"/>
            <a:ext cx="8827283" cy="6053068"/>
          </a:xfrm>
          <a:custGeom>
            <a:avLst/>
            <a:gdLst/>
            <a:ahLst/>
            <a:cxnLst/>
            <a:rect l="l" t="t" r="r" b="b"/>
            <a:pathLst>
              <a:path w="8278243" h="6047294">
                <a:moveTo>
                  <a:pt x="0" y="0"/>
                </a:moveTo>
                <a:lnTo>
                  <a:pt x="8278243" y="0"/>
                </a:lnTo>
                <a:lnTo>
                  <a:pt x="8278243" y="6047294"/>
                </a:lnTo>
                <a:lnTo>
                  <a:pt x="0" y="6047294"/>
                </a:lnTo>
                <a:lnTo>
                  <a:pt x="0" y="0"/>
                </a:lnTo>
                <a:close/>
              </a:path>
            </a:pathLst>
          </a:custGeom>
          <a:blipFill>
            <a:blip r:embed="rId4"/>
            <a:stretch>
              <a:fillRect/>
            </a:stretch>
          </a:blipFill>
        </p:spPr>
      </p:sp>
      <p:sp>
        <p:nvSpPr>
          <p:cNvPr id="8" name="TextBox 8"/>
          <p:cNvSpPr txBox="1"/>
          <p:nvPr/>
        </p:nvSpPr>
        <p:spPr>
          <a:xfrm>
            <a:off x="2706477" y="28575"/>
            <a:ext cx="12613452" cy="740294"/>
          </a:xfrm>
          <a:prstGeom prst="rect">
            <a:avLst/>
          </a:prstGeom>
        </p:spPr>
        <p:txBody>
          <a:bodyPr lIns="0" tIns="0" rIns="0" bIns="0" rtlCol="0" anchor="t">
            <a:spAutoFit/>
          </a:bodyPr>
          <a:lstStyle/>
          <a:p>
            <a:pPr marL="0" lvl="0" indent="0" algn="l">
              <a:lnSpc>
                <a:spcPts val="5918"/>
              </a:lnSpc>
              <a:spcBef>
                <a:spcPct val="0"/>
              </a:spcBef>
            </a:pPr>
            <a:r>
              <a:rPr lang="en-US" sz="5102" b="1" spc="-260">
                <a:solidFill>
                  <a:srgbClr val="0097B2"/>
                </a:solidFill>
                <a:latin typeface="Open Sauce Semi-Bold"/>
                <a:ea typeface="Open Sauce Semi-Bold"/>
                <a:cs typeface="Open Sauce Semi-Bold"/>
                <a:sym typeface="Open Sauce Semi-Bold"/>
              </a:rPr>
              <a:t>Marital Status &amp; Income Range vs Churn</a:t>
            </a:r>
          </a:p>
        </p:txBody>
      </p:sp>
      <p:sp>
        <p:nvSpPr>
          <p:cNvPr id="9" name="TextBox 9"/>
          <p:cNvSpPr txBox="1"/>
          <p:nvPr/>
        </p:nvSpPr>
        <p:spPr>
          <a:xfrm>
            <a:off x="298116" y="7428553"/>
            <a:ext cx="8524057" cy="3961766"/>
          </a:xfrm>
          <a:prstGeom prst="rect">
            <a:avLst/>
          </a:prstGeom>
        </p:spPr>
        <p:txBody>
          <a:bodyPr lIns="0" tIns="0" rIns="0" bIns="0" rtlCol="0" anchor="t">
            <a:spAutoFit/>
          </a:bodyPr>
          <a:lstStyle/>
          <a:p>
            <a:pPr algn="ctr">
              <a:lnSpc>
                <a:spcPts val="3919"/>
              </a:lnSpc>
            </a:pPr>
            <a:r>
              <a:rPr lang="en-US" sz="2799" b="1">
                <a:solidFill>
                  <a:srgbClr val="0097B2"/>
                </a:solidFill>
                <a:latin typeface="Open Sauce Bold"/>
                <a:ea typeface="Open Sauce Bold"/>
                <a:cs typeface="Open Sauce Bold"/>
                <a:sym typeface="Open Sauce Bold"/>
              </a:rPr>
              <a:t> Marital Status</a:t>
            </a:r>
          </a:p>
          <a:p>
            <a:pPr algn="l">
              <a:lnSpc>
                <a:spcPts val="3359"/>
              </a:lnSpc>
            </a:pPr>
            <a:r>
              <a:rPr lang="en-US" sz="2399">
                <a:solidFill>
                  <a:srgbClr val="0097B2"/>
                </a:solidFill>
                <a:latin typeface="Open Sauce"/>
                <a:ea typeface="Open Sauce"/>
                <a:cs typeface="Open Sauce"/>
                <a:sym typeface="Open Sauce"/>
              </a:rPr>
              <a:t>-</a:t>
            </a:r>
            <a:r>
              <a:rPr lang="en-US" sz="2399">
                <a:solidFill>
                  <a:srgbClr val="4D5154"/>
                </a:solidFill>
                <a:latin typeface="Open Sauce"/>
                <a:ea typeface="Open Sauce"/>
                <a:cs typeface="Open Sauce"/>
                <a:sym typeface="Open Sauce"/>
              </a:rPr>
              <a:t> Married customers churn less.</a:t>
            </a:r>
          </a:p>
          <a:p>
            <a:pPr algn="l">
              <a:lnSpc>
                <a:spcPts val="3359"/>
              </a:lnSpc>
              <a:spcBef>
                <a:spcPct val="0"/>
              </a:spcBef>
            </a:pPr>
            <a:r>
              <a:rPr lang="en-US" sz="2399">
                <a:solidFill>
                  <a:srgbClr val="4D5154"/>
                </a:solidFill>
                <a:latin typeface="Open Sauce"/>
                <a:ea typeface="Open Sauce"/>
                <a:cs typeface="Open Sauce"/>
                <a:sym typeface="Open Sauce"/>
              </a:rPr>
              <a:t>- Single customers churn the most compared to their group size.</a:t>
            </a:r>
          </a:p>
          <a:p>
            <a:pPr algn="l">
              <a:lnSpc>
                <a:spcPts val="3359"/>
              </a:lnSpc>
              <a:spcBef>
                <a:spcPct val="0"/>
              </a:spcBef>
            </a:pPr>
            <a:r>
              <a:rPr lang="en-US" sz="2399">
                <a:solidFill>
                  <a:srgbClr val="4D5154"/>
                </a:solidFill>
                <a:latin typeface="Open Sauce"/>
                <a:ea typeface="Open Sauce"/>
                <a:cs typeface="Open Sauce"/>
                <a:sym typeface="Open Sauce"/>
              </a:rPr>
              <a:t>Divorced and Unknown groups are small, so churn impact there is minimal.</a:t>
            </a:r>
          </a:p>
          <a:p>
            <a:pPr algn="l">
              <a:lnSpc>
                <a:spcPts val="3919"/>
              </a:lnSpc>
              <a:spcBef>
                <a:spcPct val="0"/>
              </a:spcBef>
            </a:pPr>
            <a:endParaRPr lang="en-US" sz="2399">
              <a:solidFill>
                <a:srgbClr val="4D5154"/>
              </a:solidFill>
              <a:latin typeface="Open Sauce"/>
              <a:ea typeface="Open Sauce"/>
              <a:cs typeface="Open Sauce"/>
              <a:sym typeface="Open Sauce"/>
            </a:endParaRPr>
          </a:p>
          <a:p>
            <a:pPr algn="l">
              <a:lnSpc>
                <a:spcPts val="3499"/>
              </a:lnSpc>
              <a:spcBef>
                <a:spcPct val="0"/>
              </a:spcBef>
            </a:pPr>
            <a:endParaRPr lang="en-US" sz="2399">
              <a:solidFill>
                <a:srgbClr val="4D5154"/>
              </a:solidFill>
              <a:latin typeface="Open Sauce"/>
              <a:ea typeface="Open Sauce"/>
              <a:cs typeface="Open Sauce"/>
              <a:sym typeface="Open Sauce"/>
            </a:endParaRPr>
          </a:p>
          <a:p>
            <a:pPr algn="l">
              <a:lnSpc>
                <a:spcPts val="3499"/>
              </a:lnSpc>
              <a:spcBef>
                <a:spcPct val="0"/>
              </a:spcBef>
            </a:pPr>
            <a:endParaRPr lang="en-US" sz="2399">
              <a:solidFill>
                <a:srgbClr val="4D5154"/>
              </a:solidFill>
              <a:latin typeface="Open Sauce"/>
              <a:ea typeface="Open Sauce"/>
              <a:cs typeface="Open Sauce"/>
              <a:sym typeface="Open Sauce"/>
            </a:endParaRPr>
          </a:p>
        </p:txBody>
      </p:sp>
      <p:sp>
        <p:nvSpPr>
          <p:cNvPr id="10" name="TextBox 10"/>
          <p:cNvSpPr txBox="1"/>
          <p:nvPr/>
        </p:nvSpPr>
        <p:spPr>
          <a:xfrm>
            <a:off x="9465830" y="7428553"/>
            <a:ext cx="8396680" cy="2818079"/>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097B2"/>
                </a:solidFill>
                <a:latin typeface="Open Sauce Bold"/>
                <a:ea typeface="Open Sauce Bold"/>
                <a:cs typeface="Open Sauce Bold"/>
                <a:sym typeface="Open Sauce Bold"/>
              </a:rPr>
              <a:t>Income Category</a:t>
            </a:r>
          </a:p>
          <a:p>
            <a:pPr algn="l">
              <a:lnSpc>
                <a:spcPts val="3499"/>
              </a:lnSpc>
              <a:spcBef>
                <a:spcPct val="0"/>
              </a:spcBef>
            </a:pPr>
            <a:r>
              <a:rPr lang="en-US" sz="2499" dirty="0">
                <a:solidFill>
                  <a:srgbClr val="0097B2"/>
                </a:solidFill>
                <a:latin typeface="Open Sauce"/>
                <a:ea typeface="Open Sauce"/>
                <a:cs typeface="Open Sauce"/>
                <a:sym typeface="Open Sauce"/>
              </a:rPr>
              <a:t>- </a:t>
            </a:r>
            <a:r>
              <a:rPr lang="en-US" sz="2499" dirty="0">
                <a:solidFill>
                  <a:srgbClr val="4D5154"/>
                </a:solidFill>
                <a:latin typeface="Open Sauce"/>
                <a:ea typeface="Open Sauce"/>
                <a:cs typeface="Open Sauce"/>
                <a:sym typeface="Open Sauce"/>
              </a:rPr>
              <a:t>Customers earning less than $40K churn the most.</a:t>
            </a:r>
          </a:p>
          <a:p>
            <a:pPr algn="l">
              <a:lnSpc>
                <a:spcPts val="3499"/>
              </a:lnSpc>
              <a:spcBef>
                <a:spcPct val="0"/>
              </a:spcBef>
            </a:pPr>
            <a:r>
              <a:rPr lang="en-US" sz="2499" dirty="0">
                <a:solidFill>
                  <a:srgbClr val="4D5154"/>
                </a:solidFill>
                <a:latin typeface="Open Sauce"/>
                <a:ea typeface="Open Sauce"/>
                <a:cs typeface="Open Sauce"/>
                <a:sym typeface="Open Sauce"/>
              </a:rPr>
              <a:t>- High-income customers ($120K+) rarely churn.</a:t>
            </a:r>
          </a:p>
          <a:p>
            <a:pPr algn="l">
              <a:lnSpc>
                <a:spcPts val="3499"/>
              </a:lnSpc>
              <a:spcBef>
                <a:spcPct val="0"/>
              </a:spcBef>
            </a:pPr>
            <a:r>
              <a:rPr lang="en-US" sz="2499" dirty="0">
                <a:solidFill>
                  <a:srgbClr val="4D5154"/>
                </a:solidFill>
                <a:latin typeface="Open Sauce"/>
                <a:ea typeface="Open Sauce"/>
                <a:cs typeface="Open Sauce"/>
                <a:sym typeface="Open Sauce"/>
              </a:rPr>
              <a:t> This suggests that financial pressure may be a factor in why they leave</a:t>
            </a:r>
          </a:p>
          <a:p>
            <a:pPr algn="ctr">
              <a:lnSpc>
                <a:spcPts val="1960"/>
              </a:lnSpc>
              <a:spcBef>
                <a:spcPct val="0"/>
              </a:spcBef>
            </a:pPr>
            <a:endParaRPr lang="en-US" sz="2499" dirty="0">
              <a:solidFill>
                <a:srgbClr val="4D5154"/>
              </a:solidFill>
              <a:latin typeface="Open Sauce"/>
              <a:ea typeface="Open Sauce"/>
              <a:cs typeface="Open Sauce"/>
              <a:sym typeface="Open Sauce"/>
            </a:endParaRPr>
          </a:p>
          <a:p>
            <a:pPr algn="ctr">
              <a:lnSpc>
                <a:spcPts val="1960"/>
              </a:lnSpc>
              <a:spcBef>
                <a:spcPct val="0"/>
              </a:spcBef>
            </a:pPr>
            <a:endParaRPr lang="en-US" sz="2499" dirty="0">
              <a:solidFill>
                <a:srgbClr val="4D5154"/>
              </a:solidFill>
              <a:latin typeface="Open Sauce"/>
              <a:ea typeface="Open Sauce"/>
              <a:cs typeface="Open Sauce"/>
              <a:sym typeface="Open Sau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4651"/>
            <a:ext cx="18288000" cy="10351651"/>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dirty="0"/>
          </a:p>
        </p:txBody>
      </p:sp>
      <p:sp>
        <p:nvSpPr>
          <p:cNvPr id="5" name="TextBox 5"/>
          <p:cNvSpPr txBox="1"/>
          <p:nvPr/>
        </p:nvSpPr>
        <p:spPr>
          <a:xfrm>
            <a:off x="0" y="-29662"/>
            <a:ext cx="10331910" cy="10316662"/>
          </a:xfrm>
          <a:prstGeom prst="rect">
            <a:avLst/>
          </a:prstGeom>
        </p:spPr>
        <p:txBody>
          <a:bodyPr lIns="50800" tIns="50800" rIns="50800" bIns="50800" rtlCol="0" anchor="ctr"/>
          <a:lstStyle/>
          <a:p>
            <a:pPr algn="ctr">
              <a:lnSpc>
                <a:spcPts val="1960"/>
              </a:lnSpc>
              <a:spcBef>
                <a:spcPct val="0"/>
              </a:spcBef>
            </a:pPr>
            <a:endParaRPr/>
          </a:p>
        </p:txBody>
      </p:sp>
      <p:sp>
        <p:nvSpPr>
          <p:cNvPr id="6" name="Freeform 6"/>
          <p:cNvSpPr/>
          <p:nvPr/>
        </p:nvSpPr>
        <p:spPr>
          <a:xfrm>
            <a:off x="0" y="-14831"/>
            <a:ext cx="10134600" cy="10287000"/>
          </a:xfrm>
          <a:custGeom>
            <a:avLst/>
            <a:gdLst/>
            <a:ahLst/>
            <a:cxnLst/>
            <a:rect l="l" t="t" r="r" b="b"/>
            <a:pathLst>
              <a:path w="10147582" h="10222350">
                <a:moveTo>
                  <a:pt x="0" y="0"/>
                </a:moveTo>
                <a:lnTo>
                  <a:pt x="10147582" y="0"/>
                </a:lnTo>
                <a:lnTo>
                  <a:pt x="10147582" y="10222350"/>
                </a:lnTo>
                <a:lnTo>
                  <a:pt x="0" y="10222350"/>
                </a:lnTo>
                <a:lnTo>
                  <a:pt x="0" y="0"/>
                </a:lnTo>
                <a:close/>
              </a:path>
            </a:pathLst>
          </a:custGeom>
          <a:blipFill>
            <a:blip r:embed="rId3"/>
            <a:stretch>
              <a:fillRect l="-1056" t="-125" b="-125"/>
            </a:stretch>
          </a:blipFill>
        </p:spPr>
      </p:sp>
      <p:sp>
        <p:nvSpPr>
          <p:cNvPr id="7" name="TextBox 7"/>
          <p:cNvSpPr txBox="1"/>
          <p:nvPr/>
        </p:nvSpPr>
        <p:spPr>
          <a:xfrm>
            <a:off x="10331910" y="74175"/>
            <a:ext cx="7956090" cy="680476"/>
          </a:xfrm>
          <a:prstGeom prst="rect">
            <a:avLst/>
          </a:prstGeom>
        </p:spPr>
        <p:txBody>
          <a:bodyPr lIns="0" tIns="0" rIns="0" bIns="0" rtlCol="0" anchor="t">
            <a:spAutoFit/>
          </a:bodyPr>
          <a:lstStyle/>
          <a:p>
            <a:pPr marL="0" lvl="0" indent="0" algn="l">
              <a:lnSpc>
                <a:spcPts val="5309"/>
              </a:lnSpc>
              <a:spcBef>
                <a:spcPct val="0"/>
              </a:spcBef>
            </a:pPr>
            <a:r>
              <a:rPr lang="en-US" sz="4576" b="1" spc="-233" dirty="0">
                <a:solidFill>
                  <a:srgbClr val="0097B2"/>
                </a:solidFill>
                <a:latin typeface="Open Sauce Semi-Bold"/>
                <a:ea typeface="Open Sauce Semi-Bold"/>
                <a:cs typeface="Open Sauce Semi-Bold"/>
                <a:sym typeface="Open Sauce Semi-Bold"/>
              </a:rPr>
              <a:t>Numerical Feature Distribution</a:t>
            </a:r>
          </a:p>
        </p:txBody>
      </p:sp>
      <p:sp>
        <p:nvSpPr>
          <p:cNvPr id="8" name="TextBox 8"/>
          <p:cNvSpPr txBox="1"/>
          <p:nvPr/>
        </p:nvSpPr>
        <p:spPr>
          <a:xfrm>
            <a:off x="10331910" y="990600"/>
            <a:ext cx="7956090" cy="9506513"/>
          </a:xfrm>
          <a:prstGeom prst="rect">
            <a:avLst/>
          </a:prstGeom>
        </p:spPr>
        <p:txBody>
          <a:bodyPr lIns="0" tIns="0" rIns="0" bIns="0" rtlCol="0" anchor="t">
            <a:spAutoFit/>
          </a:bodyPr>
          <a:lstStyle/>
          <a:p>
            <a:pPr algn="l">
              <a:lnSpc>
                <a:spcPts val="3079"/>
              </a:lnSpc>
            </a:pPr>
            <a:r>
              <a:rPr lang="en-US" sz="2000" b="1" dirty="0">
                <a:solidFill>
                  <a:srgbClr val="0097B2"/>
                </a:solidFill>
                <a:latin typeface="Open Sauce Bold"/>
                <a:ea typeface="Open Sauce Bold"/>
                <a:cs typeface="Open Sauce Bold"/>
                <a:sym typeface="Open Sauce Bold"/>
              </a:rPr>
              <a:t>Age &amp; Transaction Count</a:t>
            </a:r>
          </a:p>
          <a:p>
            <a:pPr algn="l">
              <a:lnSpc>
                <a:spcPts val="3079"/>
              </a:lnSpc>
            </a:pPr>
            <a:r>
              <a:rPr lang="en-US" sz="2000" dirty="0">
                <a:solidFill>
                  <a:srgbClr val="0097B2"/>
                </a:solidFill>
                <a:latin typeface="Open Sauce"/>
                <a:ea typeface="Open Sauce"/>
                <a:cs typeface="Open Sauce"/>
                <a:sym typeface="Open Sauce"/>
              </a:rPr>
              <a:t>- </a:t>
            </a:r>
            <a:r>
              <a:rPr lang="en-US" sz="2000" dirty="0">
                <a:solidFill>
                  <a:srgbClr val="4D5154"/>
                </a:solidFill>
                <a:latin typeface="Open Sauce"/>
                <a:ea typeface="Open Sauce"/>
                <a:cs typeface="Open Sauce"/>
                <a:sym typeface="Open Sauce"/>
              </a:rPr>
              <a:t>Balanced, nearly normal features.  </a:t>
            </a:r>
          </a:p>
          <a:p>
            <a:pPr algn="l">
              <a:lnSpc>
                <a:spcPts val="3079"/>
              </a:lnSpc>
            </a:pPr>
            <a:r>
              <a:rPr lang="en-US" sz="2000" dirty="0">
                <a:solidFill>
                  <a:srgbClr val="4D5154"/>
                </a:solidFill>
                <a:latin typeface="Open Sauce"/>
                <a:ea typeface="Open Sauce"/>
                <a:cs typeface="Open Sauce"/>
                <a:sym typeface="Open Sauce"/>
              </a:rPr>
              <a:t>- These work well with most models without transformation.</a:t>
            </a:r>
          </a:p>
          <a:p>
            <a:pPr algn="l">
              <a:lnSpc>
                <a:spcPts val="3079"/>
              </a:lnSpc>
            </a:pPr>
            <a:endParaRPr lang="en-US" sz="2000" dirty="0">
              <a:solidFill>
                <a:srgbClr val="4D5154"/>
              </a:solidFill>
              <a:latin typeface="Open Sauce"/>
              <a:ea typeface="Open Sauce"/>
              <a:cs typeface="Open Sauce"/>
              <a:sym typeface="Open Sauce"/>
            </a:endParaRPr>
          </a:p>
          <a:p>
            <a:pPr algn="l">
              <a:lnSpc>
                <a:spcPts val="3079"/>
              </a:lnSpc>
            </a:pPr>
            <a:r>
              <a:rPr lang="en-US" sz="2000" b="1" dirty="0">
                <a:solidFill>
                  <a:srgbClr val="0097B2"/>
                </a:solidFill>
                <a:latin typeface="Open Sauce Bold"/>
                <a:ea typeface="Open Sauce Bold"/>
                <a:cs typeface="Open Sauce Bold"/>
                <a:sym typeface="Open Sauce Bold"/>
              </a:rPr>
              <a:t>Credit Limit, Utilization &amp; Transaction Amount  </a:t>
            </a:r>
          </a:p>
          <a:p>
            <a:pPr algn="l">
              <a:lnSpc>
                <a:spcPts val="3079"/>
              </a:lnSpc>
            </a:pPr>
            <a:r>
              <a:rPr lang="en-US" sz="2000" dirty="0">
                <a:solidFill>
                  <a:srgbClr val="0097B2"/>
                </a:solidFill>
                <a:latin typeface="Open Sauce"/>
                <a:ea typeface="Open Sauce"/>
                <a:cs typeface="Open Sauce"/>
                <a:sym typeface="Open Sauce"/>
              </a:rPr>
              <a:t>-</a:t>
            </a:r>
            <a:r>
              <a:rPr lang="en-US" sz="2000" dirty="0">
                <a:solidFill>
                  <a:srgbClr val="4D5154"/>
                </a:solidFill>
                <a:latin typeface="Open Sauce"/>
                <a:ea typeface="Open Sauce"/>
                <a:cs typeface="Open Sauce"/>
                <a:sym typeface="Open Sauce"/>
              </a:rPr>
              <a:t> They are right-skewed with a small high-value group.  </a:t>
            </a:r>
          </a:p>
          <a:p>
            <a:pPr algn="l">
              <a:lnSpc>
                <a:spcPts val="3079"/>
              </a:lnSpc>
            </a:pPr>
            <a:r>
              <a:rPr lang="en-US" sz="2000" dirty="0">
                <a:solidFill>
                  <a:srgbClr val="4D5154"/>
                </a:solidFill>
                <a:latin typeface="Open Sauce"/>
                <a:ea typeface="Open Sauce"/>
                <a:cs typeface="Open Sauce"/>
                <a:sym typeface="Open Sauce"/>
              </a:rPr>
              <a:t>- Log transform is recommended for modeling with linear models</a:t>
            </a:r>
          </a:p>
          <a:p>
            <a:pPr algn="l">
              <a:lnSpc>
                <a:spcPts val="3079"/>
              </a:lnSpc>
            </a:pPr>
            <a:endParaRPr lang="en-US" sz="2000" dirty="0">
              <a:solidFill>
                <a:srgbClr val="4D5154"/>
              </a:solidFill>
              <a:latin typeface="Open Sauce"/>
              <a:ea typeface="Open Sauce"/>
              <a:cs typeface="Open Sauce"/>
              <a:sym typeface="Open Sauce"/>
            </a:endParaRPr>
          </a:p>
          <a:p>
            <a:pPr algn="l">
              <a:lnSpc>
                <a:spcPts val="3079"/>
              </a:lnSpc>
            </a:pPr>
            <a:r>
              <a:rPr lang="en-US" sz="2000" b="1" dirty="0">
                <a:solidFill>
                  <a:srgbClr val="0097B2"/>
                </a:solidFill>
                <a:latin typeface="Open Sauce Bold"/>
                <a:ea typeface="Open Sauce Bold"/>
                <a:cs typeface="Open Sauce Bold"/>
                <a:sym typeface="Open Sauce Bold"/>
              </a:rPr>
              <a:t> Dependents, Contacts &amp; Months Inactive  </a:t>
            </a:r>
          </a:p>
          <a:p>
            <a:pPr algn="l">
              <a:lnSpc>
                <a:spcPts val="3079"/>
              </a:lnSpc>
            </a:pPr>
            <a:r>
              <a:rPr lang="en-US" sz="2000" dirty="0">
                <a:solidFill>
                  <a:srgbClr val="0097B2"/>
                </a:solidFill>
                <a:latin typeface="Open Sauce"/>
                <a:ea typeface="Open Sauce"/>
                <a:cs typeface="Open Sauce"/>
                <a:sym typeface="Open Sauce"/>
              </a:rPr>
              <a:t>- </a:t>
            </a:r>
            <a:r>
              <a:rPr lang="en-US" sz="2000" dirty="0">
                <a:solidFill>
                  <a:srgbClr val="4D5154"/>
                </a:solidFill>
                <a:latin typeface="Open Sauce"/>
                <a:ea typeface="Open Sauce"/>
                <a:cs typeface="Open Sauce"/>
                <a:sym typeface="Open Sauce"/>
              </a:rPr>
              <a:t>Discrete features with clear peaks forming natural segments.  </a:t>
            </a:r>
          </a:p>
          <a:p>
            <a:pPr algn="l">
              <a:lnSpc>
                <a:spcPts val="3079"/>
              </a:lnSpc>
            </a:pPr>
            <a:r>
              <a:rPr lang="en-US" sz="2000" dirty="0">
                <a:solidFill>
                  <a:srgbClr val="4D5154"/>
                </a:solidFill>
                <a:latin typeface="Open Sauce"/>
                <a:ea typeface="Open Sauce"/>
                <a:cs typeface="Open Sauce"/>
                <a:sym typeface="Open Sauce"/>
              </a:rPr>
              <a:t>- These are treated as categorical/ordinal.</a:t>
            </a:r>
          </a:p>
          <a:p>
            <a:pPr algn="l">
              <a:lnSpc>
                <a:spcPts val="3079"/>
              </a:lnSpc>
            </a:pPr>
            <a:endParaRPr lang="en-US" sz="2000" dirty="0">
              <a:solidFill>
                <a:srgbClr val="4D5154"/>
              </a:solidFill>
              <a:latin typeface="Open Sauce"/>
              <a:ea typeface="Open Sauce"/>
              <a:cs typeface="Open Sauce"/>
              <a:sym typeface="Open Sauce"/>
            </a:endParaRPr>
          </a:p>
          <a:p>
            <a:pPr algn="l">
              <a:lnSpc>
                <a:spcPts val="3079"/>
              </a:lnSpc>
              <a:spcBef>
                <a:spcPct val="0"/>
              </a:spcBef>
            </a:pPr>
            <a:r>
              <a:rPr lang="en-US" sz="2000" b="1" dirty="0" err="1">
                <a:solidFill>
                  <a:srgbClr val="0097B2"/>
                </a:solidFill>
                <a:latin typeface="Open Sauce Bold"/>
                <a:ea typeface="Open Sauce Bold"/>
                <a:cs typeface="Open Sauce Bold"/>
                <a:sym typeface="Open Sauce Bold"/>
              </a:rPr>
              <a:t>Months_on_book</a:t>
            </a:r>
            <a:r>
              <a:rPr lang="en-US" sz="2000" b="1" dirty="0">
                <a:solidFill>
                  <a:srgbClr val="0097B2"/>
                </a:solidFill>
                <a:latin typeface="Open Sauce Bold"/>
                <a:ea typeface="Open Sauce Bold"/>
                <a:cs typeface="Open Sauce Bold"/>
                <a:sym typeface="Open Sauce Bold"/>
              </a:rPr>
              <a:t> (Tenure)</a:t>
            </a:r>
          </a:p>
          <a:p>
            <a:pPr algn="l">
              <a:lnSpc>
                <a:spcPts val="3079"/>
              </a:lnSpc>
              <a:spcBef>
                <a:spcPct val="0"/>
              </a:spcBef>
            </a:pPr>
            <a:r>
              <a:rPr lang="en-US" sz="2000" dirty="0">
                <a:solidFill>
                  <a:srgbClr val="0097B2"/>
                </a:solidFill>
                <a:latin typeface="Open Sauce"/>
                <a:ea typeface="Open Sauce"/>
                <a:cs typeface="Open Sauce"/>
                <a:sym typeface="Open Sauce"/>
              </a:rPr>
              <a:t>-</a:t>
            </a:r>
            <a:r>
              <a:rPr lang="en-US" sz="2000" dirty="0">
                <a:solidFill>
                  <a:srgbClr val="4D5154"/>
                </a:solidFill>
                <a:latin typeface="Open Sauce"/>
                <a:ea typeface="Open Sauce"/>
                <a:cs typeface="Open Sauce"/>
                <a:sym typeface="Open Sauce"/>
              </a:rPr>
              <a:t> Most customers are mid-tenure (36–40 months).  </a:t>
            </a:r>
          </a:p>
          <a:p>
            <a:pPr algn="l">
              <a:lnSpc>
                <a:spcPts val="3079"/>
              </a:lnSpc>
              <a:spcBef>
                <a:spcPct val="0"/>
              </a:spcBef>
            </a:pPr>
            <a:r>
              <a:rPr lang="en-US" sz="2000" dirty="0">
                <a:solidFill>
                  <a:srgbClr val="4D5154"/>
                </a:solidFill>
                <a:latin typeface="Open Sauce"/>
                <a:ea typeface="Open Sauce"/>
                <a:cs typeface="Open Sauce"/>
                <a:sym typeface="Open Sauce"/>
              </a:rPr>
              <a:t>- Indicates early churn or slow acquisition.</a:t>
            </a:r>
          </a:p>
          <a:p>
            <a:pPr algn="l">
              <a:lnSpc>
                <a:spcPts val="3079"/>
              </a:lnSpc>
              <a:spcBef>
                <a:spcPct val="0"/>
              </a:spcBef>
            </a:pPr>
            <a:endParaRPr lang="en-US" sz="2000" dirty="0">
              <a:solidFill>
                <a:srgbClr val="4D5154"/>
              </a:solidFill>
              <a:latin typeface="Open Sauce"/>
              <a:ea typeface="Open Sauce"/>
              <a:cs typeface="Open Sauce"/>
              <a:sym typeface="Open Sauce"/>
            </a:endParaRPr>
          </a:p>
          <a:p>
            <a:pPr algn="l">
              <a:lnSpc>
                <a:spcPts val="3079"/>
              </a:lnSpc>
              <a:spcBef>
                <a:spcPct val="0"/>
              </a:spcBef>
            </a:pPr>
            <a:r>
              <a:rPr lang="en-US" sz="2000" dirty="0">
                <a:solidFill>
                  <a:srgbClr val="0097B2"/>
                </a:solidFill>
                <a:latin typeface="Open Sauce"/>
                <a:ea typeface="Open Sauce"/>
                <a:cs typeface="Open Sauce"/>
                <a:sym typeface="Open Sauce"/>
              </a:rPr>
              <a:t> </a:t>
            </a:r>
            <a:r>
              <a:rPr lang="en-US" sz="2000" b="1" dirty="0">
                <a:solidFill>
                  <a:srgbClr val="0097B2"/>
                </a:solidFill>
                <a:latin typeface="Open Sauce Bold"/>
                <a:ea typeface="Open Sauce Bold"/>
                <a:cs typeface="Open Sauce Bold"/>
                <a:sym typeface="Open Sauce Bold"/>
              </a:rPr>
              <a:t>Quarterly Change Metrics</a:t>
            </a:r>
          </a:p>
          <a:p>
            <a:pPr algn="l">
              <a:lnSpc>
                <a:spcPts val="3079"/>
              </a:lnSpc>
              <a:spcBef>
                <a:spcPct val="0"/>
              </a:spcBef>
            </a:pPr>
            <a:r>
              <a:rPr lang="en-US" sz="2000" dirty="0">
                <a:solidFill>
                  <a:srgbClr val="0097B2"/>
                </a:solidFill>
                <a:latin typeface="Open Sauce"/>
                <a:ea typeface="Open Sauce"/>
                <a:cs typeface="Open Sauce"/>
                <a:sym typeface="Open Sauce"/>
              </a:rPr>
              <a:t>- </a:t>
            </a:r>
            <a:r>
              <a:rPr lang="en-US" sz="2000" dirty="0">
                <a:solidFill>
                  <a:srgbClr val="4D5154"/>
                </a:solidFill>
                <a:latin typeface="Open Sauce"/>
                <a:ea typeface="Open Sauce"/>
                <a:cs typeface="Open Sauce"/>
                <a:sym typeface="Open Sauce"/>
              </a:rPr>
              <a:t>Most customers are stable; the sharp drops signal churn risk.</a:t>
            </a:r>
          </a:p>
          <a:p>
            <a:pPr algn="l">
              <a:lnSpc>
                <a:spcPts val="3079"/>
              </a:lnSpc>
              <a:spcBef>
                <a:spcPct val="0"/>
              </a:spcBef>
            </a:pPr>
            <a:endParaRPr lang="en-US" sz="2000" dirty="0">
              <a:solidFill>
                <a:srgbClr val="4D5154"/>
              </a:solidFill>
              <a:latin typeface="Open Sauce"/>
              <a:ea typeface="Open Sauce"/>
              <a:cs typeface="Open Sauce"/>
              <a:sym typeface="Open Sauce"/>
            </a:endParaRPr>
          </a:p>
          <a:p>
            <a:pPr algn="l">
              <a:lnSpc>
                <a:spcPts val="3079"/>
              </a:lnSpc>
              <a:spcBef>
                <a:spcPct val="0"/>
              </a:spcBef>
            </a:pPr>
            <a:r>
              <a:rPr lang="en-US" sz="2000" b="1" dirty="0">
                <a:solidFill>
                  <a:srgbClr val="0097B2"/>
                </a:solidFill>
                <a:latin typeface="Open Sauce Bold"/>
                <a:ea typeface="Open Sauce Bold"/>
                <a:cs typeface="Open Sauce Bold"/>
                <a:sym typeface="Open Sauce Bold"/>
              </a:rPr>
              <a:t> Hidden Segments</a:t>
            </a:r>
          </a:p>
          <a:p>
            <a:pPr algn="l">
              <a:lnSpc>
                <a:spcPts val="3079"/>
              </a:lnSpc>
              <a:spcBef>
                <a:spcPct val="0"/>
              </a:spcBef>
            </a:pPr>
            <a:r>
              <a:rPr lang="en-US" sz="2000" dirty="0">
                <a:solidFill>
                  <a:srgbClr val="0097B2"/>
                </a:solidFill>
                <a:latin typeface="Open Sauce"/>
                <a:ea typeface="Open Sauce"/>
                <a:cs typeface="Open Sauce"/>
                <a:sym typeface="Open Sauce"/>
              </a:rPr>
              <a:t>- </a:t>
            </a:r>
            <a:r>
              <a:rPr lang="en-US" sz="2000" dirty="0">
                <a:solidFill>
                  <a:srgbClr val="4D5154"/>
                </a:solidFill>
                <a:latin typeface="Open Sauce"/>
                <a:ea typeface="Open Sauce"/>
                <a:cs typeface="Open Sauce"/>
                <a:sym typeface="Open Sauce"/>
              </a:rPr>
              <a:t>The multi-modal patterns reveal distinct customer groups.  </a:t>
            </a:r>
          </a:p>
          <a:p>
            <a:pPr algn="l">
              <a:lnSpc>
                <a:spcPts val="3079"/>
              </a:lnSpc>
              <a:spcBef>
                <a:spcPct val="0"/>
              </a:spcBef>
            </a:pPr>
            <a:r>
              <a:rPr lang="en-US" sz="2000" dirty="0">
                <a:solidFill>
                  <a:srgbClr val="4D5154"/>
                </a:solidFill>
                <a:latin typeface="Open Sauce"/>
                <a:ea typeface="Open Sauce"/>
                <a:cs typeface="Open Sauce"/>
                <a:sym typeface="Open Sauce"/>
              </a:rPr>
              <a:t>- These are useful for feature engineering or clustering.</a:t>
            </a:r>
          </a:p>
          <a:p>
            <a:pPr algn="l">
              <a:lnSpc>
                <a:spcPts val="3079"/>
              </a:lnSpc>
              <a:spcBef>
                <a:spcPct val="0"/>
              </a:spcBef>
            </a:pPr>
            <a:endParaRPr lang="en-US" sz="2199" dirty="0">
              <a:solidFill>
                <a:srgbClr val="4D5154"/>
              </a:solidFill>
              <a:latin typeface="Open Sauce"/>
              <a:ea typeface="Open Sauce"/>
              <a:cs typeface="Open Sauce"/>
              <a:sym typeface="Open Sauc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6" name="Freeform 6"/>
          <p:cNvSpPr/>
          <p:nvPr/>
        </p:nvSpPr>
        <p:spPr>
          <a:xfrm>
            <a:off x="0" y="0"/>
            <a:ext cx="11394650" cy="10287000"/>
          </a:xfrm>
          <a:custGeom>
            <a:avLst/>
            <a:gdLst/>
            <a:ahLst/>
            <a:cxnLst/>
            <a:rect l="l" t="t" r="r" b="b"/>
            <a:pathLst>
              <a:path w="10856982" h="10287000">
                <a:moveTo>
                  <a:pt x="0" y="0"/>
                </a:moveTo>
                <a:lnTo>
                  <a:pt x="10856983" y="0"/>
                </a:lnTo>
                <a:lnTo>
                  <a:pt x="10856983" y="10287000"/>
                </a:lnTo>
                <a:lnTo>
                  <a:pt x="0" y="10287000"/>
                </a:lnTo>
                <a:lnTo>
                  <a:pt x="0" y="0"/>
                </a:lnTo>
                <a:close/>
              </a:path>
            </a:pathLst>
          </a:custGeom>
          <a:blipFill>
            <a:blip r:embed="rId3"/>
            <a:stretch>
              <a:fillRect l="-1399" r="-706"/>
            </a:stretch>
          </a:blipFill>
        </p:spPr>
      </p:sp>
      <p:sp>
        <p:nvSpPr>
          <p:cNvPr id="7" name="TextBox 7"/>
          <p:cNvSpPr txBox="1"/>
          <p:nvPr/>
        </p:nvSpPr>
        <p:spPr>
          <a:xfrm>
            <a:off x="13005710" y="19050"/>
            <a:ext cx="3904887" cy="761097"/>
          </a:xfrm>
          <a:prstGeom prst="rect">
            <a:avLst/>
          </a:prstGeom>
        </p:spPr>
        <p:txBody>
          <a:bodyPr lIns="0" tIns="0" rIns="0" bIns="0" rtlCol="0" anchor="t">
            <a:spAutoFit/>
          </a:bodyPr>
          <a:lstStyle/>
          <a:p>
            <a:pPr marL="0" lvl="0" indent="0" algn="l">
              <a:lnSpc>
                <a:spcPts val="6005"/>
              </a:lnSpc>
              <a:spcBef>
                <a:spcPct val="0"/>
              </a:spcBef>
            </a:pPr>
            <a:r>
              <a:rPr lang="en-US" sz="5176" b="1" spc="-264">
                <a:solidFill>
                  <a:srgbClr val="0097B2"/>
                </a:solidFill>
                <a:latin typeface="Open Sauce Bold"/>
                <a:ea typeface="Open Sauce Bold"/>
                <a:cs typeface="Open Sauce Bold"/>
                <a:sym typeface="Open Sauce Bold"/>
              </a:rPr>
              <a:t>Correlations</a:t>
            </a:r>
          </a:p>
        </p:txBody>
      </p:sp>
      <p:sp>
        <p:nvSpPr>
          <p:cNvPr id="8" name="TextBox 8"/>
          <p:cNvSpPr txBox="1"/>
          <p:nvPr/>
        </p:nvSpPr>
        <p:spPr>
          <a:xfrm>
            <a:off x="11808074" y="981075"/>
            <a:ext cx="6300158" cy="9143722"/>
          </a:xfrm>
          <a:prstGeom prst="rect">
            <a:avLst/>
          </a:prstGeom>
        </p:spPr>
        <p:txBody>
          <a:bodyPr lIns="0" tIns="0" rIns="0" bIns="0" rtlCol="0" anchor="t">
            <a:spAutoFit/>
          </a:bodyPr>
          <a:lstStyle/>
          <a:p>
            <a:pPr algn="l">
              <a:lnSpc>
                <a:spcPts val="3359"/>
              </a:lnSpc>
            </a:pPr>
            <a:r>
              <a:rPr lang="en-US" sz="2399" spc="-122" dirty="0">
                <a:solidFill>
                  <a:srgbClr val="0097B2"/>
                </a:solidFill>
                <a:latin typeface="Open Sauce"/>
                <a:ea typeface="Open Sauce"/>
                <a:cs typeface="Open Sauce"/>
                <a:sym typeface="Open Sauce"/>
              </a:rPr>
              <a:t> </a:t>
            </a:r>
            <a:r>
              <a:rPr lang="en-US" sz="2399" spc="-122" dirty="0">
                <a:solidFill>
                  <a:srgbClr val="4D5154"/>
                </a:solidFill>
                <a:latin typeface="Open Sauce"/>
                <a:ea typeface="Open Sauce"/>
                <a:cs typeface="Open Sauce"/>
                <a:sym typeface="Open Sauce"/>
              </a:rPr>
              <a:t>Correlations show how features move together. Strong correlations highlight key predictors, while weak correlations indicate features with little predictive value.</a:t>
            </a:r>
          </a:p>
          <a:p>
            <a:pPr algn="l">
              <a:lnSpc>
                <a:spcPts val="3359"/>
              </a:lnSpc>
            </a:pPr>
            <a:endParaRPr lang="en-US" sz="2399" spc="-122" dirty="0">
              <a:solidFill>
                <a:srgbClr val="4D5154"/>
              </a:solidFill>
              <a:latin typeface="Open Sauce"/>
              <a:ea typeface="Open Sauce"/>
              <a:cs typeface="Open Sauce"/>
              <a:sym typeface="Open Sauce"/>
            </a:endParaRPr>
          </a:p>
          <a:p>
            <a:pPr algn="ctr">
              <a:lnSpc>
                <a:spcPts val="3499"/>
              </a:lnSpc>
            </a:pPr>
            <a:r>
              <a:rPr lang="en-US" sz="2499" b="1" spc="-127" dirty="0">
                <a:solidFill>
                  <a:srgbClr val="0097B2"/>
                </a:solidFill>
                <a:latin typeface="Open Sauce Bold"/>
                <a:ea typeface="Open Sauce Bold"/>
                <a:cs typeface="Open Sauce Bold"/>
                <a:sym typeface="Open Sauce Bold"/>
              </a:rPr>
              <a:t>Key Positive Correlations</a:t>
            </a:r>
          </a:p>
          <a:p>
            <a:pPr algn="l">
              <a:lnSpc>
                <a:spcPts val="3359"/>
              </a:lnSpc>
            </a:pPr>
            <a:endParaRPr lang="en-US" sz="2499" b="1" spc="-127" dirty="0">
              <a:solidFill>
                <a:srgbClr val="0097B2"/>
              </a:solidFill>
              <a:latin typeface="Open Sauce Bold"/>
              <a:ea typeface="Open Sauce Bold"/>
              <a:cs typeface="Open Sauce Bold"/>
              <a:sym typeface="Open Sauce Bold"/>
            </a:endParaRPr>
          </a:p>
          <a:p>
            <a:pPr algn="l">
              <a:lnSpc>
                <a:spcPts val="3359"/>
              </a:lnSpc>
            </a:pPr>
            <a:r>
              <a:rPr lang="en-US" sz="2399" spc="-122" dirty="0">
                <a:solidFill>
                  <a:srgbClr val="4D5154"/>
                </a:solidFill>
                <a:latin typeface="Open Sauce"/>
                <a:ea typeface="Open Sauce"/>
                <a:cs typeface="Open Sauce"/>
                <a:sym typeface="Open Sauce"/>
              </a:rPr>
              <a:t> Customers who make more transactions also spend more. Higher credit utilization is associated with higher revolving balances. </a:t>
            </a:r>
            <a:r>
              <a:rPr lang="en-US" sz="2399" spc="-122" dirty="0" err="1">
                <a:solidFill>
                  <a:srgbClr val="4D5154"/>
                </a:solidFill>
                <a:latin typeface="Open Sauce"/>
                <a:ea typeface="Open Sauce"/>
                <a:cs typeface="Open Sauce"/>
                <a:sym typeface="Open Sauce"/>
              </a:rPr>
              <a:t>Credit_Limit</a:t>
            </a:r>
            <a:r>
              <a:rPr lang="en-US" sz="2399" spc="-122" dirty="0">
                <a:solidFill>
                  <a:srgbClr val="4D5154"/>
                </a:solidFill>
                <a:latin typeface="Open Sauce"/>
                <a:ea typeface="Open Sauce"/>
                <a:cs typeface="Open Sauce"/>
                <a:sym typeface="Open Sauce"/>
              </a:rPr>
              <a:t> and </a:t>
            </a:r>
            <a:r>
              <a:rPr lang="en-US" sz="2399" spc="-122" dirty="0" err="1">
                <a:solidFill>
                  <a:srgbClr val="4D5154"/>
                </a:solidFill>
                <a:latin typeface="Open Sauce"/>
                <a:ea typeface="Open Sauce"/>
                <a:cs typeface="Open Sauce"/>
                <a:sym typeface="Open Sauce"/>
              </a:rPr>
              <a:t>Avg_Open_To_Buy</a:t>
            </a:r>
            <a:r>
              <a:rPr lang="en-US" sz="2399" spc="-122" dirty="0">
                <a:solidFill>
                  <a:srgbClr val="4D5154"/>
                </a:solidFill>
                <a:latin typeface="Open Sauce"/>
                <a:ea typeface="Open Sauce"/>
                <a:cs typeface="Open Sauce"/>
                <a:sym typeface="Open Sauce"/>
              </a:rPr>
              <a:t> are perfectly correlated, so one was removed.</a:t>
            </a:r>
          </a:p>
          <a:p>
            <a:pPr algn="l">
              <a:lnSpc>
                <a:spcPts val="3359"/>
              </a:lnSpc>
            </a:pPr>
            <a:endParaRPr lang="en-US" sz="2399" spc="-122" dirty="0">
              <a:solidFill>
                <a:srgbClr val="4D5154"/>
              </a:solidFill>
              <a:latin typeface="Open Sauce"/>
              <a:ea typeface="Open Sauce"/>
              <a:cs typeface="Open Sauce"/>
              <a:sym typeface="Open Sauce"/>
            </a:endParaRPr>
          </a:p>
          <a:p>
            <a:pPr algn="ctr">
              <a:lnSpc>
                <a:spcPts val="3499"/>
              </a:lnSpc>
            </a:pPr>
            <a:r>
              <a:rPr lang="en-US" sz="2499" b="1" spc="-127" dirty="0">
                <a:solidFill>
                  <a:srgbClr val="0097B2"/>
                </a:solidFill>
                <a:latin typeface="Open Sauce Bold"/>
                <a:ea typeface="Open Sauce Bold"/>
                <a:cs typeface="Open Sauce Bold"/>
                <a:sym typeface="Open Sauce Bold"/>
              </a:rPr>
              <a:t> Key Negative &amp; Weak Correlations</a:t>
            </a:r>
          </a:p>
          <a:p>
            <a:pPr algn="l">
              <a:lnSpc>
                <a:spcPts val="3359"/>
              </a:lnSpc>
            </a:pPr>
            <a:endParaRPr lang="en-US" sz="2499" b="1" spc="-127" dirty="0">
              <a:solidFill>
                <a:srgbClr val="0097B2"/>
              </a:solidFill>
              <a:latin typeface="Open Sauce Bold"/>
              <a:ea typeface="Open Sauce Bold"/>
              <a:cs typeface="Open Sauce Bold"/>
              <a:sym typeface="Open Sauce Bold"/>
            </a:endParaRPr>
          </a:p>
          <a:p>
            <a:pPr algn="l">
              <a:lnSpc>
                <a:spcPts val="3359"/>
              </a:lnSpc>
              <a:spcBef>
                <a:spcPct val="0"/>
              </a:spcBef>
            </a:pPr>
            <a:r>
              <a:rPr lang="en-US" sz="2399" spc="-122" dirty="0">
                <a:solidFill>
                  <a:srgbClr val="0097B2"/>
                </a:solidFill>
                <a:latin typeface="Open Sauce"/>
                <a:ea typeface="Open Sauce"/>
                <a:cs typeface="Open Sauce"/>
                <a:sym typeface="Open Sauce"/>
              </a:rPr>
              <a:t> </a:t>
            </a:r>
            <a:r>
              <a:rPr lang="en-US" sz="2399" spc="-122" dirty="0">
                <a:solidFill>
                  <a:srgbClr val="4D5154"/>
                </a:solidFill>
                <a:latin typeface="Open Sauce"/>
                <a:ea typeface="Open Sauce"/>
                <a:cs typeface="Open Sauce"/>
                <a:sym typeface="Open Sauce"/>
              </a:rPr>
              <a:t>Inactive customers make fewer transactions. High utilization corresponds to low available credit, signaling credit stress. Features like </a:t>
            </a:r>
            <a:r>
              <a:rPr lang="en-US" sz="2399" spc="-122" dirty="0" err="1">
                <a:solidFill>
                  <a:srgbClr val="4D5154"/>
                </a:solidFill>
                <a:latin typeface="Open Sauce"/>
                <a:ea typeface="Open Sauce"/>
                <a:cs typeface="Open Sauce"/>
                <a:sym typeface="Open Sauce"/>
              </a:rPr>
              <a:t>Customer_Age</a:t>
            </a:r>
            <a:r>
              <a:rPr lang="en-US" sz="2399" spc="-122" dirty="0">
                <a:solidFill>
                  <a:srgbClr val="4D5154"/>
                </a:solidFill>
                <a:latin typeface="Open Sauce"/>
                <a:ea typeface="Open Sauce"/>
                <a:cs typeface="Open Sauce"/>
                <a:sym typeface="Open Sauce"/>
              </a:rPr>
              <a:t> and Gender show very weak correlation and are not strong predictors alone.</a:t>
            </a:r>
          </a:p>
          <a:p>
            <a:pPr algn="l">
              <a:lnSpc>
                <a:spcPts val="3359"/>
              </a:lnSpc>
              <a:spcBef>
                <a:spcPct val="0"/>
              </a:spcBef>
            </a:pPr>
            <a:endParaRPr lang="en-US" sz="2399" spc="-122" dirty="0">
              <a:solidFill>
                <a:srgbClr val="4D5154"/>
              </a:solidFill>
              <a:latin typeface="Open Sauce"/>
              <a:ea typeface="Open Sauce"/>
              <a:cs typeface="Open Sauce"/>
              <a:sym typeface="Open Sauc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818212" y="3207656"/>
            <a:ext cx="13946780" cy="2940159"/>
          </a:xfrm>
          <a:prstGeom prst="rect">
            <a:avLst/>
          </a:prstGeom>
        </p:spPr>
        <p:txBody>
          <a:bodyPr lIns="0" tIns="0" rIns="0" bIns="0" rtlCol="0" anchor="t">
            <a:spAutoFit/>
          </a:bodyPr>
          <a:lstStyle/>
          <a:p>
            <a:pPr algn="l">
              <a:lnSpc>
                <a:spcPts val="11295"/>
              </a:lnSpc>
            </a:pPr>
            <a:r>
              <a:rPr lang="en-US" sz="12016" b="1" spc="-252">
                <a:solidFill>
                  <a:srgbClr val="FFFFFF"/>
                </a:solidFill>
                <a:latin typeface="Open Sauce Bold"/>
                <a:ea typeface="Open Sauce Bold"/>
                <a:cs typeface="Open Sauce Bold"/>
                <a:sym typeface="Open Sauce Bold"/>
              </a:rPr>
              <a:t>Data Preprocessing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5036648" y="603880"/>
            <a:ext cx="8214704" cy="878216"/>
          </a:xfrm>
          <a:prstGeom prst="rect">
            <a:avLst/>
          </a:prstGeom>
        </p:spPr>
        <p:txBody>
          <a:bodyPr lIns="0" tIns="0" rIns="0" bIns="0" rtlCol="0" anchor="t">
            <a:spAutoFit/>
          </a:bodyPr>
          <a:lstStyle/>
          <a:p>
            <a:pPr marL="0" lvl="0" indent="0" algn="ctr">
              <a:lnSpc>
                <a:spcPts val="6962"/>
              </a:lnSpc>
              <a:spcBef>
                <a:spcPct val="0"/>
              </a:spcBef>
            </a:pPr>
            <a:r>
              <a:rPr lang="en-US" sz="6002" b="1" spc="-306">
                <a:solidFill>
                  <a:srgbClr val="0097B2"/>
                </a:solidFill>
                <a:latin typeface="Open Sauce Semi-Bold"/>
                <a:ea typeface="Open Sauce Semi-Bold"/>
                <a:cs typeface="Open Sauce Semi-Bold"/>
                <a:sym typeface="Open Sauce Semi-Bold"/>
              </a:rPr>
              <a:t>Preprocessing Process</a:t>
            </a:r>
          </a:p>
        </p:txBody>
      </p:sp>
      <p:sp>
        <p:nvSpPr>
          <p:cNvPr id="4" name="AutoShape 4"/>
          <p:cNvSpPr/>
          <p:nvPr/>
        </p:nvSpPr>
        <p:spPr>
          <a:xfrm>
            <a:off x="0" y="3009900"/>
            <a:ext cx="18288000" cy="0"/>
          </a:xfrm>
          <a:prstGeom prst="line">
            <a:avLst/>
          </a:prstGeom>
          <a:ln w="47625" cap="flat">
            <a:solidFill>
              <a:srgbClr val="5CE1E6"/>
            </a:solidFill>
            <a:prstDash val="sysDash"/>
            <a:headEnd type="none" w="sm" len="sm"/>
            <a:tailEnd type="none" w="sm" len="sm"/>
          </a:ln>
        </p:spPr>
      </p:sp>
      <p:grpSp>
        <p:nvGrpSpPr>
          <p:cNvPr id="5" name="Group 5"/>
          <p:cNvGrpSpPr/>
          <p:nvPr/>
        </p:nvGrpSpPr>
        <p:grpSpPr>
          <a:xfrm>
            <a:off x="1666084" y="2369944"/>
            <a:ext cx="1330597" cy="133059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9186"/>
            </a:solidFill>
          </p:spPr>
        </p:sp>
        <p:sp>
          <p:nvSpPr>
            <p:cNvPr id="7" name="TextBox 7"/>
            <p:cNvSpPr txBox="1"/>
            <p:nvPr/>
          </p:nvSpPr>
          <p:spPr>
            <a:xfrm>
              <a:off x="76200" y="123825"/>
              <a:ext cx="660400" cy="612775"/>
            </a:xfrm>
            <a:prstGeom prst="rect">
              <a:avLst/>
            </a:prstGeom>
          </p:spPr>
          <p:txBody>
            <a:bodyPr lIns="50800" tIns="50800" rIns="50800" bIns="50800" rtlCol="0" anchor="ctr"/>
            <a:lstStyle/>
            <a:p>
              <a:pPr algn="ctr">
                <a:lnSpc>
                  <a:spcPts val="2266"/>
                </a:lnSpc>
              </a:pPr>
              <a:endParaRPr/>
            </a:p>
          </p:txBody>
        </p:sp>
      </p:grpSp>
      <p:grpSp>
        <p:nvGrpSpPr>
          <p:cNvPr id="8" name="Group 8"/>
          <p:cNvGrpSpPr/>
          <p:nvPr/>
        </p:nvGrpSpPr>
        <p:grpSpPr>
          <a:xfrm>
            <a:off x="2536360" y="3845734"/>
            <a:ext cx="1346037" cy="13460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38100" cap="rnd">
              <a:solidFill>
                <a:srgbClr val="FBF6F1"/>
              </a:solidFill>
              <a:prstDash val="dash"/>
              <a:round/>
            </a:ln>
          </p:spPr>
        </p:sp>
        <p:sp>
          <p:nvSpPr>
            <p:cNvPr id="10" name="TextBox 10"/>
            <p:cNvSpPr txBox="1"/>
            <p:nvPr/>
          </p:nvSpPr>
          <p:spPr>
            <a:xfrm>
              <a:off x="76200" y="47625"/>
              <a:ext cx="660400" cy="688975"/>
            </a:xfrm>
            <a:prstGeom prst="rect">
              <a:avLst/>
            </a:prstGeom>
          </p:spPr>
          <p:txBody>
            <a:bodyPr lIns="50800" tIns="50800" rIns="50800" bIns="50800" rtlCol="0" anchor="ctr"/>
            <a:lstStyle/>
            <a:p>
              <a:pPr marL="0" lvl="0" indent="0" algn="ctr">
                <a:lnSpc>
                  <a:spcPts val="1960"/>
                </a:lnSpc>
                <a:spcBef>
                  <a:spcPct val="0"/>
                </a:spcBef>
              </a:pPr>
              <a:endParaRPr/>
            </a:p>
          </p:txBody>
        </p:sp>
      </p:grpSp>
      <p:sp>
        <p:nvSpPr>
          <p:cNvPr id="11" name="TextBox 11"/>
          <p:cNvSpPr txBox="1"/>
          <p:nvPr/>
        </p:nvSpPr>
        <p:spPr>
          <a:xfrm>
            <a:off x="2638386" y="4260640"/>
            <a:ext cx="1141985" cy="679450"/>
          </a:xfrm>
          <a:prstGeom prst="rect">
            <a:avLst/>
          </a:prstGeom>
        </p:spPr>
        <p:txBody>
          <a:bodyPr lIns="0" tIns="0" rIns="0" bIns="0" rtlCol="0" anchor="t">
            <a:spAutoFit/>
          </a:bodyPr>
          <a:lstStyle/>
          <a:p>
            <a:pPr algn="ctr">
              <a:lnSpc>
                <a:spcPts val="5150"/>
              </a:lnSpc>
            </a:pPr>
            <a:r>
              <a:rPr lang="en-US" sz="5000">
                <a:solidFill>
                  <a:srgbClr val="FFFFFF"/>
                </a:solidFill>
                <a:latin typeface="Open Sauce"/>
                <a:ea typeface="Open Sauce"/>
                <a:cs typeface="Open Sauce"/>
                <a:sym typeface="Open Sauce"/>
              </a:rPr>
              <a:t>01</a:t>
            </a:r>
          </a:p>
        </p:txBody>
      </p:sp>
      <p:grpSp>
        <p:nvGrpSpPr>
          <p:cNvPr id="12" name="Group 12"/>
          <p:cNvGrpSpPr/>
          <p:nvPr/>
        </p:nvGrpSpPr>
        <p:grpSpPr>
          <a:xfrm>
            <a:off x="6512271" y="3845734"/>
            <a:ext cx="1346037" cy="134603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38100" cap="rnd">
              <a:solidFill>
                <a:srgbClr val="FBF6F1"/>
              </a:solidFill>
              <a:prstDash val="dash"/>
              <a:round/>
            </a:ln>
          </p:spPr>
        </p:sp>
        <p:sp>
          <p:nvSpPr>
            <p:cNvPr id="14" name="TextBox 14"/>
            <p:cNvSpPr txBox="1"/>
            <p:nvPr/>
          </p:nvSpPr>
          <p:spPr>
            <a:xfrm>
              <a:off x="76200" y="47625"/>
              <a:ext cx="660400" cy="688975"/>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15" name="Group 15"/>
          <p:cNvGrpSpPr/>
          <p:nvPr/>
        </p:nvGrpSpPr>
        <p:grpSpPr>
          <a:xfrm>
            <a:off x="10491846" y="3845734"/>
            <a:ext cx="1346037" cy="134603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38100" cap="rnd">
              <a:solidFill>
                <a:srgbClr val="FBF6F1"/>
              </a:solidFill>
              <a:prstDash val="dash"/>
              <a:round/>
            </a:ln>
          </p:spPr>
        </p:sp>
        <p:sp>
          <p:nvSpPr>
            <p:cNvPr id="17" name="TextBox 17"/>
            <p:cNvSpPr txBox="1"/>
            <p:nvPr/>
          </p:nvSpPr>
          <p:spPr>
            <a:xfrm>
              <a:off x="76200" y="47625"/>
              <a:ext cx="660400" cy="688975"/>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18" name="Group 18"/>
          <p:cNvGrpSpPr/>
          <p:nvPr/>
        </p:nvGrpSpPr>
        <p:grpSpPr>
          <a:xfrm>
            <a:off x="262346" y="4235783"/>
            <a:ext cx="4138073" cy="4306715"/>
            <a:chOff x="0" y="0"/>
            <a:chExt cx="3152120" cy="3280581"/>
          </a:xfrm>
        </p:grpSpPr>
        <p:sp>
          <p:nvSpPr>
            <p:cNvPr id="19" name="Freeform 19"/>
            <p:cNvSpPr/>
            <p:nvPr/>
          </p:nvSpPr>
          <p:spPr>
            <a:xfrm>
              <a:off x="0" y="0"/>
              <a:ext cx="3152120" cy="3280581"/>
            </a:xfrm>
            <a:custGeom>
              <a:avLst/>
              <a:gdLst/>
              <a:ahLst/>
              <a:cxnLst/>
              <a:rect l="l" t="t" r="r" b="b"/>
              <a:pathLst>
                <a:path w="3152120" h="3280581">
                  <a:moveTo>
                    <a:pt x="71094" y="0"/>
                  </a:moveTo>
                  <a:lnTo>
                    <a:pt x="3081026" y="0"/>
                  </a:lnTo>
                  <a:cubicBezTo>
                    <a:pt x="3120290" y="0"/>
                    <a:pt x="3152120" y="31830"/>
                    <a:pt x="3152120" y="71094"/>
                  </a:cubicBezTo>
                  <a:lnTo>
                    <a:pt x="3152120" y="3209487"/>
                  </a:lnTo>
                  <a:cubicBezTo>
                    <a:pt x="3152120" y="3248751"/>
                    <a:pt x="3120290" y="3280581"/>
                    <a:pt x="3081026" y="3280581"/>
                  </a:cubicBezTo>
                  <a:lnTo>
                    <a:pt x="71094" y="3280581"/>
                  </a:lnTo>
                  <a:cubicBezTo>
                    <a:pt x="31830" y="3280581"/>
                    <a:pt x="0" y="3248751"/>
                    <a:pt x="0" y="3209487"/>
                  </a:cubicBezTo>
                  <a:lnTo>
                    <a:pt x="0" y="71094"/>
                  </a:lnTo>
                  <a:cubicBezTo>
                    <a:pt x="0" y="31830"/>
                    <a:pt x="31830" y="0"/>
                    <a:pt x="71094" y="0"/>
                  </a:cubicBezTo>
                  <a:close/>
                </a:path>
              </a:pathLst>
            </a:custGeom>
            <a:solidFill>
              <a:srgbClr val="EA9186"/>
            </a:solidFill>
          </p:spPr>
        </p:sp>
        <p:sp>
          <p:nvSpPr>
            <p:cNvPr id="20" name="TextBox 20"/>
            <p:cNvSpPr txBox="1"/>
            <p:nvPr/>
          </p:nvSpPr>
          <p:spPr>
            <a:xfrm>
              <a:off x="0" y="-28575"/>
              <a:ext cx="3152120" cy="3309156"/>
            </a:xfrm>
            <a:prstGeom prst="rect">
              <a:avLst/>
            </a:prstGeom>
          </p:spPr>
          <p:txBody>
            <a:bodyPr lIns="50800" tIns="50800" rIns="50800" bIns="50800" rtlCol="0" anchor="ctr"/>
            <a:lstStyle/>
            <a:p>
              <a:pPr algn="ctr">
                <a:lnSpc>
                  <a:spcPts val="1960"/>
                </a:lnSpc>
                <a:spcBef>
                  <a:spcPct val="0"/>
                </a:spcBef>
              </a:pPr>
              <a:endParaRPr/>
            </a:p>
          </p:txBody>
        </p:sp>
      </p:grpSp>
      <p:sp>
        <p:nvSpPr>
          <p:cNvPr id="21" name="TextBox 21"/>
          <p:cNvSpPr txBox="1"/>
          <p:nvPr/>
        </p:nvSpPr>
        <p:spPr>
          <a:xfrm>
            <a:off x="379189" y="4463272"/>
            <a:ext cx="3811680" cy="4228934"/>
          </a:xfrm>
          <a:prstGeom prst="rect">
            <a:avLst/>
          </a:prstGeom>
        </p:spPr>
        <p:txBody>
          <a:bodyPr lIns="0" tIns="0" rIns="0" bIns="0" rtlCol="0" anchor="t">
            <a:spAutoFit/>
          </a:bodyPr>
          <a:lstStyle/>
          <a:p>
            <a:pPr marL="0" lvl="0" indent="0" algn="ctr">
              <a:lnSpc>
                <a:spcPts val="3778"/>
              </a:lnSpc>
            </a:pPr>
            <a:r>
              <a:rPr lang="en-US" sz="2929" b="1" u="none">
                <a:solidFill>
                  <a:srgbClr val="FFFFFF"/>
                </a:solidFill>
                <a:latin typeface="Open Sauce Bold"/>
                <a:ea typeface="Open Sauce Bold"/>
                <a:cs typeface="Open Sauce Bold"/>
                <a:sym typeface="Open Sauce Bold"/>
              </a:rPr>
              <a:t> </a:t>
            </a:r>
            <a:r>
              <a:rPr lang="en-US" sz="2929" b="1">
                <a:solidFill>
                  <a:srgbClr val="FFFFFF"/>
                </a:solidFill>
                <a:latin typeface="Open Sauce Bold"/>
                <a:ea typeface="Open Sauce Bold"/>
                <a:cs typeface="Open Sauce Bold"/>
                <a:sym typeface="Open Sauce Bold"/>
              </a:rPr>
              <a:t>Data Cleaning</a:t>
            </a:r>
          </a:p>
          <a:p>
            <a:pPr marL="0" lvl="0" indent="0" algn="l">
              <a:lnSpc>
                <a:spcPts val="2617"/>
              </a:lnSpc>
            </a:pPr>
            <a:endParaRPr lang="en-US" sz="2929" b="1">
              <a:solidFill>
                <a:srgbClr val="FFFFFF"/>
              </a:solidFill>
              <a:latin typeface="Open Sauce Bold"/>
              <a:ea typeface="Open Sauce Bold"/>
              <a:cs typeface="Open Sauce Bold"/>
              <a:sym typeface="Open Sauce Bold"/>
            </a:endParaRPr>
          </a:p>
          <a:p>
            <a:pPr marL="453388" lvl="1" indent="-226694" algn="l">
              <a:lnSpc>
                <a:spcPts val="2708"/>
              </a:lnSpc>
              <a:buFont typeface="Arial"/>
              <a:buChar char="•"/>
            </a:pPr>
            <a:r>
              <a:rPr lang="en-US" sz="2099" b="1" u="none">
                <a:solidFill>
                  <a:srgbClr val="FFFFFF"/>
                </a:solidFill>
                <a:latin typeface="Open Sauce Bold"/>
                <a:ea typeface="Open Sauce Bold"/>
                <a:cs typeface="Open Sauce Bold"/>
                <a:sym typeface="Open Sauce Bold"/>
              </a:rPr>
              <a:t>Deleted unnecessary columns</a:t>
            </a:r>
          </a:p>
          <a:p>
            <a:pPr algn="l">
              <a:lnSpc>
                <a:spcPts val="2708"/>
              </a:lnSpc>
            </a:pPr>
            <a:endParaRPr lang="en-US" sz="2099" b="1" u="none">
              <a:solidFill>
                <a:srgbClr val="FFFFFF"/>
              </a:solidFill>
              <a:latin typeface="Open Sauce Bold"/>
              <a:ea typeface="Open Sauce Bold"/>
              <a:cs typeface="Open Sauce Bold"/>
              <a:sym typeface="Open Sauce Bold"/>
            </a:endParaRPr>
          </a:p>
          <a:p>
            <a:pPr marL="453388" lvl="1" indent="-226694" algn="l">
              <a:lnSpc>
                <a:spcPts val="2708"/>
              </a:lnSpc>
              <a:buFont typeface="Arial"/>
              <a:buChar char="•"/>
            </a:pPr>
            <a:r>
              <a:rPr lang="en-US" sz="2099" b="1" u="none">
                <a:solidFill>
                  <a:srgbClr val="FFFFFF"/>
                </a:solidFill>
                <a:latin typeface="Open Sauce Bold"/>
                <a:ea typeface="Open Sauce Bold"/>
                <a:cs typeface="Open Sauce Bold"/>
                <a:sym typeface="Open Sauce Bold"/>
              </a:rPr>
              <a:t>Standardized categorical labels</a:t>
            </a:r>
          </a:p>
          <a:p>
            <a:pPr algn="l">
              <a:lnSpc>
                <a:spcPts val="2708"/>
              </a:lnSpc>
            </a:pPr>
            <a:endParaRPr lang="en-US" sz="2099" b="1" u="none">
              <a:solidFill>
                <a:srgbClr val="FFFFFF"/>
              </a:solidFill>
              <a:latin typeface="Open Sauce Bold"/>
              <a:ea typeface="Open Sauce Bold"/>
              <a:cs typeface="Open Sauce Bold"/>
              <a:sym typeface="Open Sauce Bold"/>
            </a:endParaRPr>
          </a:p>
          <a:p>
            <a:pPr marL="453388" lvl="1" indent="-226694" algn="l">
              <a:lnSpc>
                <a:spcPts val="2708"/>
              </a:lnSpc>
              <a:buFont typeface="Arial"/>
              <a:buChar char="•"/>
            </a:pPr>
            <a:r>
              <a:rPr lang="en-US" sz="2099" b="1" u="none">
                <a:solidFill>
                  <a:srgbClr val="FFFFFF"/>
                </a:solidFill>
                <a:latin typeface="Open Sauce Bold"/>
                <a:ea typeface="Open Sauce Bold"/>
                <a:cs typeface="Open Sauce Bold"/>
                <a:sym typeface="Open Sauce Bold"/>
              </a:rPr>
              <a:t>Verified missing values (none required imputation)</a:t>
            </a:r>
          </a:p>
          <a:p>
            <a:pPr marL="0" lvl="0" indent="0" algn="ctr">
              <a:lnSpc>
                <a:spcPts val="2708"/>
              </a:lnSpc>
            </a:pPr>
            <a:endParaRPr lang="en-US" sz="2099" b="1" u="none">
              <a:solidFill>
                <a:srgbClr val="FFFFFF"/>
              </a:solidFill>
              <a:latin typeface="Open Sauce Bold"/>
              <a:ea typeface="Open Sauce Bold"/>
              <a:cs typeface="Open Sauce Bold"/>
              <a:sym typeface="Open Sauce Bold"/>
            </a:endParaRPr>
          </a:p>
        </p:txBody>
      </p:sp>
      <p:grpSp>
        <p:nvGrpSpPr>
          <p:cNvPr id="22" name="Group 22"/>
          <p:cNvGrpSpPr/>
          <p:nvPr/>
        </p:nvGrpSpPr>
        <p:grpSpPr>
          <a:xfrm>
            <a:off x="4686169" y="4301868"/>
            <a:ext cx="4142320" cy="4364209"/>
            <a:chOff x="0" y="0"/>
            <a:chExt cx="3155355" cy="3324376"/>
          </a:xfrm>
        </p:grpSpPr>
        <p:sp>
          <p:nvSpPr>
            <p:cNvPr id="23" name="Freeform 23"/>
            <p:cNvSpPr/>
            <p:nvPr/>
          </p:nvSpPr>
          <p:spPr>
            <a:xfrm>
              <a:off x="0" y="0"/>
              <a:ext cx="3155355" cy="3324376"/>
            </a:xfrm>
            <a:custGeom>
              <a:avLst/>
              <a:gdLst/>
              <a:ahLst/>
              <a:cxnLst/>
              <a:rect l="l" t="t" r="r" b="b"/>
              <a:pathLst>
                <a:path w="3155355" h="3324376">
                  <a:moveTo>
                    <a:pt x="71021" y="0"/>
                  </a:moveTo>
                  <a:lnTo>
                    <a:pt x="3084334" y="0"/>
                  </a:lnTo>
                  <a:cubicBezTo>
                    <a:pt x="3103170" y="0"/>
                    <a:pt x="3121234" y="7483"/>
                    <a:pt x="3134554" y="20802"/>
                  </a:cubicBezTo>
                  <a:cubicBezTo>
                    <a:pt x="3147873" y="34121"/>
                    <a:pt x="3155355" y="52185"/>
                    <a:pt x="3155355" y="71021"/>
                  </a:cubicBezTo>
                  <a:lnTo>
                    <a:pt x="3155355" y="3253355"/>
                  </a:lnTo>
                  <a:cubicBezTo>
                    <a:pt x="3155355" y="3272191"/>
                    <a:pt x="3147873" y="3290255"/>
                    <a:pt x="3134554" y="3303574"/>
                  </a:cubicBezTo>
                  <a:cubicBezTo>
                    <a:pt x="3121234" y="3316894"/>
                    <a:pt x="3103170" y="3324376"/>
                    <a:pt x="3084334" y="3324376"/>
                  </a:cubicBezTo>
                  <a:lnTo>
                    <a:pt x="71021" y="3324376"/>
                  </a:lnTo>
                  <a:cubicBezTo>
                    <a:pt x="52185" y="3324376"/>
                    <a:pt x="34121" y="3316894"/>
                    <a:pt x="20802" y="3303574"/>
                  </a:cubicBezTo>
                  <a:cubicBezTo>
                    <a:pt x="7483" y="3290255"/>
                    <a:pt x="0" y="3272191"/>
                    <a:pt x="0" y="3253355"/>
                  </a:cubicBezTo>
                  <a:lnTo>
                    <a:pt x="0" y="71021"/>
                  </a:lnTo>
                  <a:cubicBezTo>
                    <a:pt x="0" y="52185"/>
                    <a:pt x="7483" y="34121"/>
                    <a:pt x="20802" y="20802"/>
                  </a:cubicBezTo>
                  <a:cubicBezTo>
                    <a:pt x="34121" y="7483"/>
                    <a:pt x="52185" y="0"/>
                    <a:pt x="71021" y="0"/>
                  </a:cubicBezTo>
                  <a:close/>
                </a:path>
              </a:pathLst>
            </a:custGeom>
            <a:solidFill>
              <a:srgbClr val="88CEEB"/>
            </a:solidFill>
          </p:spPr>
        </p:sp>
        <p:sp>
          <p:nvSpPr>
            <p:cNvPr id="24" name="TextBox 24"/>
            <p:cNvSpPr txBox="1"/>
            <p:nvPr/>
          </p:nvSpPr>
          <p:spPr>
            <a:xfrm>
              <a:off x="0" y="-28575"/>
              <a:ext cx="3155355" cy="3352951"/>
            </a:xfrm>
            <a:prstGeom prst="rect">
              <a:avLst/>
            </a:prstGeom>
          </p:spPr>
          <p:txBody>
            <a:bodyPr lIns="50800" tIns="50800" rIns="50800" bIns="50800" rtlCol="0" anchor="ctr"/>
            <a:lstStyle/>
            <a:p>
              <a:pPr algn="ctr">
                <a:lnSpc>
                  <a:spcPts val="1960"/>
                </a:lnSpc>
                <a:spcBef>
                  <a:spcPct val="0"/>
                </a:spcBef>
              </a:pPr>
              <a:endParaRPr/>
            </a:p>
          </p:txBody>
        </p:sp>
      </p:grpSp>
      <p:sp>
        <p:nvSpPr>
          <p:cNvPr id="25" name="TextBox 25"/>
          <p:cNvSpPr txBox="1"/>
          <p:nvPr/>
        </p:nvSpPr>
        <p:spPr>
          <a:xfrm>
            <a:off x="4800483" y="4380073"/>
            <a:ext cx="3878148" cy="4162425"/>
          </a:xfrm>
          <a:prstGeom prst="rect">
            <a:avLst/>
          </a:prstGeom>
        </p:spPr>
        <p:txBody>
          <a:bodyPr lIns="0" tIns="0" rIns="0" bIns="0" rtlCol="0" anchor="t">
            <a:spAutoFit/>
          </a:bodyPr>
          <a:lstStyle/>
          <a:p>
            <a:pPr marL="0" lvl="0" indent="0" algn="ctr">
              <a:lnSpc>
                <a:spcPts val="3611"/>
              </a:lnSpc>
            </a:pPr>
            <a:r>
              <a:rPr lang="en-US" sz="2799" b="1">
                <a:solidFill>
                  <a:srgbClr val="FFFFFF"/>
                </a:solidFill>
                <a:latin typeface="Open Sauce Bold"/>
                <a:ea typeface="Open Sauce Bold"/>
                <a:cs typeface="Open Sauce Bold"/>
                <a:sym typeface="Open Sauce Bold"/>
              </a:rPr>
              <a:t>Encoding Categorical Variables</a:t>
            </a:r>
          </a:p>
          <a:p>
            <a:pPr marL="0" lvl="0" indent="0" algn="l">
              <a:lnSpc>
                <a:spcPts val="3353"/>
              </a:lnSpc>
            </a:pPr>
            <a:endParaRPr lang="en-US" sz="2799" b="1">
              <a:solidFill>
                <a:srgbClr val="FFFFFF"/>
              </a:solidFill>
              <a:latin typeface="Open Sauce Bold"/>
              <a:ea typeface="Open Sauce Bold"/>
              <a:cs typeface="Open Sauce Bold"/>
              <a:sym typeface="Open Sauce Bold"/>
            </a:endParaRPr>
          </a:p>
          <a:p>
            <a:pPr marL="474978" lvl="1" indent="-237489" algn="l">
              <a:lnSpc>
                <a:spcPts val="2837"/>
              </a:lnSpc>
              <a:buFont typeface="Arial"/>
              <a:buChar char="•"/>
            </a:pPr>
            <a:r>
              <a:rPr lang="en-US" sz="2199" b="1" u="none">
                <a:solidFill>
                  <a:srgbClr val="FFFFFF"/>
                </a:solidFill>
                <a:latin typeface="Open Sauce Bold"/>
                <a:ea typeface="Open Sauce Bold"/>
                <a:cs typeface="Open Sauce Bold"/>
                <a:sym typeface="Open Sauce Bold"/>
              </a:rPr>
              <a:t>Ordinal Encoding: Education Level, Income Category, Card Category</a:t>
            </a:r>
          </a:p>
          <a:p>
            <a:pPr algn="l">
              <a:lnSpc>
                <a:spcPts val="2837"/>
              </a:lnSpc>
            </a:pPr>
            <a:endParaRPr lang="en-US" sz="2199" b="1" u="none">
              <a:solidFill>
                <a:srgbClr val="FFFFFF"/>
              </a:solidFill>
              <a:latin typeface="Open Sauce Bold"/>
              <a:ea typeface="Open Sauce Bold"/>
              <a:cs typeface="Open Sauce Bold"/>
              <a:sym typeface="Open Sauce Bold"/>
            </a:endParaRPr>
          </a:p>
          <a:p>
            <a:pPr marL="474978" lvl="1" indent="-237489" algn="l">
              <a:lnSpc>
                <a:spcPts val="2837"/>
              </a:lnSpc>
              <a:buFont typeface="Arial"/>
              <a:buChar char="•"/>
            </a:pPr>
            <a:r>
              <a:rPr lang="en-US" sz="2199" b="1" u="none">
                <a:solidFill>
                  <a:srgbClr val="FFFFFF"/>
                </a:solidFill>
                <a:latin typeface="Open Sauce Bold"/>
                <a:ea typeface="Open Sauce Bold"/>
                <a:cs typeface="Open Sauce Bold"/>
                <a:sym typeface="Open Sauce Bold"/>
              </a:rPr>
              <a:t>One-Hot Encoding: Marital Status</a:t>
            </a:r>
          </a:p>
          <a:p>
            <a:pPr marL="0" lvl="0" indent="0" algn="l">
              <a:lnSpc>
                <a:spcPts val="2837"/>
              </a:lnSpc>
            </a:pPr>
            <a:endParaRPr lang="en-US" sz="2199" b="1" u="none">
              <a:solidFill>
                <a:srgbClr val="FFFFFF"/>
              </a:solidFill>
              <a:latin typeface="Open Sauce Bold"/>
              <a:ea typeface="Open Sauce Bold"/>
              <a:cs typeface="Open Sauce Bold"/>
              <a:sym typeface="Open Sauce Bold"/>
            </a:endParaRPr>
          </a:p>
        </p:txBody>
      </p:sp>
      <p:grpSp>
        <p:nvGrpSpPr>
          <p:cNvPr id="26" name="Group 26"/>
          <p:cNvGrpSpPr/>
          <p:nvPr/>
        </p:nvGrpSpPr>
        <p:grpSpPr>
          <a:xfrm>
            <a:off x="9089934" y="4301868"/>
            <a:ext cx="4187157" cy="4269377"/>
            <a:chOff x="0" y="0"/>
            <a:chExt cx="3169059" cy="3324376"/>
          </a:xfrm>
        </p:grpSpPr>
        <p:sp>
          <p:nvSpPr>
            <p:cNvPr id="27" name="Freeform 27"/>
            <p:cNvSpPr/>
            <p:nvPr/>
          </p:nvSpPr>
          <p:spPr>
            <a:xfrm>
              <a:off x="0" y="0"/>
              <a:ext cx="3169059" cy="3324376"/>
            </a:xfrm>
            <a:custGeom>
              <a:avLst/>
              <a:gdLst/>
              <a:ahLst/>
              <a:cxnLst/>
              <a:rect l="l" t="t" r="r" b="b"/>
              <a:pathLst>
                <a:path w="3169059" h="3324376">
                  <a:moveTo>
                    <a:pt x="70714" y="0"/>
                  </a:moveTo>
                  <a:lnTo>
                    <a:pt x="3098345" y="0"/>
                  </a:lnTo>
                  <a:cubicBezTo>
                    <a:pt x="3137399" y="0"/>
                    <a:pt x="3169059" y="31660"/>
                    <a:pt x="3169059" y="70714"/>
                  </a:cubicBezTo>
                  <a:lnTo>
                    <a:pt x="3169059" y="3253662"/>
                  </a:lnTo>
                  <a:cubicBezTo>
                    <a:pt x="3169059" y="3272417"/>
                    <a:pt x="3161609" y="3290403"/>
                    <a:pt x="3148348" y="3303665"/>
                  </a:cubicBezTo>
                  <a:cubicBezTo>
                    <a:pt x="3135086" y="3316926"/>
                    <a:pt x="3117100" y="3324376"/>
                    <a:pt x="3098345" y="3324376"/>
                  </a:cubicBezTo>
                  <a:lnTo>
                    <a:pt x="70714" y="3324376"/>
                  </a:lnTo>
                  <a:cubicBezTo>
                    <a:pt x="31660" y="3324376"/>
                    <a:pt x="0" y="3292716"/>
                    <a:pt x="0" y="3253662"/>
                  </a:cubicBezTo>
                  <a:lnTo>
                    <a:pt x="0" y="70714"/>
                  </a:lnTo>
                  <a:cubicBezTo>
                    <a:pt x="0" y="31660"/>
                    <a:pt x="31660" y="0"/>
                    <a:pt x="70714" y="0"/>
                  </a:cubicBezTo>
                  <a:close/>
                </a:path>
              </a:pathLst>
            </a:custGeom>
            <a:solidFill>
              <a:srgbClr val="EA9186"/>
            </a:solidFill>
          </p:spPr>
        </p:sp>
        <p:sp>
          <p:nvSpPr>
            <p:cNvPr id="28" name="TextBox 28"/>
            <p:cNvSpPr txBox="1"/>
            <p:nvPr/>
          </p:nvSpPr>
          <p:spPr>
            <a:xfrm>
              <a:off x="0" y="-28575"/>
              <a:ext cx="3169059" cy="3352951"/>
            </a:xfrm>
            <a:prstGeom prst="rect">
              <a:avLst/>
            </a:prstGeom>
          </p:spPr>
          <p:txBody>
            <a:bodyPr lIns="50800" tIns="50800" rIns="50800" bIns="50800" rtlCol="0" anchor="ctr"/>
            <a:lstStyle/>
            <a:p>
              <a:pPr algn="ctr">
                <a:lnSpc>
                  <a:spcPts val="1960"/>
                </a:lnSpc>
                <a:spcBef>
                  <a:spcPct val="0"/>
                </a:spcBef>
              </a:pPr>
              <a:endParaRPr/>
            </a:p>
          </p:txBody>
        </p:sp>
      </p:grpSp>
      <p:sp>
        <p:nvSpPr>
          <p:cNvPr id="29" name="TextBox 29"/>
          <p:cNvSpPr txBox="1"/>
          <p:nvPr/>
        </p:nvSpPr>
        <p:spPr>
          <a:xfrm>
            <a:off x="9291351" y="4369861"/>
            <a:ext cx="3731586" cy="4009984"/>
          </a:xfrm>
          <a:prstGeom prst="rect">
            <a:avLst/>
          </a:prstGeom>
        </p:spPr>
        <p:txBody>
          <a:bodyPr lIns="0" tIns="0" rIns="0" bIns="0" rtlCol="0" anchor="t">
            <a:spAutoFit/>
          </a:bodyPr>
          <a:lstStyle/>
          <a:p>
            <a:pPr marL="0" lvl="0" indent="0" algn="l">
              <a:lnSpc>
                <a:spcPts val="3956"/>
              </a:lnSpc>
            </a:pPr>
            <a:r>
              <a:rPr lang="en-US" sz="3067" b="1" u="none" dirty="0">
                <a:solidFill>
                  <a:srgbClr val="FFFFFF"/>
                </a:solidFill>
                <a:latin typeface="Open Sauce Bold"/>
                <a:ea typeface="Open Sauce Bold"/>
                <a:cs typeface="Open Sauce Bold"/>
                <a:sym typeface="Open Sauce Bold"/>
              </a:rPr>
              <a:t> Feature Scaling</a:t>
            </a:r>
          </a:p>
          <a:p>
            <a:pPr marL="0" lvl="0" indent="0" algn="l">
              <a:lnSpc>
                <a:spcPts val="3163"/>
              </a:lnSpc>
            </a:pPr>
            <a:endParaRPr lang="en-US" sz="3067" b="1" u="none" dirty="0">
              <a:solidFill>
                <a:srgbClr val="FFFFFF"/>
              </a:solidFill>
              <a:latin typeface="Open Sauce Bold"/>
              <a:ea typeface="Open Sauce Bold"/>
              <a:cs typeface="Open Sauce Bold"/>
              <a:sym typeface="Open Sauce Bold"/>
            </a:endParaRPr>
          </a:p>
          <a:p>
            <a:pPr marL="529454" lvl="1" indent="-264727" algn="l">
              <a:lnSpc>
                <a:spcPts val="3163"/>
              </a:lnSpc>
              <a:buFont typeface="Arial"/>
              <a:buChar char="•"/>
            </a:pPr>
            <a:r>
              <a:rPr lang="en-US" sz="2452" b="1" u="none" dirty="0">
                <a:solidFill>
                  <a:srgbClr val="FFFFFF"/>
                </a:solidFill>
                <a:latin typeface="Open Sauce Bold"/>
                <a:ea typeface="Open Sauce Bold"/>
                <a:cs typeface="Open Sauce Bold"/>
                <a:sym typeface="Open Sauce Bold"/>
              </a:rPr>
              <a:t>Applied </a:t>
            </a:r>
            <a:r>
              <a:rPr lang="en-US" sz="2452" b="1" u="none" dirty="0" err="1">
                <a:solidFill>
                  <a:srgbClr val="FFFFFF"/>
                </a:solidFill>
                <a:latin typeface="Open Sauce Bold"/>
                <a:ea typeface="Open Sauce Bold"/>
                <a:cs typeface="Open Sauce Bold"/>
                <a:sym typeface="Open Sauce Bold"/>
              </a:rPr>
              <a:t>StandardScaler</a:t>
            </a:r>
            <a:r>
              <a:rPr lang="en-US" sz="2452" b="1" u="none" dirty="0">
                <a:solidFill>
                  <a:srgbClr val="FFFFFF"/>
                </a:solidFill>
                <a:latin typeface="Open Sauce Bold"/>
                <a:ea typeface="Open Sauce Bold"/>
                <a:cs typeface="Open Sauce Bold"/>
                <a:sym typeface="Open Sauce Bold"/>
              </a:rPr>
              <a:t> to all numerical columns to ensures fair contribution of each feature during modeling.</a:t>
            </a:r>
          </a:p>
          <a:p>
            <a:pPr marL="0" lvl="0" indent="0" algn="ctr">
              <a:lnSpc>
                <a:spcPts val="2502"/>
              </a:lnSpc>
            </a:pPr>
            <a:endParaRPr lang="en-US" sz="2452" b="1" u="none" dirty="0">
              <a:solidFill>
                <a:srgbClr val="FFFFFF"/>
              </a:solidFill>
              <a:latin typeface="Open Sauce Bold"/>
              <a:ea typeface="Open Sauce Bold"/>
              <a:cs typeface="Open Sauce Bold"/>
              <a:sym typeface="Open Sauce Bold"/>
            </a:endParaRPr>
          </a:p>
        </p:txBody>
      </p:sp>
      <p:grpSp>
        <p:nvGrpSpPr>
          <p:cNvPr id="30" name="Group 30"/>
          <p:cNvGrpSpPr/>
          <p:nvPr/>
        </p:nvGrpSpPr>
        <p:grpSpPr>
          <a:xfrm>
            <a:off x="13403283" y="4301868"/>
            <a:ext cx="4337192" cy="4269377"/>
            <a:chOff x="0" y="0"/>
            <a:chExt cx="3189509" cy="3324376"/>
          </a:xfrm>
        </p:grpSpPr>
        <p:sp>
          <p:nvSpPr>
            <p:cNvPr id="31" name="Freeform 31"/>
            <p:cNvSpPr/>
            <p:nvPr/>
          </p:nvSpPr>
          <p:spPr>
            <a:xfrm>
              <a:off x="0" y="0"/>
              <a:ext cx="3189509" cy="3324376"/>
            </a:xfrm>
            <a:custGeom>
              <a:avLst/>
              <a:gdLst/>
              <a:ahLst/>
              <a:cxnLst/>
              <a:rect l="l" t="t" r="r" b="b"/>
              <a:pathLst>
                <a:path w="3189509" h="3324376">
                  <a:moveTo>
                    <a:pt x="70261" y="0"/>
                  </a:moveTo>
                  <a:lnTo>
                    <a:pt x="3119248" y="0"/>
                  </a:lnTo>
                  <a:cubicBezTo>
                    <a:pt x="3158052" y="0"/>
                    <a:pt x="3189509" y="31457"/>
                    <a:pt x="3189509" y="70261"/>
                  </a:cubicBezTo>
                  <a:lnTo>
                    <a:pt x="3189509" y="3254115"/>
                  </a:lnTo>
                  <a:cubicBezTo>
                    <a:pt x="3189509" y="3292919"/>
                    <a:pt x="3158052" y="3324376"/>
                    <a:pt x="3119248" y="3324376"/>
                  </a:cubicBezTo>
                  <a:lnTo>
                    <a:pt x="70261" y="3324376"/>
                  </a:lnTo>
                  <a:cubicBezTo>
                    <a:pt x="31457" y="3324376"/>
                    <a:pt x="0" y="3292919"/>
                    <a:pt x="0" y="3254115"/>
                  </a:cubicBezTo>
                  <a:lnTo>
                    <a:pt x="0" y="70261"/>
                  </a:lnTo>
                  <a:cubicBezTo>
                    <a:pt x="0" y="31457"/>
                    <a:pt x="31457" y="0"/>
                    <a:pt x="70261" y="0"/>
                  </a:cubicBezTo>
                  <a:close/>
                </a:path>
              </a:pathLst>
            </a:custGeom>
            <a:solidFill>
              <a:srgbClr val="88CEEB"/>
            </a:solidFill>
          </p:spPr>
        </p:sp>
        <p:sp>
          <p:nvSpPr>
            <p:cNvPr id="32" name="TextBox 32"/>
            <p:cNvSpPr txBox="1"/>
            <p:nvPr/>
          </p:nvSpPr>
          <p:spPr>
            <a:xfrm>
              <a:off x="0" y="-28575"/>
              <a:ext cx="3189509" cy="3352951"/>
            </a:xfrm>
            <a:prstGeom prst="rect">
              <a:avLst/>
            </a:prstGeom>
          </p:spPr>
          <p:txBody>
            <a:bodyPr lIns="50800" tIns="50800" rIns="50800" bIns="50800" rtlCol="0" anchor="ctr"/>
            <a:lstStyle/>
            <a:p>
              <a:pPr algn="ctr">
                <a:lnSpc>
                  <a:spcPts val="1960"/>
                </a:lnSpc>
                <a:spcBef>
                  <a:spcPct val="0"/>
                </a:spcBef>
              </a:pPr>
              <a:endParaRPr/>
            </a:p>
          </p:txBody>
        </p:sp>
      </p:grpSp>
      <p:sp>
        <p:nvSpPr>
          <p:cNvPr id="33" name="TextBox 33"/>
          <p:cNvSpPr txBox="1"/>
          <p:nvPr/>
        </p:nvSpPr>
        <p:spPr>
          <a:xfrm>
            <a:off x="13772392" y="4282709"/>
            <a:ext cx="3797191" cy="4288536"/>
          </a:xfrm>
          <a:prstGeom prst="rect">
            <a:avLst/>
          </a:prstGeom>
        </p:spPr>
        <p:txBody>
          <a:bodyPr lIns="0" tIns="0" rIns="0" bIns="0" rtlCol="0" anchor="t">
            <a:spAutoFit/>
          </a:bodyPr>
          <a:lstStyle/>
          <a:p>
            <a:pPr marL="0" lvl="0" indent="0" algn="l">
              <a:lnSpc>
                <a:spcPts val="3869"/>
              </a:lnSpc>
            </a:pPr>
            <a:r>
              <a:rPr lang="en-US" sz="2999" b="1" dirty="0">
                <a:solidFill>
                  <a:srgbClr val="FFFFFF"/>
                </a:solidFill>
                <a:latin typeface="Open Sauce Bold"/>
                <a:ea typeface="Open Sauce Bold"/>
                <a:cs typeface="Open Sauce Bold"/>
                <a:sym typeface="Open Sauce Bold"/>
              </a:rPr>
              <a:t>Handl</a:t>
            </a:r>
            <a:r>
              <a:rPr lang="en-US" sz="2999" b="1" u="none" dirty="0">
                <a:solidFill>
                  <a:srgbClr val="FFFFFF"/>
                </a:solidFill>
                <a:latin typeface="Open Sauce Bold"/>
                <a:ea typeface="Open Sauce Bold"/>
                <a:cs typeface="Open Sauce Bold"/>
                <a:sym typeface="Open Sauce Bold"/>
              </a:rPr>
              <a:t>ing Class Imbalance</a:t>
            </a:r>
          </a:p>
          <a:p>
            <a:pPr marL="0" lvl="0" indent="0" algn="l">
              <a:lnSpc>
                <a:spcPts val="3611"/>
              </a:lnSpc>
            </a:pPr>
            <a:endParaRPr lang="en-US" sz="2999" b="1" u="none" dirty="0">
              <a:solidFill>
                <a:srgbClr val="FFFFFF"/>
              </a:solidFill>
              <a:latin typeface="Open Sauce Bold"/>
              <a:ea typeface="Open Sauce Bold"/>
              <a:cs typeface="Open Sauce Bold"/>
              <a:sym typeface="Open Sauce Bold"/>
            </a:endParaRPr>
          </a:p>
          <a:p>
            <a:pPr marL="0" lvl="0" indent="0" algn="l">
              <a:lnSpc>
                <a:spcPts val="2966"/>
              </a:lnSpc>
            </a:pPr>
            <a:r>
              <a:rPr lang="en-US" sz="2299" b="1" u="none" dirty="0">
                <a:solidFill>
                  <a:srgbClr val="FFFFFF"/>
                </a:solidFill>
                <a:latin typeface="Open Sauce Bold"/>
                <a:ea typeface="Open Sauce Bold"/>
                <a:cs typeface="Open Sauce Bold"/>
                <a:sym typeface="Open Sauce Bold"/>
              </a:rPr>
              <a:t>Dataset was 84% existing vs 16% churned</a:t>
            </a:r>
          </a:p>
          <a:p>
            <a:pPr marL="0" lvl="0" indent="0" algn="l">
              <a:lnSpc>
                <a:spcPts val="2966"/>
              </a:lnSpc>
            </a:pPr>
            <a:r>
              <a:rPr lang="en-US" sz="2299" b="1" u="none" dirty="0">
                <a:solidFill>
                  <a:srgbClr val="FFFFFF"/>
                </a:solidFill>
                <a:latin typeface="Open Sauce Bold"/>
                <a:ea typeface="Open Sauce Bold"/>
                <a:cs typeface="Open Sauce Bold"/>
                <a:sym typeface="Open Sauce Bold"/>
              </a:rPr>
              <a:t>Used SMOTE to oversample minority class</a:t>
            </a:r>
          </a:p>
          <a:p>
            <a:pPr marL="0" lvl="0" indent="0" algn="l">
              <a:lnSpc>
                <a:spcPts val="2966"/>
              </a:lnSpc>
            </a:pPr>
            <a:r>
              <a:rPr lang="en-US" sz="2299" b="1" u="none" dirty="0">
                <a:solidFill>
                  <a:srgbClr val="FFFFFF"/>
                </a:solidFill>
                <a:latin typeface="Open Sauce Bold"/>
                <a:ea typeface="Open Sauce Bold"/>
                <a:cs typeface="Open Sauce Bold"/>
                <a:sym typeface="Open Sauce Bold"/>
              </a:rPr>
              <a:t>Improved model’s ability to learn churn patterns</a:t>
            </a:r>
          </a:p>
          <a:p>
            <a:pPr marL="0" lvl="0" indent="0" algn="ctr">
              <a:lnSpc>
                <a:spcPts val="2064"/>
              </a:lnSpc>
            </a:pPr>
            <a:endParaRPr lang="en-US" sz="2299" b="1" u="none" dirty="0">
              <a:solidFill>
                <a:srgbClr val="FFFFFF"/>
              </a:solidFill>
              <a:latin typeface="Open Sauce Bold"/>
              <a:ea typeface="Open Sauce Bold"/>
              <a:cs typeface="Open Sauce Bold"/>
              <a:sym typeface="Open Sauce Bold"/>
            </a:endParaRPr>
          </a:p>
        </p:txBody>
      </p:sp>
      <p:grpSp>
        <p:nvGrpSpPr>
          <p:cNvPr id="34" name="Group 34"/>
          <p:cNvGrpSpPr/>
          <p:nvPr/>
        </p:nvGrpSpPr>
        <p:grpSpPr>
          <a:xfrm>
            <a:off x="14981597" y="2369944"/>
            <a:ext cx="1330597" cy="1330597"/>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CEEB"/>
            </a:solidFill>
          </p:spPr>
        </p:sp>
        <p:sp>
          <p:nvSpPr>
            <p:cNvPr id="36" name="TextBox 36"/>
            <p:cNvSpPr txBox="1"/>
            <p:nvPr/>
          </p:nvSpPr>
          <p:spPr>
            <a:xfrm>
              <a:off x="76200" y="123825"/>
              <a:ext cx="660400" cy="612775"/>
            </a:xfrm>
            <a:prstGeom prst="rect">
              <a:avLst/>
            </a:prstGeom>
          </p:spPr>
          <p:txBody>
            <a:bodyPr lIns="50800" tIns="50800" rIns="50800" bIns="50800" rtlCol="0" anchor="ctr"/>
            <a:lstStyle/>
            <a:p>
              <a:pPr algn="ctr">
                <a:lnSpc>
                  <a:spcPts val="2266"/>
                </a:lnSpc>
              </a:pPr>
              <a:endParaRPr/>
            </a:p>
          </p:txBody>
        </p:sp>
      </p:grpSp>
      <p:grpSp>
        <p:nvGrpSpPr>
          <p:cNvPr id="37" name="Group 37"/>
          <p:cNvGrpSpPr/>
          <p:nvPr/>
        </p:nvGrpSpPr>
        <p:grpSpPr>
          <a:xfrm>
            <a:off x="10491846" y="2359644"/>
            <a:ext cx="1330597" cy="1330597"/>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9186"/>
            </a:solidFill>
          </p:spPr>
        </p:sp>
        <p:sp>
          <p:nvSpPr>
            <p:cNvPr id="39" name="TextBox 39"/>
            <p:cNvSpPr txBox="1"/>
            <p:nvPr/>
          </p:nvSpPr>
          <p:spPr>
            <a:xfrm>
              <a:off x="76200" y="123825"/>
              <a:ext cx="660400" cy="612775"/>
            </a:xfrm>
            <a:prstGeom prst="rect">
              <a:avLst/>
            </a:prstGeom>
          </p:spPr>
          <p:txBody>
            <a:bodyPr lIns="50800" tIns="50800" rIns="50800" bIns="50800" rtlCol="0" anchor="ctr"/>
            <a:lstStyle/>
            <a:p>
              <a:pPr algn="ctr">
                <a:lnSpc>
                  <a:spcPts val="2266"/>
                </a:lnSpc>
              </a:pPr>
              <a:endParaRPr/>
            </a:p>
          </p:txBody>
        </p:sp>
      </p:grpSp>
      <p:sp>
        <p:nvSpPr>
          <p:cNvPr id="40" name="TextBox 40"/>
          <p:cNvSpPr txBox="1"/>
          <p:nvPr/>
        </p:nvSpPr>
        <p:spPr>
          <a:xfrm>
            <a:off x="10586152" y="2733617"/>
            <a:ext cx="1141985" cy="679450"/>
          </a:xfrm>
          <a:prstGeom prst="rect">
            <a:avLst/>
          </a:prstGeom>
        </p:spPr>
        <p:txBody>
          <a:bodyPr lIns="0" tIns="0" rIns="0" bIns="0" rtlCol="0" anchor="t">
            <a:spAutoFit/>
          </a:bodyPr>
          <a:lstStyle/>
          <a:p>
            <a:pPr algn="ctr">
              <a:lnSpc>
                <a:spcPts val="5150"/>
              </a:lnSpc>
            </a:pPr>
            <a:r>
              <a:rPr lang="en-US" sz="5000">
                <a:solidFill>
                  <a:srgbClr val="FFFFFF"/>
                </a:solidFill>
                <a:latin typeface="Open Sauce"/>
                <a:ea typeface="Open Sauce"/>
                <a:cs typeface="Open Sauce"/>
                <a:sym typeface="Open Sauce"/>
              </a:rPr>
              <a:t>03</a:t>
            </a:r>
          </a:p>
        </p:txBody>
      </p:sp>
      <p:grpSp>
        <p:nvGrpSpPr>
          <p:cNvPr id="41" name="Group 41"/>
          <p:cNvGrpSpPr/>
          <p:nvPr/>
        </p:nvGrpSpPr>
        <p:grpSpPr>
          <a:xfrm>
            <a:off x="5846973" y="2369944"/>
            <a:ext cx="1330597" cy="1330597"/>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CEEB"/>
            </a:solidFill>
          </p:spPr>
        </p:sp>
        <p:sp>
          <p:nvSpPr>
            <p:cNvPr id="43" name="TextBox 43"/>
            <p:cNvSpPr txBox="1"/>
            <p:nvPr/>
          </p:nvSpPr>
          <p:spPr>
            <a:xfrm>
              <a:off x="76200" y="123825"/>
              <a:ext cx="660400" cy="612775"/>
            </a:xfrm>
            <a:prstGeom prst="rect">
              <a:avLst/>
            </a:prstGeom>
          </p:spPr>
          <p:txBody>
            <a:bodyPr lIns="50800" tIns="50800" rIns="50800" bIns="50800" rtlCol="0" anchor="ctr"/>
            <a:lstStyle/>
            <a:p>
              <a:pPr algn="ctr">
                <a:lnSpc>
                  <a:spcPts val="2266"/>
                </a:lnSpc>
              </a:pPr>
              <a:endParaRPr/>
            </a:p>
          </p:txBody>
        </p:sp>
      </p:grpSp>
      <p:sp>
        <p:nvSpPr>
          <p:cNvPr id="44" name="TextBox 44"/>
          <p:cNvSpPr txBox="1"/>
          <p:nvPr/>
        </p:nvSpPr>
        <p:spPr>
          <a:xfrm>
            <a:off x="5941279" y="2733617"/>
            <a:ext cx="1141985" cy="679450"/>
          </a:xfrm>
          <a:prstGeom prst="rect">
            <a:avLst/>
          </a:prstGeom>
        </p:spPr>
        <p:txBody>
          <a:bodyPr lIns="0" tIns="0" rIns="0" bIns="0" rtlCol="0" anchor="t">
            <a:spAutoFit/>
          </a:bodyPr>
          <a:lstStyle/>
          <a:p>
            <a:pPr algn="ctr">
              <a:lnSpc>
                <a:spcPts val="5150"/>
              </a:lnSpc>
            </a:pPr>
            <a:r>
              <a:rPr lang="en-US" sz="5000">
                <a:solidFill>
                  <a:srgbClr val="FFFFFF"/>
                </a:solidFill>
                <a:latin typeface="Open Sauce"/>
                <a:ea typeface="Open Sauce"/>
                <a:cs typeface="Open Sauce"/>
                <a:sym typeface="Open Sauce"/>
              </a:rPr>
              <a:t>02</a:t>
            </a:r>
          </a:p>
        </p:txBody>
      </p:sp>
      <p:sp>
        <p:nvSpPr>
          <p:cNvPr id="45" name="TextBox 45"/>
          <p:cNvSpPr txBox="1"/>
          <p:nvPr/>
        </p:nvSpPr>
        <p:spPr>
          <a:xfrm>
            <a:off x="1760390" y="2723317"/>
            <a:ext cx="1141985" cy="679450"/>
          </a:xfrm>
          <a:prstGeom prst="rect">
            <a:avLst/>
          </a:prstGeom>
        </p:spPr>
        <p:txBody>
          <a:bodyPr lIns="0" tIns="0" rIns="0" bIns="0" rtlCol="0" anchor="t">
            <a:spAutoFit/>
          </a:bodyPr>
          <a:lstStyle/>
          <a:p>
            <a:pPr algn="ctr">
              <a:lnSpc>
                <a:spcPts val="5150"/>
              </a:lnSpc>
            </a:pPr>
            <a:r>
              <a:rPr lang="en-US" sz="5000">
                <a:solidFill>
                  <a:srgbClr val="FFFFFF"/>
                </a:solidFill>
                <a:latin typeface="Open Sauce"/>
                <a:ea typeface="Open Sauce"/>
                <a:cs typeface="Open Sauce"/>
                <a:sym typeface="Open Sauce"/>
              </a:rPr>
              <a:t>01</a:t>
            </a:r>
          </a:p>
        </p:txBody>
      </p:sp>
      <p:sp>
        <p:nvSpPr>
          <p:cNvPr id="46" name="TextBox 46"/>
          <p:cNvSpPr txBox="1"/>
          <p:nvPr/>
        </p:nvSpPr>
        <p:spPr>
          <a:xfrm>
            <a:off x="15075903" y="2733617"/>
            <a:ext cx="1141985" cy="679450"/>
          </a:xfrm>
          <a:prstGeom prst="rect">
            <a:avLst/>
          </a:prstGeom>
        </p:spPr>
        <p:txBody>
          <a:bodyPr lIns="0" tIns="0" rIns="0" bIns="0" rtlCol="0" anchor="t">
            <a:spAutoFit/>
          </a:bodyPr>
          <a:lstStyle/>
          <a:p>
            <a:pPr algn="ctr">
              <a:lnSpc>
                <a:spcPts val="5150"/>
              </a:lnSpc>
            </a:pPr>
            <a:r>
              <a:rPr lang="en-US" sz="5000">
                <a:solidFill>
                  <a:srgbClr val="FFFFFF"/>
                </a:solidFill>
                <a:latin typeface="Open Sauce"/>
                <a:ea typeface="Open Sauce"/>
                <a:cs typeface="Open Sauce"/>
                <a:sym typeface="Open Sauce"/>
              </a:rPr>
              <a:t>04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7" name="TextBox 7"/>
          <p:cNvSpPr txBox="1"/>
          <p:nvPr/>
        </p:nvSpPr>
        <p:spPr>
          <a:xfrm>
            <a:off x="11466856" y="267603"/>
            <a:ext cx="6083944" cy="761097"/>
          </a:xfrm>
          <a:prstGeom prst="rect">
            <a:avLst/>
          </a:prstGeom>
        </p:spPr>
        <p:txBody>
          <a:bodyPr lIns="0" tIns="0" rIns="0" bIns="0" rtlCol="0" anchor="t">
            <a:spAutoFit/>
          </a:bodyPr>
          <a:lstStyle/>
          <a:p>
            <a:pPr marL="0" lvl="0" indent="0" algn="l">
              <a:lnSpc>
                <a:spcPts val="6005"/>
              </a:lnSpc>
              <a:spcBef>
                <a:spcPct val="0"/>
              </a:spcBef>
            </a:pPr>
            <a:r>
              <a:rPr lang="en-US" sz="5176" b="1" spc="-264">
                <a:solidFill>
                  <a:srgbClr val="0097B2"/>
                </a:solidFill>
                <a:latin typeface="Open Sauce Bold"/>
                <a:ea typeface="Open Sauce Bold"/>
                <a:cs typeface="Open Sauce Bold"/>
                <a:sym typeface="Open Sauce Bold"/>
              </a:rPr>
              <a:t>Feature Selection</a:t>
            </a:r>
          </a:p>
        </p:txBody>
      </p:sp>
      <p:sp>
        <p:nvSpPr>
          <p:cNvPr id="8" name="TextBox 8"/>
          <p:cNvSpPr txBox="1"/>
          <p:nvPr/>
        </p:nvSpPr>
        <p:spPr>
          <a:xfrm>
            <a:off x="11466856" y="1447465"/>
            <a:ext cx="6385338" cy="8959953"/>
          </a:xfrm>
          <a:prstGeom prst="rect">
            <a:avLst/>
          </a:prstGeom>
        </p:spPr>
        <p:txBody>
          <a:bodyPr lIns="0" tIns="0" rIns="0" bIns="0" rtlCol="0" anchor="t">
            <a:spAutoFit/>
          </a:bodyPr>
          <a:lstStyle/>
          <a:p>
            <a:pPr algn="l">
              <a:lnSpc>
                <a:spcPts val="3919"/>
              </a:lnSpc>
              <a:spcBef>
                <a:spcPct val="0"/>
              </a:spcBef>
            </a:pPr>
            <a:r>
              <a:rPr lang="en-US" sz="2799" dirty="0">
                <a:solidFill>
                  <a:srgbClr val="4D5154"/>
                </a:solidFill>
                <a:latin typeface="Open Sauce"/>
                <a:ea typeface="Open Sauce"/>
                <a:cs typeface="Open Sauce"/>
                <a:sym typeface="Open Sauce"/>
              </a:rPr>
              <a:t>The </a:t>
            </a:r>
            <a:r>
              <a:rPr lang="en-US" sz="2799" dirty="0" err="1">
                <a:solidFill>
                  <a:srgbClr val="4D5154"/>
                </a:solidFill>
                <a:latin typeface="Open Sauce"/>
                <a:ea typeface="Open Sauce"/>
                <a:cs typeface="Open Sauce"/>
                <a:sym typeface="Open Sauce"/>
              </a:rPr>
              <a:t>rfecv</a:t>
            </a:r>
            <a:r>
              <a:rPr lang="en-US" sz="2799" dirty="0">
                <a:solidFill>
                  <a:srgbClr val="4D5154"/>
                </a:solidFill>
                <a:latin typeface="Open Sauce"/>
                <a:ea typeface="Open Sauce"/>
                <a:cs typeface="Open Sauce"/>
                <a:sym typeface="Open Sauce"/>
              </a:rPr>
              <a:t> graph shows how well our model performs as we remove features one by one using Random Forest and cross-validated AUC (area under the curve) as the score.</a:t>
            </a:r>
          </a:p>
          <a:p>
            <a:pPr algn="l">
              <a:lnSpc>
                <a:spcPts val="3919"/>
              </a:lnSpc>
              <a:spcBef>
                <a:spcPct val="0"/>
              </a:spcBef>
            </a:pPr>
            <a:endParaRPr lang="en-US" sz="2799" dirty="0">
              <a:solidFill>
                <a:srgbClr val="4D5154"/>
              </a:solidFill>
              <a:latin typeface="Open Sauce"/>
              <a:ea typeface="Open Sauce"/>
              <a:cs typeface="Open Sauce"/>
              <a:sym typeface="Open Sauce"/>
            </a:endParaRPr>
          </a:p>
          <a:p>
            <a:pPr algn="l">
              <a:lnSpc>
                <a:spcPts val="3919"/>
              </a:lnSpc>
              <a:spcBef>
                <a:spcPct val="0"/>
              </a:spcBef>
            </a:pPr>
            <a:endParaRPr lang="en-US" sz="2799" dirty="0">
              <a:solidFill>
                <a:srgbClr val="4D5154"/>
              </a:solidFill>
              <a:latin typeface="Open Sauce"/>
              <a:ea typeface="Open Sauce"/>
              <a:cs typeface="Open Sauce"/>
              <a:sym typeface="Open Sauce"/>
            </a:endParaRPr>
          </a:p>
          <a:p>
            <a:pPr algn="ctr">
              <a:lnSpc>
                <a:spcPts val="3919"/>
              </a:lnSpc>
              <a:spcBef>
                <a:spcPct val="0"/>
              </a:spcBef>
            </a:pPr>
            <a:r>
              <a:rPr lang="en-US" sz="2799" b="1" dirty="0">
                <a:solidFill>
                  <a:srgbClr val="0097B2"/>
                </a:solidFill>
                <a:latin typeface="Open Sauce"/>
                <a:ea typeface="Open Sauce Bold"/>
                <a:cs typeface="Open Sauce Bold"/>
                <a:sym typeface="Open Sauce"/>
              </a:rPr>
              <a:t> The model gave 17 </a:t>
            </a:r>
            <a:r>
              <a:rPr lang="en-US" sz="2799" b="1" dirty="0">
                <a:solidFill>
                  <a:srgbClr val="0097B2"/>
                </a:solidFill>
                <a:latin typeface="Open Sauce Bold"/>
                <a:ea typeface="Open Sauce Bold"/>
                <a:cs typeface="Open Sauce Bold"/>
                <a:sym typeface="Open Sauce Bold"/>
              </a:rPr>
              <a:t>Optimal Features </a:t>
            </a:r>
          </a:p>
          <a:p>
            <a:pPr algn="l">
              <a:lnSpc>
                <a:spcPts val="3919"/>
              </a:lnSpc>
              <a:spcBef>
                <a:spcPct val="0"/>
              </a:spcBef>
            </a:pPr>
            <a:r>
              <a:rPr lang="en-US" sz="2799" dirty="0">
                <a:solidFill>
                  <a:srgbClr val="4D5154"/>
                </a:solidFill>
                <a:latin typeface="Open Sauce"/>
                <a:ea typeface="Open Sauce"/>
                <a:cs typeface="Open Sauce"/>
                <a:sym typeface="Open Sauce"/>
              </a:rPr>
              <a:t>- The model’s performance peaks at 17 features  adding more doesn’t help, removing more hurts.</a:t>
            </a:r>
          </a:p>
          <a:p>
            <a:pPr algn="l">
              <a:lnSpc>
                <a:spcPts val="3919"/>
              </a:lnSpc>
              <a:spcBef>
                <a:spcPct val="0"/>
              </a:spcBef>
            </a:pPr>
            <a:r>
              <a:rPr lang="en-US" sz="2799" dirty="0">
                <a:solidFill>
                  <a:srgbClr val="4D5154"/>
                </a:solidFill>
                <a:latin typeface="Open Sauce"/>
                <a:ea typeface="Open Sauce"/>
                <a:cs typeface="Open Sauce"/>
                <a:sym typeface="Open Sauce"/>
              </a:rPr>
              <a:t>- Even with just 2–3 features, the model is already decent (about 0.96 AUC), but it gets better and stabilizes at 17.</a:t>
            </a:r>
          </a:p>
          <a:p>
            <a:pPr algn="l">
              <a:lnSpc>
                <a:spcPts val="3919"/>
              </a:lnSpc>
              <a:spcBef>
                <a:spcPct val="0"/>
              </a:spcBef>
            </a:pPr>
            <a:endParaRPr lang="en-US" sz="2799" dirty="0">
              <a:solidFill>
                <a:srgbClr val="4D5154"/>
              </a:solidFill>
              <a:latin typeface="Open Sauce"/>
              <a:ea typeface="Open Sauce"/>
              <a:cs typeface="Open Sauce"/>
              <a:sym typeface="Open Sauce"/>
            </a:endParaRPr>
          </a:p>
          <a:p>
            <a:pPr algn="l">
              <a:lnSpc>
                <a:spcPts val="3919"/>
              </a:lnSpc>
              <a:spcBef>
                <a:spcPct val="0"/>
              </a:spcBef>
            </a:pPr>
            <a:endParaRPr lang="en-US" sz="2799" dirty="0">
              <a:solidFill>
                <a:srgbClr val="4D5154"/>
              </a:solidFill>
              <a:latin typeface="Open Sauce"/>
              <a:ea typeface="Open Sauce"/>
              <a:cs typeface="Open Sauce"/>
              <a:sym typeface="Open Sauce"/>
            </a:endParaRPr>
          </a:p>
        </p:txBody>
      </p:sp>
      <p:pic>
        <p:nvPicPr>
          <p:cNvPr id="10" name="Picture 9">
            <a:extLst>
              <a:ext uri="{FF2B5EF4-FFF2-40B4-BE49-F238E27FC236}">
                <a16:creationId xmlns:a16="http://schemas.microsoft.com/office/drawing/2014/main" id="{07C52395-785D-4D2C-ABCC-B2886BDDA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422"/>
            <a:ext cx="11031050" cy="10286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818212" y="3207656"/>
            <a:ext cx="11919751" cy="2940159"/>
          </a:xfrm>
          <a:prstGeom prst="rect">
            <a:avLst/>
          </a:prstGeom>
        </p:spPr>
        <p:txBody>
          <a:bodyPr lIns="0" tIns="0" rIns="0" bIns="0" rtlCol="0" anchor="t">
            <a:spAutoFit/>
          </a:bodyPr>
          <a:lstStyle/>
          <a:p>
            <a:pPr algn="l">
              <a:lnSpc>
                <a:spcPts val="11295"/>
              </a:lnSpc>
            </a:pPr>
            <a:r>
              <a:rPr lang="en-US" sz="12016" b="1" spc="-252">
                <a:solidFill>
                  <a:srgbClr val="FFFFFF"/>
                </a:solidFill>
                <a:latin typeface="Open Sauce Bold"/>
                <a:ea typeface="Open Sauce Bold"/>
                <a:cs typeface="Open Sauce Bold"/>
                <a:sym typeface="Open Sauce Bold"/>
              </a:rPr>
              <a:t>Model Selection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8356339" y="1147611"/>
            <a:ext cx="4825612" cy="4265301"/>
            <a:chOff x="0" y="0"/>
            <a:chExt cx="4655841" cy="4087190"/>
          </a:xfrm>
        </p:grpSpPr>
        <p:sp>
          <p:nvSpPr>
            <p:cNvPr id="4" name="Freeform 4"/>
            <p:cNvSpPr/>
            <p:nvPr/>
          </p:nvSpPr>
          <p:spPr>
            <a:xfrm>
              <a:off x="0" y="0"/>
              <a:ext cx="4655841" cy="4087190"/>
            </a:xfrm>
            <a:custGeom>
              <a:avLst/>
              <a:gdLst/>
              <a:ahLst/>
              <a:cxnLst/>
              <a:rect l="l" t="t" r="r" b="b"/>
              <a:pathLst>
                <a:path w="4655841" h="4087190">
                  <a:moveTo>
                    <a:pt x="60871" y="0"/>
                  </a:moveTo>
                  <a:lnTo>
                    <a:pt x="4594970" y="0"/>
                  </a:lnTo>
                  <a:cubicBezTo>
                    <a:pt x="4628588" y="0"/>
                    <a:pt x="4655841" y="27253"/>
                    <a:pt x="4655841" y="60871"/>
                  </a:cubicBezTo>
                  <a:lnTo>
                    <a:pt x="4655841" y="4026319"/>
                  </a:lnTo>
                  <a:cubicBezTo>
                    <a:pt x="4655841" y="4042463"/>
                    <a:pt x="4649428" y="4057946"/>
                    <a:pt x="4638012" y="4069361"/>
                  </a:cubicBezTo>
                  <a:cubicBezTo>
                    <a:pt x="4626597" y="4080777"/>
                    <a:pt x="4611114" y="4087190"/>
                    <a:pt x="4594970" y="4087190"/>
                  </a:cubicBezTo>
                  <a:lnTo>
                    <a:pt x="60871" y="4087190"/>
                  </a:lnTo>
                  <a:cubicBezTo>
                    <a:pt x="27253" y="4087190"/>
                    <a:pt x="0" y="4059937"/>
                    <a:pt x="0" y="4026319"/>
                  </a:cubicBezTo>
                  <a:lnTo>
                    <a:pt x="0" y="60871"/>
                  </a:lnTo>
                  <a:cubicBezTo>
                    <a:pt x="0" y="27253"/>
                    <a:pt x="27253" y="0"/>
                    <a:pt x="60871" y="0"/>
                  </a:cubicBezTo>
                  <a:close/>
                </a:path>
              </a:pathLst>
            </a:custGeom>
            <a:solidFill>
              <a:srgbClr val="88CEEB"/>
            </a:solidFill>
          </p:spPr>
        </p:sp>
        <p:sp>
          <p:nvSpPr>
            <p:cNvPr id="5" name="TextBox 5"/>
            <p:cNvSpPr txBox="1"/>
            <p:nvPr/>
          </p:nvSpPr>
          <p:spPr>
            <a:xfrm>
              <a:off x="0" y="-47625"/>
              <a:ext cx="4655841" cy="4134815"/>
            </a:xfrm>
            <a:prstGeom prst="rect">
              <a:avLst/>
            </a:prstGeom>
          </p:spPr>
          <p:txBody>
            <a:bodyPr lIns="50800" tIns="50800" rIns="50800" bIns="50800" rtlCol="0" anchor="ctr"/>
            <a:lstStyle/>
            <a:p>
              <a:pPr algn="ctr">
                <a:lnSpc>
                  <a:spcPts val="3499"/>
                </a:lnSpc>
              </a:pPr>
              <a:endParaRPr/>
            </a:p>
            <a:p>
              <a:pPr algn="ctr">
                <a:lnSpc>
                  <a:spcPts val="3499"/>
                </a:lnSpc>
              </a:pPr>
              <a:endParaRPr/>
            </a:p>
            <a:p>
              <a:pPr algn="ctr">
                <a:lnSpc>
                  <a:spcPts val="3499"/>
                </a:lnSpc>
              </a:pPr>
              <a:endParaRPr/>
            </a:p>
            <a:p>
              <a:pPr algn="ctr">
                <a:lnSpc>
                  <a:spcPts val="3499"/>
                </a:lnSpc>
              </a:pPr>
              <a:r>
                <a:rPr lang="en-US" sz="2499">
                  <a:solidFill>
                    <a:srgbClr val="FFFFFF"/>
                  </a:solidFill>
                  <a:latin typeface="Open Sauce"/>
                  <a:ea typeface="Open Sauce"/>
                  <a:cs typeface="Open Sauce"/>
                  <a:sym typeface="Open Sauce"/>
                </a:rPr>
                <a:t>Precision = 0.90</a:t>
              </a:r>
            </a:p>
            <a:p>
              <a:pPr algn="ctr">
                <a:lnSpc>
                  <a:spcPts val="3499"/>
                </a:lnSpc>
              </a:pPr>
              <a:r>
                <a:rPr lang="en-US" sz="2499">
                  <a:solidFill>
                    <a:srgbClr val="FFFFFF"/>
                  </a:solidFill>
                  <a:latin typeface="Open Sauce"/>
                  <a:ea typeface="Open Sauce"/>
                  <a:cs typeface="Open Sauce"/>
                  <a:sym typeface="Open Sauce"/>
                </a:rPr>
                <a:t> Recall = 0.90,</a:t>
              </a:r>
            </a:p>
            <a:p>
              <a:pPr algn="ctr">
                <a:lnSpc>
                  <a:spcPts val="3499"/>
                </a:lnSpc>
              </a:pPr>
              <a:r>
                <a:rPr lang="en-US" sz="2499">
                  <a:solidFill>
                    <a:srgbClr val="FFFFFF"/>
                  </a:solidFill>
                  <a:latin typeface="Open Sauce"/>
                  <a:ea typeface="Open Sauce"/>
                  <a:cs typeface="Open Sauce"/>
                  <a:sym typeface="Open Sauce"/>
                </a:rPr>
                <a:t>F1-Score = 0.90</a:t>
              </a:r>
            </a:p>
            <a:p>
              <a:pPr algn="ctr">
                <a:lnSpc>
                  <a:spcPts val="3499"/>
                </a:lnSpc>
              </a:pPr>
              <a:endParaRPr lang="en-US" sz="2499">
                <a:solidFill>
                  <a:srgbClr val="FFFFFF"/>
                </a:solidFill>
                <a:latin typeface="Open Sauce"/>
                <a:ea typeface="Open Sauce"/>
                <a:cs typeface="Open Sauce"/>
                <a:sym typeface="Open Sauce"/>
              </a:endParaRPr>
            </a:p>
            <a:p>
              <a:pPr algn="ctr">
                <a:lnSpc>
                  <a:spcPts val="3499"/>
                </a:lnSpc>
              </a:pPr>
              <a:endParaRPr lang="en-US" sz="2499">
                <a:solidFill>
                  <a:srgbClr val="FFFFFF"/>
                </a:solidFill>
                <a:latin typeface="Open Sauce"/>
                <a:ea typeface="Open Sauce"/>
                <a:cs typeface="Open Sauce"/>
                <a:sym typeface="Open Sauce"/>
              </a:endParaRPr>
            </a:p>
            <a:p>
              <a:pPr algn="ctr">
                <a:lnSpc>
                  <a:spcPts val="3499"/>
                </a:lnSpc>
                <a:spcBef>
                  <a:spcPct val="0"/>
                </a:spcBef>
              </a:pPr>
              <a:endParaRPr lang="en-US" sz="2499">
                <a:solidFill>
                  <a:srgbClr val="FFFFFF"/>
                </a:solidFill>
                <a:latin typeface="Open Sauce"/>
                <a:ea typeface="Open Sauce"/>
                <a:cs typeface="Open Sauce"/>
                <a:sym typeface="Open Sauce"/>
              </a:endParaRPr>
            </a:p>
          </p:txBody>
        </p:sp>
      </p:grpSp>
      <p:sp>
        <p:nvSpPr>
          <p:cNvPr id="6" name="TextBox 6"/>
          <p:cNvSpPr txBox="1"/>
          <p:nvPr/>
        </p:nvSpPr>
        <p:spPr>
          <a:xfrm>
            <a:off x="1003637" y="603880"/>
            <a:ext cx="6561057" cy="878216"/>
          </a:xfrm>
          <a:prstGeom prst="rect">
            <a:avLst/>
          </a:prstGeom>
        </p:spPr>
        <p:txBody>
          <a:bodyPr lIns="0" tIns="0" rIns="0" bIns="0" rtlCol="0" anchor="t">
            <a:spAutoFit/>
          </a:bodyPr>
          <a:lstStyle/>
          <a:p>
            <a:pPr marL="0" lvl="0" indent="0" algn="l">
              <a:lnSpc>
                <a:spcPts val="6962"/>
              </a:lnSpc>
              <a:spcBef>
                <a:spcPct val="0"/>
              </a:spcBef>
            </a:pPr>
            <a:r>
              <a:rPr lang="en-US" sz="6002" b="1" spc="-306">
                <a:solidFill>
                  <a:srgbClr val="004AAD"/>
                </a:solidFill>
                <a:latin typeface="Open Sauce Semi-Bold"/>
                <a:ea typeface="Open Sauce Semi-Bold"/>
                <a:cs typeface="Open Sauce Semi-Bold"/>
                <a:sym typeface="Open Sauce Semi-Bold"/>
              </a:rPr>
              <a:t>Models Evaluated</a:t>
            </a:r>
          </a:p>
        </p:txBody>
      </p:sp>
      <p:sp>
        <p:nvSpPr>
          <p:cNvPr id="7" name="TextBox 7"/>
          <p:cNvSpPr txBox="1"/>
          <p:nvPr/>
        </p:nvSpPr>
        <p:spPr>
          <a:xfrm>
            <a:off x="587246" y="1682059"/>
            <a:ext cx="7301438" cy="8087868"/>
          </a:xfrm>
          <a:prstGeom prst="rect">
            <a:avLst/>
          </a:prstGeom>
        </p:spPr>
        <p:txBody>
          <a:bodyPr lIns="0" tIns="0" rIns="0" bIns="0" rtlCol="0" anchor="t">
            <a:spAutoFit/>
          </a:bodyPr>
          <a:lstStyle/>
          <a:p>
            <a:pPr marL="0" lvl="0" indent="0" algn="l">
              <a:lnSpc>
                <a:spcPts val="3276"/>
              </a:lnSpc>
              <a:spcBef>
                <a:spcPct val="0"/>
              </a:spcBef>
            </a:pPr>
            <a:r>
              <a:rPr lang="en-US" sz="2600" b="1" spc="7" dirty="0">
                <a:solidFill>
                  <a:srgbClr val="4D5154"/>
                </a:solidFill>
                <a:latin typeface="Open Sauce Medium"/>
                <a:ea typeface="Open Sauce Medium"/>
                <a:cs typeface="Open Sauce Medium"/>
                <a:sym typeface="Open Sauce Medium"/>
              </a:rPr>
              <a:t>Why thes</a:t>
            </a:r>
            <a:r>
              <a:rPr lang="en-US" sz="2600" b="1" u="none" strike="noStrike" spc="7" dirty="0">
                <a:solidFill>
                  <a:srgbClr val="4D5154"/>
                </a:solidFill>
                <a:latin typeface="Open Sauce Medium"/>
                <a:ea typeface="Open Sauce Medium"/>
                <a:cs typeface="Open Sauce Medium"/>
                <a:sym typeface="Open Sauce Medium"/>
              </a:rPr>
              <a:t>e models were chosen:</a:t>
            </a:r>
          </a:p>
          <a:p>
            <a:pPr marL="0" lvl="0" indent="0" algn="l">
              <a:lnSpc>
                <a:spcPts val="3276"/>
              </a:lnSpc>
              <a:spcBef>
                <a:spcPct val="0"/>
              </a:spcBef>
            </a:pPr>
            <a:endParaRPr lang="en-US" sz="2600" b="1" u="none" strike="noStrike" spc="7" dirty="0">
              <a:solidFill>
                <a:srgbClr val="4D5154"/>
              </a:solidFill>
              <a:latin typeface="Open Sauce Medium"/>
              <a:ea typeface="Open Sauce Medium"/>
              <a:cs typeface="Open Sauce Medium"/>
              <a:sym typeface="Open Sauce Medium"/>
            </a:endParaRP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Strong performance on tabular, structured data</a:t>
            </a: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Ability to capture both linear (Logistic Regression) and nonlinear (RF, GB, </a:t>
            </a:r>
            <a:r>
              <a:rPr lang="en-US" sz="2400" u="none" strike="noStrike" spc="7" dirty="0" err="1">
                <a:solidFill>
                  <a:srgbClr val="4D5154"/>
                </a:solidFill>
                <a:latin typeface="Open Sauce Medium"/>
                <a:ea typeface="Open Sauce Medium"/>
                <a:cs typeface="Open Sauce Medium"/>
                <a:sym typeface="Open Sauce Medium"/>
              </a:rPr>
              <a:t>XGBoost</a:t>
            </a:r>
            <a:r>
              <a:rPr lang="en-US" sz="2400" u="none" strike="noStrike" spc="7" dirty="0">
                <a:solidFill>
                  <a:srgbClr val="4D5154"/>
                </a:solidFill>
                <a:latin typeface="Open Sauce Medium"/>
                <a:ea typeface="Open Sauce Medium"/>
                <a:cs typeface="Open Sauce Medium"/>
                <a:sym typeface="Open Sauce Medium"/>
              </a:rPr>
              <a:t>) relationships</a:t>
            </a: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Built-in feature importance for interpretability</a:t>
            </a: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Complementary strengths </a:t>
            </a:r>
            <a:r>
              <a:rPr lang="en-US" sz="2400" spc="7" dirty="0">
                <a:solidFill>
                  <a:srgbClr val="4D5154"/>
                </a:solidFill>
                <a:latin typeface="Open Sauce Medium"/>
                <a:ea typeface="Open Sauce Medium"/>
                <a:cs typeface="Open Sauce Medium"/>
                <a:sym typeface="Wingdings" panose="05000000000000000000" pitchFamily="2" charset="2"/>
              </a:rPr>
              <a:t></a:t>
            </a:r>
            <a:r>
              <a:rPr lang="en-US" sz="2400" u="none" strike="noStrike" spc="7" dirty="0">
                <a:solidFill>
                  <a:srgbClr val="4D5154"/>
                </a:solidFill>
                <a:latin typeface="Open Sauce Medium"/>
                <a:ea typeface="Open Sauce Medium"/>
                <a:cs typeface="Open Sauce Medium"/>
                <a:sym typeface="Open Sauce Medium"/>
              </a:rPr>
              <a:t> allows selecting the best performer</a:t>
            </a:r>
          </a:p>
          <a:p>
            <a:pPr algn="l">
              <a:lnSpc>
                <a:spcPts val="3276"/>
              </a:lnSpc>
              <a:spcBef>
                <a:spcPct val="0"/>
              </a:spcBef>
            </a:pPr>
            <a:endParaRPr lang="en-US" sz="2400" b="1" u="none" strike="noStrike" spc="7" dirty="0">
              <a:solidFill>
                <a:srgbClr val="4D5154"/>
              </a:solidFill>
              <a:latin typeface="Open Sauce Medium"/>
              <a:ea typeface="Open Sauce Medium"/>
              <a:cs typeface="Open Sauce Medium"/>
              <a:sym typeface="Open Sauce Medium"/>
            </a:endParaRPr>
          </a:p>
          <a:p>
            <a:pPr marL="0" lvl="0" indent="0" algn="l">
              <a:lnSpc>
                <a:spcPts val="3276"/>
              </a:lnSpc>
              <a:spcBef>
                <a:spcPct val="0"/>
              </a:spcBef>
            </a:pPr>
            <a:r>
              <a:rPr lang="en-US" sz="2600" b="1" u="none" strike="noStrike" spc="7" dirty="0">
                <a:solidFill>
                  <a:srgbClr val="4D5154"/>
                </a:solidFill>
                <a:latin typeface="Open Sauce Medium"/>
                <a:ea typeface="Open Sauce Medium"/>
                <a:cs typeface="Open Sauce Medium"/>
                <a:sym typeface="Open Sauce Medium"/>
              </a:rPr>
              <a:t>Evaluation Strategy:</a:t>
            </a:r>
          </a:p>
          <a:p>
            <a:pPr marL="0" lvl="0" indent="0" algn="l">
              <a:lnSpc>
                <a:spcPts val="3276"/>
              </a:lnSpc>
              <a:spcBef>
                <a:spcPct val="0"/>
              </a:spcBef>
            </a:pPr>
            <a:endParaRPr lang="en-US" sz="2600" b="1" u="none" strike="noStrike" spc="7" dirty="0">
              <a:solidFill>
                <a:srgbClr val="4D5154"/>
              </a:solidFill>
              <a:latin typeface="Open Sauce Medium"/>
              <a:ea typeface="Open Sauce Medium"/>
              <a:cs typeface="Open Sauce Medium"/>
              <a:sym typeface="Open Sauce Medium"/>
            </a:endParaRP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Train/test split with stratification</a:t>
            </a: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Metrics: ROC-AUC, Precision, Recall, F1-score, Confusion Matrix</a:t>
            </a:r>
          </a:p>
          <a:p>
            <a:pPr marL="518175" lvl="1" indent="-259087" algn="l">
              <a:lnSpc>
                <a:spcPts val="3024"/>
              </a:lnSpc>
              <a:spcBef>
                <a:spcPct val="0"/>
              </a:spcBef>
              <a:buFont typeface="Arial"/>
              <a:buChar char="•"/>
            </a:pPr>
            <a:r>
              <a:rPr lang="en-US" sz="2400" u="none" strike="noStrike" spc="7" dirty="0">
                <a:solidFill>
                  <a:srgbClr val="4D5154"/>
                </a:solidFill>
                <a:latin typeface="Open Sauce Medium"/>
                <a:ea typeface="Open Sauce Medium"/>
                <a:cs typeface="Open Sauce Medium"/>
                <a:sym typeface="Open Sauce Medium"/>
              </a:rPr>
              <a:t>Classification threshold adjusted to 0.40 to capture more at-risk churners</a:t>
            </a:r>
          </a:p>
          <a:p>
            <a:pPr marL="0" lvl="0" indent="0" algn="l">
              <a:lnSpc>
                <a:spcPts val="5796"/>
              </a:lnSpc>
              <a:spcBef>
                <a:spcPct val="0"/>
              </a:spcBef>
            </a:pPr>
            <a:endParaRPr lang="en-US" sz="2400" b="1" u="none" strike="noStrike" spc="7" dirty="0">
              <a:solidFill>
                <a:srgbClr val="4D5154"/>
              </a:solidFill>
              <a:latin typeface="Open Sauce Medium"/>
              <a:ea typeface="Open Sauce Medium"/>
              <a:cs typeface="Open Sauce Medium"/>
              <a:sym typeface="Open Sauce Medium"/>
            </a:endParaRPr>
          </a:p>
        </p:txBody>
      </p:sp>
      <p:grpSp>
        <p:nvGrpSpPr>
          <p:cNvPr id="8" name="Group 8"/>
          <p:cNvGrpSpPr/>
          <p:nvPr/>
        </p:nvGrpSpPr>
        <p:grpSpPr>
          <a:xfrm>
            <a:off x="13400481" y="5602756"/>
            <a:ext cx="4586861" cy="4434306"/>
            <a:chOff x="0" y="0"/>
            <a:chExt cx="4418704" cy="4271742"/>
          </a:xfrm>
        </p:grpSpPr>
        <p:sp>
          <p:nvSpPr>
            <p:cNvPr id="9" name="Freeform 9"/>
            <p:cNvSpPr/>
            <p:nvPr/>
          </p:nvSpPr>
          <p:spPr>
            <a:xfrm>
              <a:off x="0" y="0"/>
              <a:ext cx="4418704" cy="4271742"/>
            </a:xfrm>
            <a:custGeom>
              <a:avLst/>
              <a:gdLst/>
              <a:ahLst/>
              <a:cxnLst/>
              <a:rect l="l" t="t" r="r" b="b"/>
              <a:pathLst>
                <a:path w="4418704" h="4271742">
                  <a:moveTo>
                    <a:pt x="64138" y="0"/>
                  </a:moveTo>
                  <a:lnTo>
                    <a:pt x="4354565" y="0"/>
                  </a:lnTo>
                  <a:cubicBezTo>
                    <a:pt x="4371576" y="0"/>
                    <a:pt x="4387890" y="6757"/>
                    <a:pt x="4399918" y="18786"/>
                  </a:cubicBezTo>
                  <a:cubicBezTo>
                    <a:pt x="4411946" y="30814"/>
                    <a:pt x="4418704" y="47128"/>
                    <a:pt x="4418704" y="64138"/>
                  </a:cubicBezTo>
                  <a:lnTo>
                    <a:pt x="4418704" y="4207603"/>
                  </a:lnTo>
                  <a:cubicBezTo>
                    <a:pt x="4418704" y="4224614"/>
                    <a:pt x="4411946" y="4240928"/>
                    <a:pt x="4399918" y="4252956"/>
                  </a:cubicBezTo>
                  <a:cubicBezTo>
                    <a:pt x="4387890" y="4264984"/>
                    <a:pt x="4371576" y="4271742"/>
                    <a:pt x="4354565" y="4271742"/>
                  </a:cubicBezTo>
                  <a:lnTo>
                    <a:pt x="64138" y="4271742"/>
                  </a:lnTo>
                  <a:cubicBezTo>
                    <a:pt x="47128" y="4271742"/>
                    <a:pt x="30814" y="4264984"/>
                    <a:pt x="18786" y="4252956"/>
                  </a:cubicBezTo>
                  <a:cubicBezTo>
                    <a:pt x="6757" y="4240928"/>
                    <a:pt x="0" y="4224614"/>
                    <a:pt x="0" y="4207603"/>
                  </a:cubicBezTo>
                  <a:lnTo>
                    <a:pt x="0" y="64138"/>
                  </a:lnTo>
                  <a:cubicBezTo>
                    <a:pt x="0" y="47128"/>
                    <a:pt x="6757" y="30814"/>
                    <a:pt x="18786" y="18786"/>
                  </a:cubicBezTo>
                  <a:cubicBezTo>
                    <a:pt x="30814" y="6757"/>
                    <a:pt x="47128" y="0"/>
                    <a:pt x="64138" y="0"/>
                  </a:cubicBezTo>
                  <a:close/>
                </a:path>
              </a:pathLst>
            </a:custGeom>
            <a:solidFill>
              <a:srgbClr val="88CEEB"/>
            </a:solidFill>
          </p:spPr>
        </p:sp>
        <p:sp>
          <p:nvSpPr>
            <p:cNvPr id="10" name="TextBox 10"/>
            <p:cNvSpPr txBox="1"/>
            <p:nvPr/>
          </p:nvSpPr>
          <p:spPr>
            <a:xfrm>
              <a:off x="0" y="-47625"/>
              <a:ext cx="4418704" cy="4319367"/>
            </a:xfrm>
            <a:prstGeom prst="rect">
              <a:avLst/>
            </a:prstGeom>
          </p:spPr>
          <p:txBody>
            <a:bodyPr lIns="50800" tIns="50800" rIns="50800" bIns="50800" rtlCol="0" anchor="ctr"/>
            <a:lstStyle/>
            <a:p>
              <a:pPr algn="ctr">
                <a:lnSpc>
                  <a:spcPts val="3499"/>
                </a:lnSpc>
              </a:pPr>
              <a:endParaRPr/>
            </a:p>
            <a:p>
              <a:pPr algn="ctr">
                <a:lnSpc>
                  <a:spcPts val="3499"/>
                </a:lnSpc>
              </a:pPr>
              <a:endParaRPr/>
            </a:p>
            <a:p>
              <a:pPr algn="ctr">
                <a:lnSpc>
                  <a:spcPts val="3499"/>
                </a:lnSpc>
              </a:pPr>
              <a:endParaRPr/>
            </a:p>
            <a:p>
              <a:pPr algn="ctr">
                <a:lnSpc>
                  <a:spcPts val="3499"/>
                </a:lnSpc>
              </a:pPr>
              <a:r>
                <a:rPr lang="en-US" sz="2499">
                  <a:solidFill>
                    <a:srgbClr val="FFFFFF"/>
                  </a:solidFill>
                  <a:latin typeface="Open Sauce"/>
                  <a:ea typeface="Open Sauce"/>
                  <a:cs typeface="Open Sauce"/>
                  <a:sym typeface="Open Sauce"/>
                </a:rPr>
                <a:t>Precision = 0.49 </a:t>
              </a:r>
            </a:p>
            <a:p>
              <a:pPr algn="ctr">
                <a:lnSpc>
                  <a:spcPts val="3499"/>
                </a:lnSpc>
              </a:pPr>
              <a:r>
                <a:rPr lang="en-US" sz="2499">
                  <a:solidFill>
                    <a:srgbClr val="FFFFFF"/>
                  </a:solidFill>
                  <a:latin typeface="Open Sauce"/>
                  <a:ea typeface="Open Sauce"/>
                  <a:cs typeface="Open Sauce"/>
                  <a:sym typeface="Open Sauce"/>
                </a:rPr>
                <a:t>Recall = 0.83</a:t>
              </a:r>
            </a:p>
            <a:p>
              <a:pPr algn="ctr">
                <a:lnSpc>
                  <a:spcPts val="3499"/>
                </a:lnSpc>
              </a:pPr>
              <a:r>
                <a:rPr lang="en-US" sz="2499">
                  <a:solidFill>
                    <a:srgbClr val="FFFFFF"/>
                  </a:solidFill>
                  <a:latin typeface="Open Sauce"/>
                  <a:ea typeface="Open Sauce"/>
                  <a:cs typeface="Open Sauce"/>
                  <a:sym typeface="Open Sauce"/>
                </a:rPr>
                <a:t>F1-Score = 0.62</a:t>
              </a:r>
            </a:p>
            <a:p>
              <a:pPr algn="ctr">
                <a:lnSpc>
                  <a:spcPts val="3499"/>
                </a:lnSpc>
              </a:pPr>
              <a:endParaRPr lang="en-US" sz="2499">
                <a:solidFill>
                  <a:srgbClr val="FFFFFF"/>
                </a:solidFill>
                <a:latin typeface="Open Sauce"/>
                <a:ea typeface="Open Sauce"/>
                <a:cs typeface="Open Sauce"/>
                <a:sym typeface="Open Sauce"/>
              </a:endParaRPr>
            </a:p>
            <a:p>
              <a:pPr algn="ctr">
                <a:lnSpc>
                  <a:spcPts val="3499"/>
                </a:lnSpc>
                <a:spcBef>
                  <a:spcPct val="0"/>
                </a:spcBef>
              </a:pPr>
              <a:endParaRPr lang="en-US" sz="2499">
                <a:solidFill>
                  <a:srgbClr val="FFFFFF"/>
                </a:solidFill>
                <a:latin typeface="Open Sauce"/>
                <a:ea typeface="Open Sauce"/>
                <a:cs typeface="Open Sauce"/>
                <a:sym typeface="Open Sauce"/>
              </a:endParaRPr>
            </a:p>
          </p:txBody>
        </p:sp>
      </p:grpSp>
      <p:sp>
        <p:nvSpPr>
          <p:cNvPr id="11" name="TextBox 11"/>
          <p:cNvSpPr txBox="1"/>
          <p:nvPr/>
        </p:nvSpPr>
        <p:spPr>
          <a:xfrm>
            <a:off x="13629686" y="5709727"/>
            <a:ext cx="4139126" cy="1398149"/>
          </a:xfrm>
          <a:prstGeom prst="rect">
            <a:avLst/>
          </a:prstGeom>
        </p:spPr>
        <p:txBody>
          <a:bodyPr lIns="0" tIns="0" rIns="0" bIns="0" rtlCol="0" anchor="t">
            <a:spAutoFit/>
          </a:bodyPr>
          <a:lstStyle/>
          <a:p>
            <a:pPr marL="0" lvl="0" indent="0" algn="ctr">
              <a:lnSpc>
                <a:spcPts val="3786"/>
              </a:lnSpc>
            </a:pPr>
            <a:r>
              <a:rPr lang="en-US" sz="2704" b="1">
                <a:solidFill>
                  <a:srgbClr val="FFFFFF"/>
                </a:solidFill>
                <a:latin typeface="Open Sauce Bold"/>
                <a:ea typeface="Open Sauce Bold"/>
                <a:cs typeface="Open Sauce Bold"/>
                <a:sym typeface="Open Sauce Bold"/>
              </a:rPr>
              <a:t>Logistic regression Model (Before hyperparameter tuning)</a:t>
            </a:r>
          </a:p>
        </p:txBody>
      </p:sp>
      <p:grpSp>
        <p:nvGrpSpPr>
          <p:cNvPr id="12" name="Group 12"/>
          <p:cNvGrpSpPr/>
          <p:nvPr/>
        </p:nvGrpSpPr>
        <p:grpSpPr>
          <a:xfrm>
            <a:off x="13400481" y="1147703"/>
            <a:ext cx="4586861" cy="4215864"/>
            <a:chOff x="0" y="0"/>
            <a:chExt cx="4418704" cy="4061308"/>
          </a:xfrm>
        </p:grpSpPr>
        <p:sp>
          <p:nvSpPr>
            <p:cNvPr id="13" name="Freeform 13"/>
            <p:cNvSpPr/>
            <p:nvPr/>
          </p:nvSpPr>
          <p:spPr>
            <a:xfrm>
              <a:off x="0" y="0"/>
              <a:ext cx="4418704" cy="4061308"/>
            </a:xfrm>
            <a:custGeom>
              <a:avLst/>
              <a:gdLst/>
              <a:ahLst/>
              <a:cxnLst/>
              <a:rect l="l" t="t" r="r" b="b"/>
              <a:pathLst>
                <a:path w="4418704" h="4061308">
                  <a:moveTo>
                    <a:pt x="64138" y="0"/>
                  </a:moveTo>
                  <a:lnTo>
                    <a:pt x="4354565" y="0"/>
                  </a:lnTo>
                  <a:cubicBezTo>
                    <a:pt x="4371576" y="0"/>
                    <a:pt x="4387890" y="6757"/>
                    <a:pt x="4399918" y="18786"/>
                  </a:cubicBezTo>
                  <a:cubicBezTo>
                    <a:pt x="4411946" y="30814"/>
                    <a:pt x="4418704" y="47128"/>
                    <a:pt x="4418704" y="64138"/>
                  </a:cubicBezTo>
                  <a:lnTo>
                    <a:pt x="4418704" y="3997170"/>
                  </a:lnTo>
                  <a:cubicBezTo>
                    <a:pt x="4418704" y="4014181"/>
                    <a:pt x="4411946" y="4030494"/>
                    <a:pt x="4399918" y="4042523"/>
                  </a:cubicBezTo>
                  <a:cubicBezTo>
                    <a:pt x="4387890" y="4054551"/>
                    <a:pt x="4371576" y="4061308"/>
                    <a:pt x="4354565" y="4061308"/>
                  </a:cubicBezTo>
                  <a:lnTo>
                    <a:pt x="64138" y="4061308"/>
                  </a:lnTo>
                  <a:cubicBezTo>
                    <a:pt x="47128" y="4061308"/>
                    <a:pt x="30814" y="4054551"/>
                    <a:pt x="18786" y="4042523"/>
                  </a:cubicBezTo>
                  <a:cubicBezTo>
                    <a:pt x="6757" y="4030494"/>
                    <a:pt x="0" y="4014181"/>
                    <a:pt x="0" y="3997170"/>
                  </a:cubicBezTo>
                  <a:lnTo>
                    <a:pt x="0" y="64138"/>
                  </a:lnTo>
                  <a:cubicBezTo>
                    <a:pt x="0" y="47128"/>
                    <a:pt x="6757" y="30814"/>
                    <a:pt x="18786" y="18786"/>
                  </a:cubicBezTo>
                  <a:cubicBezTo>
                    <a:pt x="30814" y="6757"/>
                    <a:pt x="47128" y="0"/>
                    <a:pt x="64138" y="0"/>
                  </a:cubicBezTo>
                  <a:close/>
                </a:path>
              </a:pathLst>
            </a:custGeom>
            <a:solidFill>
              <a:srgbClr val="88CEEB"/>
            </a:solidFill>
          </p:spPr>
        </p:sp>
        <p:sp>
          <p:nvSpPr>
            <p:cNvPr id="14" name="TextBox 14"/>
            <p:cNvSpPr txBox="1"/>
            <p:nvPr/>
          </p:nvSpPr>
          <p:spPr>
            <a:xfrm>
              <a:off x="0" y="-47625"/>
              <a:ext cx="4418704" cy="4108933"/>
            </a:xfrm>
            <a:prstGeom prst="rect">
              <a:avLst/>
            </a:prstGeom>
          </p:spPr>
          <p:txBody>
            <a:bodyPr lIns="50800" tIns="50800" rIns="50800" bIns="50800" rtlCol="0" anchor="ctr"/>
            <a:lstStyle/>
            <a:p>
              <a:pPr algn="ctr">
                <a:lnSpc>
                  <a:spcPts val="3499"/>
                </a:lnSpc>
              </a:pPr>
              <a:endParaRPr/>
            </a:p>
            <a:p>
              <a:pPr algn="ctr">
                <a:lnSpc>
                  <a:spcPts val="3499"/>
                </a:lnSpc>
              </a:pPr>
              <a:r>
                <a:rPr lang="en-US" sz="2499">
                  <a:solidFill>
                    <a:srgbClr val="FFFFFF"/>
                  </a:solidFill>
                  <a:latin typeface="Open Sauce"/>
                  <a:ea typeface="Open Sauce"/>
                  <a:cs typeface="Open Sauce"/>
                  <a:sym typeface="Open Sauce"/>
                </a:rPr>
                <a:t>Precision = 0.81</a:t>
              </a:r>
            </a:p>
            <a:p>
              <a:pPr algn="ctr">
                <a:lnSpc>
                  <a:spcPts val="3499"/>
                </a:lnSpc>
              </a:pPr>
              <a:r>
                <a:rPr lang="en-US" sz="2499">
                  <a:solidFill>
                    <a:srgbClr val="FFFFFF"/>
                  </a:solidFill>
                  <a:latin typeface="Open Sauce"/>
                  <a:ea typeface="Open Sauce"/>
                  <a:cs typeface="Open Sauce"/>
                  <a:sym typeface="Open Sauce"/>
                </a:rPr>
                <a:t> Recall = 0.91</a:t>
              </a:r>
            </a:p>
            <a:p>
              <a:pPr algn="ctr">
                <a:lnSpc>
                  <a:spcPts val="3499"/>
                </a:lnSpc>
                <a:spcBef>
                  <a:spcPct val="0"/>
                </a:spcBef>
              </a:pPr>
              <a:r>
                <a:rPr lang="en-US" sz="2499">
                  <a:solidFill>
                    <a:srgbClr val="FFFFFF"/>
                  </a:solidFill>
                  <a:latin typeface="Open Sauce"/>
                  <a:ea typeface="Open Sauce"/>
                  <a:cs typeface="Open Sauce"/>
                  <a:sym typeface="Open Sauce"/>
                </a:rPr>
                <a:t>F1-Score = 0.86</a:t>
              </a:r>
            </a:p>
          </p:txBody>
        </p:sp>
      </p:grpSp>
      <p:grpSp>
        <p:nvGrpSpPr>
          <p:cNvPr id="15" name="Group 15"/>
          <p:cNvGrpSpPr/>
          <p:nvPr/>
        </p:nvGrpSpPr>
        <p:grpSpPr>
          <a:xfrm>
            <a:off x="8284506" y="5602756"/>
            <a:ext cx="4897445" cy="4434306"/>
            <a:chOff x="0" y="0"/>
            <a:chExt cx="4747239" cy="4491903"/>
          </a:xfrm>
        </p:grpSpPr>
        <p:sp>
          <p:nvSpPr>
            <p:cNvPr id="16" name="Freeform 16"/>
            <p:cNvSpPr/>
            <p:nvPr/>
          </p:nvSpPr>
          <p:spPr>
            <a:xfrm>
              <a:off x="0" y="0"/>
              <a:ext cx="4747239" cy="4491903"/>
            </a:xfrm>
            <a:custGeom>
              <a:avLst/>
              <a:gdLst/>
              <a:ahLst/>
              <a:cxnLst/>
              <a:rect l="l" t="t" r="r" b="b"/>
              <a:pathLst>
                <a:path w="4747239" h="4491903">
                  <a:moveTo>
                    <a:pt x="59699" y="0"/>
                  </a:moveTo>
                  <a:lnTo>
                    <a:pt x="4687539" y="0"/>
                  </a:lnTo>
                  <a:cubicBezTo>
                    <a:pt x="4703372" y="0"/>
                    <a:pt x="4718557" y="6290"/>
                    <a:pt x="4729753" y="17486"/>
                  </a:cubicBezTo>
                  <a:cubicBezTo>
                    <a:pt x="4740949" y="28681"/>
                    <a:pt x="4747239" y="43866"/>
                    <a:pt x="4747239" y="59699"/>
                  </a:cubicBezTo>
                  <a:lnTo>
                    <a:pt x="4747239" y="4432203"/>
                  </a:lnTo>
                  <a:cubicBezTo>
                    <a:pt x="4747239" y="4465175"/>
                    <a:pt x="4720510" y="4491903"/>
                    <a:pt x="4687539" y="4491903"/>
                  </a:cubicBezTo>
                  <a:lnTo>
                    <a:pt x="59699" y="4491903"/>
                  </a:lnTo>
                  <a:cubicBezTo>
                    <a:pt x="43866" y="4491903"/>
                    <a:pt x="28681" y="4485613"/>
                    <a:pt x="17486" y="4474417"/>
                  </a:cubicBezTo>
                  <a:cubicBezTo>
                    <a:pt x="6290" y="4463222"/>
                    <a:pt x="0" y="4448037"/>
                    <a:pt x="0" y="4432203"/>
                  </a:cubicBezTo>
                  <a:lnTo>
                    <a:pt x="0" y="59699"/>
                  </a:lnTo>
                  <a:cubicBezTo>
                    <a:pt x="0" y="26728"/>
                    <a:pt x="26728" y="0"/>
                    <a:pt x="59699" y="0"/>
                  </a:cubicBezTo>
                  <a:close/>
                </a:path>
              </a:pathLst>
            </a:custGeom>
            <a:solidFill>
              <a:srgbClr val="88CEEB"/>
            </a:solidFill>
          </p:spPr>
        </p:sp>
        <p:sp>
          <p:nvSpPr>
            <p:cNvPr id="17" name="TextBox 17"/>
            <p:cNvSpPr txBox="1"/>
            <p:nvPr/>
          </p:nvSpPr>
          <p:spPr>
            <a:xfrm>
              <a:off x="0" y="-47625"/>
              <a:ext cx="4747239" cy="4539528"/>
            </a:xfrm>
            <a:prstGeom prst="rect">
              <a:avLst/>
            </a:prstGeom>
          </p:spPr>
          <p:txBody>
            <a:bodyPr lIns="50800" tIns="50800" rIns="50800" bIns="50800" rtlCol="0" anchor="ctr"/>
            <a:lstStyle/>
            <a:p>
              <a:pPr algn="ctr">
                <a:lnSpc>
                  <a:spcPts val="3499"/>
                </a:lnSpc>
              </a:pPr>
              <a:r>
                <a:rPr lang="en-US" sz="2499">
                  <a:solidFill>
                    <a:srgbClr val="FFFFFF"/>
                  </a:solidFill>
                  <a:latin typeface="Open Sauce"/>
                  <a:ea typeface="Open Sauce"/>
                  <a:cs typeface="Open Sauce"/>
                  <a:sym typeface="Open Sauce"/>
                </a:rPr>
                <a:t>Precision = 0.91</a:t>
              </a:r>
            </a:p>
            <a:p>
              <a:pPr algn="ctr">
                <a:lnSpc>
                  <a:spcPts val="3499"/>
                </a:lnSpc>
              </a:pPr>
              <a:r>
                <a:rPr lang="en-US" sz="2499">
                  <a:solidFill>
                    <a:srgbClr val="FFFFFF"/>
                  </a:solidFill>
                  <a:latin typeface="Open Sauce"/>
                  <a:ea typeface="Open Sauce"/>
                  <a:cs typeface="Open Sauce"/>
                  <a:sym typeface="Open Sauce"/>
                </a:rPr>
                <a:t>Recall = 0.89</a:t>
              </a:r>
            </a:p>
            <a:p>
              <a:pPr algn="ctr">
                <a:lnSpc>
                  <a:spcPts val="3499"/>
                </a:lnSpc>
                <a:spcBef>
                  <a:spcPct val="0"/>
                </a:spcBef>
              </a:pPr>
              <a:r>
                <a:rPr lang="en-US" sz="2499">
                  <a:solidFill>
                    <a:srgbClr val="FFFFFF"/>
                  </a:solidFill>
                  <a:latin typeface="Open Sauce"/>
                  <a:ea typeface="Open Sauce"/>
                  <a:cs typeface="Open Sauce"/>
                  <a:sym typeface="Open Sauce"/>
                </a:rPr>
                <a:t> F1-Score = 0.90</a:t>
              </a:r>
            </a:p>
          </p:txBody>
        </p:sp>
      </p:grpSp>
      <p:sp>
        <p:nvSpPr>
          <p:cNvPr id="18" name="TextBox 18"/>
          <p:cNvSpPr txBox="1"/>
          <p:nvPr/>
        </p:nvSpPr>
        <p:spPr>
          <a:xfrm>
            <a:off x="13629686" y="1424945"/>
            <a:ext cx="4139126" cy="1047629"/>
          </a:xfrm>
          <a:prstGeom prst="rect">
            <a:avLst/>
          </a:prstGeom>
        </p:spPr>
        <p:txBody>
          <a:bodyPr lIns="0" tIns="0" rIns="0" bIns="0" rtlCol="0" anchor="t">
            <a:spAutoFit/>
          </a:bodyPr>
          <a:lstStyle/>
          <a:p>
            <a:pPr marL="0" lvl="0" indent="0" algn="ctr">
              <a:lnSpc>
                <a:spcPts val="4206"/>
              </a:lnSpc>
            </a:pPr>
            <a:r>
              <a:rPr lang="en-US" sz="3004" b="1">
                <a:solidFill>
                  <a:srgbClr val="FFFFFF"/>
                </a:solidFill>
                <a:latin typeface="Open Sauce Bold"/>
                <a:ea typeface="Open Sauce Bold"/>
                <a:cs typeface="Open Sauce Bold"/>
                <a:sym typeface="Open Sauce Bold"/>
              </a:rPr>
              <a:t>Random Forest Model</a:t>
            </a:r>
          </a:p>
        </p:txBody>
      </p:sp>
      <p:sp>
        <p:nvSpPr>
          <p:cNvPr id="19" name="TextBox 19"/>
          <p:cNvSpPr txBox="1"/>
          <p:nvPr/>
        </p:nvSpPr>
        <p:spPr>
          <a:xfrm>
            <a:off x="8598120" y="5888415"/>
            <a:ext cx="4139126" cy="1047629"/>
          </a:xfrm>
          <a:prstGeom prst="rect">
            <a:avLst/>
          </a:prstGeom>
        </p:spPr>
        <p:txBody>
          <a:bodyPr lIns="0" tIns="0" rIns="0" bIns="0" rtlCol="0" anchor="t">
            <a:spAutoFit/>
          </a:bodyPr>
          <a:lstStyle/>
          <a:p>
            <a:pPr marL="0" lvl="0" indent="0" algn="ctr">
              <a:lnSpc>
                <a:spcPts val="4206"/>
              </a:lnSpc>
            </a:pPr>
            <a:r>
              <a:rPr lang="en-US" sz="3004" b="1">
                <a:solidFill>
                  <a:srgbClr val="FFFFFF"/>
                </a:solidFill>
                <a:latin typeface="Open Sauce Bold"/>
                <a:ea typeface="Open Sauce Bold"/>
                <a:cs typeface="Open Sauce Bold"/>
                <a:sym typeface="Open Sauce Bold"/>
              </a:rPr>
              <a:t>Gradient Boosting Model</a:t>
            </a:r>
          </a:p>
        </p:txBody>
      </p:sp>
      <p:sp>
        <p:nvSpPr>
          <p:cNvPr id="20" name="TextBox 20"/>
          <p:cNvSpPr txBox="1"/>
          <p:nvPr/>
        </p:nvSpPr>
        <p:spPr>
          <a:xfrm>
            <a:off x="8631455" y="1424945"/>
            <a:ext cx="4139126" cy="514229"/>
          </a:xfrm>
          <a:prstGeom prst="rect">
            <a:avLst/>
          </a:prstGeom>
        </p:spPr>
        <p:txBody>
          <a:bodyPr lIns="0" tIns="0" rIns="0" bIns="0" rtlCol="0" anchor="t">
            <a:spAutoFit/>
          </a:bodyPr>
          <a:lstStyle/>
          <a:p>
            <a:pPr marL="0" lvl="0" indent="0" algn="ctr">
              <a:lnSpc>
                <a:spcPts val="4206"/>
              </a:lnSpc>
            </a:pPr>
            <a:r>
              <a:rPr lang="en-US" sz="3004" b="1">
                <a:solidFill>
                  <a:srgbClr val="FFFFFF"/>
                </a:solidFill>
                <a:latin typeface="Open Sauce Bold"/>
                <a:ea typeface="Open Sauce Bold"/>
                <a:cs typeface="Open Sauce Bold"/>
                <a:sym typeface="Open Sauce Bold"/>
              </a:rPr>
              <a:t>XGBoost Model</a:t>
            </a:r>
          </a:p>
        </p:txBody>
      </p:sp>
      <p:sp>
        <p:nvSpPr>
          <p:cNvPr id="21" name="TextBox 21"/>
          <p:cNvSpPr txBox="1"/>
          <p:nvPr/>
        </p:nvSpPr>
        <p:spPr>
          <a:xfrm>
            <a:off x="9144000" y="289615"/>
            <a:ext cx="8115300" cy="514229"/>
          </a:xfrm>
          <a:prstGeom prst="rect">
            <a:avLst/>
          </a:prstGeom>
        </p:spPr>
        <p:txBody>
          <a:bodyPr lIns="0" tIns="0" rIns="0" bIns="0" rtlCol="0" anchor="t">
            <a:spAutoFit/>
          </a:bodyPr>
          <a:lstStyle/>
          <a:p>
            <a:pPr marL="0" lvl="0" indent="0" algn="ctr">
              <a:lnSpc>
                <a:spcPts val="4206"/>
              </a:lnSpc>
            </a:pPr>
            <a:r>
              <a:rPr lang="en-US" sz="3004" b="1">
                <a:solidFill>
                  <a:srgbClr val="4D5154"/>
                </a:solidFill>
                <a:latin typeface="Open Sauce Bold"/>
                <a:ea typeface="Open Sauce Bold"/>
                <a:cs typeface="Open Sauce Bold"/>
                <a:sym typeface="Open Sauce Bold"/>
              </a:rPr>
              <a:t>Report after Hyper Parameter tuning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5" name="TextBox 5"/>
          <p:cNvSpPr txBox="1"/>
          <p:nvPr/>
        </p:nvSpPr>
        <p:spPr>
          <a:xfrm>
            <a:off x="-68889" y="-29662"/>
            <a:ext cx="11234350" cy="10469062"/>
          </a:xfrm>
          <a:prstGeom prst="rect">
            <a:avLst/>
          </a:prstGeom>
        </p:spPr>
        <p:txBody>
          <a:bodyPr lIns="50800" tIns="50800" rIns="50800" bIns="50800" rtlCol="0" anchor="ctr"/>
          <a:lstStyle/>
          <a:p>
            <a:pPr algn="ctr">
              <a:lnSpc>
                <a:spcPts val="1960"/>
              </a:lnSpc>
              <a:spcBef>
                <a:spcPct val="0"/>
              </a:spcBef>
            </a:pPr>
            <a:endParaRPr/>
          </a:p>
        </p:txBody>
      </p:sp>
      <p:sp>
        <p:nvSpPr>
          <p:cNvPr id="6" name="Freeform 6"/>
          <p:cNvSpPr/>
          <p:nvPr/>
        </p:nvSpPr>
        <p:spPr>
          <a:xfrm>
            <a:off x="-68888" y="0"/>
            <a:ext cx="11006838" cy="10287000"/>
          </a:xfrm>
          <a:custGeom>
            <a:avLst/>
            <a:gdLst/>
            <a:ahLst/>
            <a:cxnLst/>
            <a:rect l="l" t="t" r="r" b="b"/>
            <a:pathLst>
              <a:path w="10856741" h="8010549">
                <a:moveTo>
                  <a:pt x="0" y="0"/>
                </a:moveTo>
                <a:lnTo>
                  <a:pt x="10856741" y="0"/>
                </a:lnTo>
                <a:lnTo>
                  <a:pt x="10856741" y="8010549"/>
                </a:lnTo>
                <a:lnTo>
                  <a:pt x="0" y="8010549"/>
                </a:lnTo>
                <a:lnTo>
                  <a:pt x="0" y="0"/>
                </a:lnTo>
                <a:close/>
              </a:path>
            </a:pathLst>
          </a:custGeom>
          <a:blipFill>
            <a:blip r:embed="rId3"/>
            <a:stretch>
              <a:fillRect/>
            </a:stretch>
          </a:blipFill>
        </p:spPr>
      </p:sp>
      <p:sp>
        <p:nvSpPr>
          <p:cNvPr id="7" name="TextBox 7"/>
          <p:cNvSpPr txBox="1"/>
          <p:nvPr/>
        </p:nvSpPr>
        <p:spPr>
          <a:xfrm>
            <a:off x="11466856" y="267603"/>
            <a:ext cx="6083944" cy="1514946"/>
          </a:xfrm>
          <a:prstGeom prst="rect">
            <a:avLst/>
          </a:prstGeom>
        </p:spPr>
        <p:txBody>
          <a:bodyPr lIns="0" tIns="0" rIns="0" bIns="0" rtlCol="0" anchor="t">
            <a:spAutoFit/>
          </a:bodyPr>
          <a:lstStyle/>
          <a:p>
            <a:pPr marL="0" lvl="0" indent="0" algn="l">
              <a:lnSpc>
                <a:spcPts val="6005"/>
              </a:lnSpc>
              <a:spcBef>
                <a:spcPct val="0"/>
              </a:spcBef>
            </a:pPr>
            <a:r>
              <a:rPr lang="en-US" sz="5176" b="1" spc="-264">
                <a:solidFill>
                  <a:srgbClr val="0097B2"/>
                </a:solidFill>
                <a:latin typeface="Open Sauce Bold"/>
                <a:ea typeface="Open Sauce Bold"/>
                <a:cs typeface="Open Sauce Bold"/>
                <a:sym typeface="Open Sauce Bold"/>
              </a:rPr>
              <a:t>Evaluating Model Performance</a:t>
            </a:r>
          </a:p>
        </p:txBody>
      </p:sp>
      <p:sp>
        <p:nvSpPr>
          <p:cNvPr id="8" name="TextBox 8"/>
          <p:cNvSpPr txBox="1"/>
          <p:nvPr/>
        </p:nvSpPr>
        <p:spPr>
          <a:xfrm>
            <a:off x="11739981" y="2672715"/>
            <a:ext cx="6019112" cy="7013395"/>
          </a:xfrm>
          <a:prstGeom prst="rect">
            <a:avLst/>
          </a:prstGeom>
        </p:spPr>
        <p:txBody>
          <a:bodyPr lIns="0" tIns="0" rIns="0" bIns="0" rtlCol="0" anchor="t">
            <a:spAutoFit/>
          </a:bodyPr>
          <a:lstStyle/>
          <a:p>
            <a:pPr algn="ctr">
              <a:lnSpc>
                <a:spcPts val="4199"/>
              </a:lnSpc>
            </a:pPr>
            <a:r>
              <a:rPr lang="en-US" sz="2999" b="1" dirty="0">
                <a:solidFill>
                  <a:srgbClr val="0097B2"/>
                </a:solidFill>
                <a:latin typeface="Open Sauce Bold"/>
                <a:ea typeface="Open Sauce Bold"/>
                <a:cs typeface="Open Sauce Bold"/>
                <a:sym typeface="Open Sauce Bold"/>
              </a:rPr>
              <a:t>Looking at the ROC curves</a:t>
            </a:r>
          </a:p>
          <a:p>
            <a:pPr algn="ctr">
              <a:lnSpc>
                <a:spcPts val="4199"/>
              </a:lnSpc>
            </a:pPr>
            <a:endParaRPr lang="en-US" sz="2999" b="1" dirty="0">
              <a:solidFill>
                <a:srgbClr val="0097B2"/>
              </a:solidFill>
              <a:latin typeface="Open Sauce Bold"/>
              <a:ea typeface="Open Sauce Bold"/>
              <a:cs typeface="Open Sauce Bold"/>
              <a:sym typeface="Open Sauce Bold"/>
            </a:endParaRPr>
          </a:p>
          <a:p>
            <a:pPr algn="ctr">
              <a:lnSpc>
                <a:spcPts val="4199"/>
              </a:lnSpc>
              <a:spcBef>
                <a:spcPct val="0"/>
              </a:spcBef>
            </a:pPr>
            <a:r>
              <a:rPr lang="en-US" sz="2999" dirty="0">
                <a:solidFill>
                  <a:srgbClr val="4D5154"/>
                </a:solidFill>
                <a:latin typeface="Open Sauce"/>
                <a:ea typeface="Open Sauce"/>
                <a:cs typeface="Open Sauce"/>
                <a:sym typeface="Open Sauce"/>
              </a:rPr>
              <a:t>All four models are working really well. None of them are overfitting  they all do just as well on new data as they did on the training data. </a:t>
            </a:r>
          </a:p>
          <a:p>
            <a:pPr algn="ctr">
              <a:lnSpc>
                <a:spcPts val="4199"/>
              </a:lnSpc>
              <a:spcBef>
                <a:spcPct val="0"/>
              </a:spcBef>
            </a:pPr>
            <a:r>
              <a:rPr lang="en-US" sz="2999" dirty="0">
                <a:solidFill>
                  <a:srgbClr val="4D5154"/>
                </a:solidFill>
                <a:latin typeface="Open Sauce"/>
                <a:ea typeface="Open Sauce"/>
                <a:cs typeface="Open Sauce"/>
                <a:sym typeface="Open Sauce"/>
              </a:rPr>
              <a:t>That’s a big win! </a:t>
            </a:r>
          </a:p>
          <a:p>
            <a:pPr algn="ctr">
              <a:lnSpc>
                <a:spcPts val="4199"/>
              </a:lnSpc>
              <a:spcBef>
                <a:spcPct val="0"/>
              </a:spcBef>
            </a:pPr>
            <a:r>
              <a:rPr lang="en-US" sz="2999" dirty="0" err="1">
                <a:solidFill>
                  <a:srgbClr val="4D5154"/>
                </a:solidFill>
                <a:latin typeface="Open Sauce"/>
                <a:ea typeface="Open Sauce"/>
                <a:cs typeface="Open Sauce"/>
                <a:sym typeface="Open Sauce"/>
              </a:rPr>
              <a:t>XGBoost</a:t>
            </a:r>
            <a:r>
              <a:rPr lang="en-US" sz="2999" dirty="0">
                <a:solidFill>
                  <a:srgbClr val="4D5154"/>
                </a:solidFill>
                <a:latin typeface="Open Sauce"/>
                <a:ea typeface="Open Sauce"/>
                <a:cs typeface="Open Sauce"/>
                <a:sym typeface="Open Sauce"/>
              </a:rPr>
              <a:t> and Gradient Boosting are the top performers, but even the simpler Logistic Regression is doing great.</a:t>
            </a:r>
          </a:p>
          <a:p>
            <a:pPr algn="ctr">
              <a:lnSpc>
                <a:spcPts val="4759"/>
              </a:lnSpc>
              <a:spcBef>
                <a:spcPct val="0"/>
              </a:spcBef>
            </a:pPr>
            <a:endParaRPr lang="en-US" sz="2999" dirty="0">
              <a:solidFill>
                <a:srgbClr val="4D5154"/>
              </a:solidFill>
              <a:latin typeface="Open Sauce"/>
              <a:ea typeface="Open Sauce"/>
              <a:cs typeface="Open Sauce"/>
              <a:sym typeface="Open Sauc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68889" y="0"/>
            <a:ext cx="11234350" cy="10439400"/>
            <a:chOff x="0" y="0"/>
            <a:chExt cx="10822492" cy="10056685"/>
          </a:xfrm>
        </p:grpSpPr>
        <p:sp>
          <p:nvSpPr>
            <p:cNvPr id="4" name="Freeform 4"/>
            <p:cNvSpPr/>
            <p:nvPr/>
          </p:nvSpPr>
          <p:spPr>
            <a:xfrm>
              <a:off x="0" y="0"/>
              <a:ext cx="10822492" cy="10056685"/>
            </a:xfrm>
            <a:custGeom>
              <a:avLst/>
              <a:gdLst/>
              <a:ahLst/>
              <a:cxnLst/>
              <a:rect l="l" t="t" r="r" b="b"/>
              <a:pathLst>
                <a:path w="10822492" h="10056685">
                  <a:moveTo>
                    <a:pt x="26187" y="0"/>
                  </a:moveTo>
                  <a:lnTo>
                    <a:pt x="10796305" y="0"/>
                  </a:lnTo>
                  <a:cubicBezTo>
                    <a:pt x="10803251" y="0"/>
                    <a:pt x="10809911" y="2759"/>
                    <a:pt x="10814822" y="7670"/>
                  </a:cubicBezTo>
                  <a:cubicBezTo>
                    <a:pt x="10819733" y="12581"/>
                    <a:pt x="10822492" y="19242"/>
                    <a:pt x="10822492" y="26187"/>
                  </a:cubicBezTo>
                  <a:lnTo>
                    <a:pt x="10822492" y="10030499"/>
                  </a:lnTo>
                  <a:cubicBezTo>
                    <a:pt x="10822492" y="10037444"/>
                    <a:pt x="10819733" y="10044105"/>
                    <a:pt x="10814822" y="10049015"/>
                  </a:cubicBezTo>
                  <a:cubicBezTo>
                    <a:pt x="10809911" y="10053927"/>
                    <a:pt x="10803251" y="10056685"/>
                    <a:pt x="10796305" y="10056685"/>
                  </a:cubicBezTo>
                  <a:lnTo>
                    <a:pt x="26187" y="10056685"/>
                  </a:lnTo>
                  <a:cubicBezTo>
                    <a:pt x="19242" y="10056685"/>
                    <a:pt x="12581" y="10053927"/>
                    <a:pt x="7670" y="10049015"/>
                  </a:cubicBezTo>
                  <a:cubicBezTo>
                    <a:pt x="2759" y="10044105"/>
                    <a:pt x="0" y="10037444"/>
                    <a:pt x="0" y="10030499"/>
                  </a:cubicBezTo>
                  <a:lnTo>
                    <a:pt x="0" y="26187"/>
                  </a:lnTo>
                  <a:cubicBezTo>
                    <a:pt x="0" y="19242"/>
                    <a:pt x="2759" y="12581"/>
                    <a:pt x="7670" y="7670"/>
                  </a:cubicBezTo>
                  <a:cubicBezTo>
                    <a:pt x="12581" y="2759"/>
                    <a:pt x="19242" y="0"/>
                    <a:pt x="26187" y="0"/>
                  </a:cubicBezTo>
                  <a:close/>
                </a:path>
              </a:pathLst>
            </a:custGeom>
            <a:solidFill>
              <a:srgbClr val="FFFFFF"/>
            </a:solidFill>
          </p:spPr>
          <p:txBody>
            <a:bodyPr/>
            <a:lstStyle/>
            <a:p>
              <a:endParaRPr lang="en-US" dirty="0"/>
            </a:p>
          </p:txBody>
        </p:sp>
        <p:sp>
          <p:nvSpPr>
            <p:cNvPr id="5" name="TextBox 5"/>
            <p:cNvSpPr txBox="1"/>
            <p:nvPr/>
          </p:nvSpPr>
          <p:spPr>
            <a:xfrm>
              <a:off x="0" y="-28575"/>
              <a:ext cx="10822492" cy="10085260"/>
            </a:xfrm>
            <a:prstGeom prst="rect">
              <a:avLst/>
            </a:prstGeom>
          </p:spPr>
          <p:txBody>
            <a:bodyPr lIns="50800" tIns="50800" rIns="50800" bIns="50800" rtlCol="0" anchor="ctr"/>
            <a:lstStyle/>
            <a:p>
              <a:pPr algn="ctr">
                <a:lnSpc>
                  <a:spcPts val="1960"/>
                </a:lnSpc>
                <a:spcBef>
                  <a:spcPct val="0"/>
                </a:spcBef>
              </a:pPr>
              <a:endParaRPr/>
            </a:p>
          </p:txBody>
        </p:sp>
      </p:grpSp>
      <p:sp>
        <p:nvSpPr>
          <p:cNvPr id="7" name="TextBox 7"/>
          <p:cNvSpPr txBox="1"/>
          <p:nvPr/>
        </p:nvSpPr>
        <p:spPr>
          <a:xfrm>
            <a:off x="12204056" y="267603"/>
            <a:ext cx="6083944" cy="761097"/>
          </a:xfrm>
          <a:prstGeom prst="rect">
            <a:avLst/>
          </a:prstGeom>
        </p:spPr>
        <p:txBody>
          <a:bodyPr lIns="0" tIns="0" rIns="0" bIns="0" rtlCol="0" anchor="t">
            <a:spAutoFit/>
          </a:bodyPr>
          <a:lstStyle/>
          <a:p>
            <a:pPr marL="0" lvl="0" indent="0" algn="l">
              <a:lnSpc>
                <a:spcPts val="6005"/>
              </a:lnSpc>
              <a:spcBef>
                <a:spcPct val="0"/>
              </a:spcBef>
            </a:pPr>
            <a:r>
              <a:rPr lang="en-US" sz="5176" b="1" spc="-264">
                <a:solidFill>
                  <a:srgbClr val="0097B2"/>
                </a:solidFill>
                <a:latin typeface="Open Sauce Bold"/>
                <a:ea typeface="Open Sauce Bold"/>
                <a:cs typeface="Open Sauce Bold"/>
                <a:sym typeface="Open Sauce Bold"/>
              </a:rPr>
              <a:t>Winning Model</a:t>
            </a:r>
          </a:p>
        </p:txBody>
      </p:sp>
      <p:sp>
        <p:nvSpPr>
          <p:cNvPr id="8" name="TextBox 8"/>
          <p:cNvSpPr txBox="1"/>
          <p:nvPr/>
        </p:nvSpPr>
        <p:spPr>
          <a:xfrm>
            <a:off x="1028700" y="6934490"/>
            <a:ext cx="9639300" cy="3002360"/>
          </a:xfrm>
          <a:prstGeom prst="rect">
            <a:avLst/>
          </a:prstGeom>
        </p:spPr>
        <p:txBody>
          <a:bodyPr wrap="square" lIns="0" tIns="0" rIns="0" bIns="0" rtlCol="0" anchor="t">
            <a:spAutoFit/>
          </a:bodyPr>
          <a:lstStyle/>
          <a:p>
            <a:pPr algn="l">
              <a:lnSpc>
                <a:spcPts val="3358"/>
              </a:lnSpc>
              <a:spcBef>
                <a:spcPct val="0"/>
              </a:spcBef>
            </a:pPr>
            <a:r>
              <a:rPr lang="en-US" sz="2399" dirty="0">
                <a:solidFill>
                  <a:srgbClr val="0097B2"/>
                </a:solidFill>
                <a:latin typeface="Open Sauce"/>
                <a:ea typeface="Open Sauce"/>
                <a:cs typeface="Open Sauce"/>
                <a:sym typeface="Open Sauce"/>
              </a:rPr>
              <a:t>TN = 1667 → Correctly predicted NON-churn</a:t>
            </a:r>
          </a:p>
          <a:p>
            <a:pPr algn="l">
              <a:lnSpc>
                <a:spcPts val="3358"/>
              </a:lnSpc>
              <a:spcBef>
                <a:spcPct val="0"/>
              </a:spcBef>
            </a:pPr>
            <a:r>
              <a:rPr lang="en-US" sz="2399" dirty="0">
                <a:solidFill>
                  <a:srgbClr val="0097B2"/>
                </a:solidFill>
                <a:latin typeface="Open Sauce"/>
                <a:ea typeface="Open Sauce"/>
                <a:cs typeface="Open Sauce"/>
                <a:sym typeface="Open Sauce"/>
              </a:rPr>
              <a:t> FP = 34 → Predicted churn but customer stayed </a:t>
            </a:r>
          </a:p>
          <a:p>
            <a:pPr algn="l">
              <a:lnSpc>
                <a:spcPts val="3358"/>
              </a:lnSpc>
              <a:spcBef>
                <a:spcPct val="0"/>
              </a:spcBef>
            </a:pPr>
            <a:r>
              <a:rPr lang="en-US" sz="2399" dirty="0">
                <a:solidFill>
                  <a:srgbClr val="0097B2"/>
                </a:solidFill>
                <a:latin typeface="Open Sauce"/>
                <a:ea typeface="Open Sauce"/>
                <a:cs typeface="Open Sauce"/>
                <a:sym typeface="Open Sauce"/>
              </a:rPr>
              <a:t>FN = 30 → Missed churners (Critical!) </a:t>
            </a:r>
          </a:p>
          <a:p>
            <a:pPr algn="l">
              <a:lnSpc>
                <a:spcPts val="3358"/>
              </a:lnSpc>
              <a:spcBef>
                <a:spcPct val="0"/>
              </a:spcBef>
            </a:pPr>
            <a:r>
              <a:rPr lang="en-US" sz="2399" dirty="0">
                <a:solidFill>
                  <a:srgbClr val="0097B2"/>
                </a:solidFill>
                <a:latin typeface="Open Sauce"/>
                <a:ea typeface="Open Sauce"/>
                <a:cs typeface="Open Sauce"/>
                <a:sym typeface="Open Sauce"/>
              </a:rPr>
              <a:t>TP = 295 → Correctly predicted churners</a:t>
            </a:r>
          </a:p>
          <a:p>
            <a:pPr algn="l">
              <a:lnSpc>
                <a:spcPts val="3358"/>
              </a:lnSpc>
              <a:spcBef>
                <a:spcPct val="0"/>
              </a:spcBef>
            </a:pPr>
            <a:endParaRPr lang="en-US" sz="2399" dirty="0">
              <a:solidFill>
                <a:srgbClr val="0097B2"/>
              </a:solidFill>
              <a:latin typeface="Open Sauce"/>
              <a:ea typeface="Open Sauce"/>
              <a:cs typeface="Open Sauce"/>
              <a:sym typeface="Open Sauce"/>
            </a:endParaRPr>
          </a:p>
          <a:p>
            <a:pPr>
              <a:lnSpc>
                <a:spcPts val="3358"/>
              </a:lnSpc>
              <a:spcBef>
                <a:spcPct val="0"/>
              </a:spcBef>
            </a:pPr>
            <a:r>
              <a:rPr lang="en-US" sz="2399" dirty="0">
                <a:solidFill>
                  <a:srgbClr val="0097B2"/>
                </a:solidFill>
                <a:latin typeface="Open Sauce"/>
                <a:ea typeface="Open Sauce"/>
                <a:cs typeface="Open Sauce"/>
                <a:sym typeface="Open Sauce"/>
              </a:rPr>
              <a:t> Precision = 0.90, Recall = 0.91, F1-Score = 0.90, </a:t>
            </a:r>
          </a:p>
          <a:p>
            <a:pPr>
              <a:lnSpc>
                <a:spcPts val="3358"/>
              </a:lnSpc>
              <a:spcBef>
                <a:spcPct val="0"/>
              </a:spcBef>
            </a:pPr>
            <a:r>
              <a:rPr lang="en-US" sz="2399" dirty="0">
                <a:solidFill>
                  <a:srgbClr val="0097B2"/>
                </a:solidFill>
                <a:latin typeface="Open Sauce"/>
                <a:ea typeface="Open Sauce"/>
                <a:cs typeface="Open Sauce"/>
                <a:sym typeface="Open Sauce"/>
              </a:rPr>
              <a:t>ROC—AUC =0.99</a:t>
            </a:r>
            <a:r>
              <a:rPr lang="en-US" dirty="0"/>
              <a:t> </a:t>
            </a:r>
            <a:endParaRPr lang="en-US" sz="2399" dirty="0">
              <a:solidFill>
                <a:srgbClr val="0097B2"/>
              </a:solidFill>
              <a:latin typeface="Open Sauce"/>
              <a:ea typeface="Open Sauce"/>
              <a:cs typeface="Open Sauce"/>
              <a:sym typeface="Open Sauce"/>
            </a:endParaRPr>
          </a:p>
        </p:txBody>
      </p:sp>
      <p:sp>
        <p:nvSpPr>
          <p:cNvPr id="9" name="TextBox 9"/>
          <p:cNvSpPr txBox="1"/>
          <p:nvPr/>
        </p:nvSpPr>
        <p:spPr>
          <a:xfrm>
            <a:off x="11416180" y="1453653"/>
            <a:ext cx="6833836" cy="8387149"/>
          </a:xfrm>
          <a:prstGeom prst="rect">
            <a:avLst/>
          </a:prstGeom>
        </p:spPr>
        <p:txBody>
          <a:bodyPr lIns="0" tIns="0" rIns="0" bIns="0" rtlCol="0" anchor="t">
            <a:spAutoFit/>
          </a:bodyPr>
          <a:lstStyle/>
          <a:p>
            <a:pPr algn="ctr">
              <a:lnSpc>
                <a:spcPts val="4196"/>
              </a:lnSpc>
              <a:spcBef>
                <a:spcPct val="0"/>
              </a:spcBef>
            </a:pPr>
            <a:r>
              <a:rPr lang="en-US" sz="2997" dirty="0">
                <a:solidFill>
                  <a:srgbClr val="0097B2"/>
                </a:solidFill>
                <a:latin typeface="Open Sauce"/>
                <a:ea typeface="Open Sauce"/>
                <a:cs typeface="Open Sauce"/>
                <a:sym typeface="Open Sauce"/>
              </a:rPr>
              <a:t> </a:t>
            </a:r>
            <a:r>
              <a:rPr lang="en-US" sz="2997" b="1" dirty="0">
                <a:solidFill>
                  <a:srgbClr val="0097B2"/>
                </a:solidFill>
                <a:latin typeface="Open Sauce Bold"/>
                <a:ea typeface="Open Sauce Bold"/>
                <a:cs typeface="Open Sauce Bold"/>
                <a:sym typeface="Open Sauce Bold"/>
              </a:rPr>
              <a:t>Final Model Choice: Gradient Boosting vs. </a:t>
            </a:r>
            <a:r>
              <a:rPr lang="en-US" sz="2997" b="1" dirty="0" err="1">
                <a:solidFill>
                  <a:srgbClr val="0097B2"/>
                </a:solidFill>
                <a:latin typeface="Open Sauce Bold"/>
                <a:ea typeface="Open Sauce Bold"/>
                <a:cs typeface="Open Sauce Bold"/>
                <a:sym typeface="Open Sauce Bold"/>
              </a:rPr>
              <a:t>XGBoost</a:t>
            </a:r>
            <a:endParaRPr lang="en-US" sz="2997" b="1" dirty="0">
              <a:solidFill>
                <a:srgbClr val="0097B2"/>
              </a:solidFill>
              <a:latin typeface="Open Sauce Bold"/>
              <a:ea typeface="Open Sauce Bold"/>
              <a:cs typeface="Open Sauce Bold"/>
              <a:sym typeface="Open Sauce Bold"/>
            </a:endParaRPr>
          </a:p>
          <a:p>
            <a:pPr algn="ctr">
              <a:lnSpc>
                <a:spcPts val="3636"/>
              </a:lnSpc>
              <a:spcBef>
                <a:spcPct val="0"/>
              </a:spcBef>
            </a:pPr>
            <a:endParaRPr lang="en-US" sz="2997" b="1" dirty="0">
              <a:solidFill>
                <a:srgbClr val="0097B2"/>
              </a:solidFill>
              <a:latin typeface="Open Sauce Bold"/>
              <a:ea typeface="Open Sauce Bold"/>
              <a:cs typeface="Open Sauce Bold"/>
              <a:sym typeface="Open Sauce Bold"/>
            </a:endParaRPr>
          </a:p>
          <a:p>
            <a:pPr algn="l">
              <a:lnSpc>
                <a:spcPts val="3636"/>
              </a:lnSpc>
              <a:spcBef>
                <a:spcPct val="0"/>
              </a:spcBef>
            </a:pPr>
            <a:r>
              <a:rPr lang="en-US" sz="2597" dirty="0">
                <a:solidFill>
                  <a:srgbClr val="4D5154"/>
                </a:solidFill>
                <a:latin typeface="Open Sauce"/>
                <a:ea typeface="Open Sauce"/>
                <a:cs typeface="Open Sauce"/>
                <a:sym typeface="Open Sauce"/>
              </a:rPr>
              <a:t>Before tuning, Gradient Boosting gave strong results.</a:t>
            </a:r>
          </a:p>
          <a:p>
            <a:pPr algn="l">
              <a:lnSpc>
                <a:spcPts val="3636"/>
              </a:lnSpc>
              <a:spcBef>
                <a:spcPct val="0"/>
              </a:spcBef>
            </a:pPr>
            <a:r>
              <a:rPr lang="en-US" sz="2597" dirty="0">
                <a:solidFill>
                  <a:srgbClr val="4D5154"/>
                </a:solidFill>
                <a:latin typeface="Open Sauce"/>
                <a:ea typeface="Open Sauce"/>
                <a:cs typeface="Open Sauce"/>
                <a:sym typeface="Open Sauce"/>
              </a:rPr>
              <a:t>But once we applied hyperparameter tuning, </a:t>
            </a:r>
            <a:r>
              <a:rPr lang="en-US" sz="2597" dirty="0" err="1">
                <a:solidFill>
                  <a:srgbClr val="4D5154"/>
                </a:solidFill>
                <a:latin typeface="Open Sauce"/>
                <a:ea typeface="Open Sauce"/>
                <a:cs typeface="Open Sauce"/>
                <a:sym typeface="Open Sauce"/>
              </a:rPr>
              <a:t>XGBoost</a:t>
            </a:r>
            <a:r>
              <a:rPr lang="en-US" sz="2597" dirty="0">
                <a:solidFill>
                  <a:srgbClr val="4D5154"/>
                </a:solidFill>
                <a:latin typeface="Open Sauce"/>
                <a:ea typeface="Open Sauce"/>
                <a:cs typeface="Open Sauce"/>
                <a:sym typeface="Open Sauce"/>
              </a:rPr>
              <a:t> consistently outperformed it offering better control, stronger regularization, and higher recall for catching churners.</a:t>
            </a:r>
          </a:p>
          <a:p>
            <a:pPr algn="l">
              <a:lnSpc>
                <a:spcPts val="3636"/>
              </a:lnSpc>
              <a:spcBef>
                <a:spcPct val="0"/>
              </a:spcBef>
            </a:pPr>
            <a:endParaRPr lang="en-US" sz="2597" dirty="0">
              <a:solidFill>
                <a:srgbClr val="4D5154"/>
              </a:solidFill>
              <a:latin typeface="Open Sauce"/>
              <a:ea typeface="Open Sauce"/>
              <a:cs typeface="Open Sauce"/>
              <a:sym typeface="Open Sauce"/>
            </a:endParaRPr>
          </a:p>
          <a:p>
            <a:pPr algn="ctr">
              <a:lnSpc>
                <a:spcPts val="3916"/>
              </a:lnSpc>
              <a:spcBef>
                <a:spcPct val="0"/>
              </a:spcBef>
            </a:pPr>
            <a:r>
              <a:rPr lang="en-US" sz="2797" b="1" dirty="0">
                <a:solidFill>
                  <a:srgbClr val="0097B2"/>
                </a:solidFill>
                <a:latin typeface="Open Sauce Bold"/>
                <a:ea typeface="Open Sauce Bold"/>
                <a:cs typeface="Open Sauce Bold"/>
                <a:sym typeface="Open Sauce Bold"/>
              </a:rPr>
              <a:t>Final Decision</a:t>
            </a:r>
          </a:p>
          <a:p>
            <a:pPr algn="l">
              <a:lnSpc>
                <a:spcPts val="3636"/>
              </a:lnSpc>
              <a:spcBef>
                <a:spcPct val="0"/>
              </a:spcBef>
            </a:pPr>
            <a:r>
              <a:rPr lang="en-US" sz="2597" dirty="0">
                <a:solidFill>
                  <a:srgbClr val="4D5154"/>
                </a:solidFill>
                <a:latin typeface="Open Sauce"/>
                <a:ea typeface="Open Sauce"/>
                <a:cs typeface="Open Sauce"/>
                <a:sym typeface="Open Sauce"/>
              </a:rPr>
              <a:t>I'll go with </a:t>
            </a:r>
            <a:r>
              <a:rPr lang="en-US" sz="2597" dirty="0" err="1">
                <a:solidFill>
                  <a:srgbClr val="4D5154"/>
                </a:solidFill>
                <a:latin typeface="Open Sauce"/>
                <a:ea typeface="Open Sauce"/>
                <a:cs typeface="Open Sauce"/>
                <a:sym typeface="Open Sauce"/>
              </a:rPr>
              <a:t>XGBoost</a:t>
            </a:r>
            <a:r>
              <a:rPr lang="en-US" sz="2597" dirty="0">
                <a:solidFill>
                  <a:srgbClr val="4D5154"/>
                </a:solidFill>
                <a:latin typeface="Open Sauce"/>
                <a:ea typeface="Open Sauce"/>
                <a:cs typeface="Open Sauce"/>
                <a:sym typeface="Open Sauce"/>
              </a:rPr>
              <a:t> (after tuning) as the primary model.</a:t>
            </a:r>
          </a:p>
          <a:p>
            <a:pPr algn="l">
              <a:lnSpc>
                <a:spcPts val="3636"/>
              </a:lnSpc>
              <a:spcBef>
                <a:spcPct val="0"/>
              </a:spcBef>
            </a:pPr>
            <a:r>
              <a:rPr lang="en-US" sz="2597" dirty="0">
                <a:solidFill>
                  <a:srgbClr val="4D5154"/>
                </a:solidFill>
                <a:latin typeface="Open Sauce"/>
                <a:ea typeface="Open Sauce"/>
                <a:cs typeface="Open Sauce"/>
                <a:sym typeface="Open Sauce"/>
              </a:rPr>
              <a:t>It’s more robust, more accurate, and better suited for churn prediction.</a:t>
            </a:r>
          </a:p>
          <a:p>
            <a:pPr algn="ctr">
              <a:lnSpc>
                <a:spcPts val="3636"/>
              </a:lnSpc>
              <a:spcBef>
                <a:spcPct val="0"/>
              </a:spcBef>
            </a:pPr>
            <a:endParaRPr lang="en-US" sz="2597" dirty="0">
              <a:solidFill>
                <a:srgbClr val="4D5154"/>
              </a:solidFill>
              <a:latin typeface="Open Sauce"/>
              <a:ea typeface="Open Sauce"/>
              <a:cs typeface="Open Sauce"/>
              <a:sym typeface="Open Sauce"/>
            </a:endParaRPr>
          </a:p>
          <a:p>
            <a:pPr algn="ctr">
              <a:lnSpc>
                <a:spcPts val="3636"/>
              </a:lnSpc>
              <a:spcBef>
                <a:spcPct val="0"/>
              </a:spcBef>
            </a:pPr>
            <a:endParaRPr lang="en-US" sz="2597" dirty="0">
              <a:solidFill>
                <a:srgbClr val="4D5154"/>
              </a:solidFill>
              <a:latin typeface="Open Sauce"/>
              <a:ea typeface="Open Sauce"/>
              <a:cs typeface="Open Sauce"/>
              <a:sym typeface="Open Sauce"/>
            </a:endParaRPr>
          </a:p>
        </p:txBody>
      </p:sp>
      <p:pic>
        <p:nvPicPr>
          <p:cNvPr id="11" name="Picture 10">
            <a:extLst>
              <a:ext uri="{FF2B5EF4-FFF2-40B4-BE49-F238E27FC236}">
                <a16:creationId xmlns:a16="http://schemas.microsoft.com/office/drawing/2014/main" id="{DCD95091-69A7-4D80-A0A3-F3BBC174B2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776" y="222683"/>
            <a:ext cx="10087424" cy="658816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68889" y="0"/>
            <a:ext cx="11234350" cy="10439400"/>
            <a:chOff x="0" y="0"/>
            <a:chExt cx="10822492" cy="10056685"/>
          </a:xfrm>
        </p:grpSpPr>
        <p:sp>
          <p:nvSpPr>
            <p:cNvPr id="4" name="Freeform 4"/>
            <p:cNvSpPr/>
            <p:nvPr/>
          </p:nvSpPr>
          <p:spPr>
            <a:xfrm>
              <a:off x="0" y="0"/>
              <a:ext cx="10822492" cy="10056685"/>
            </a:xfrm>
            <a:custGeom>
              <a:avLst/>
              <a:gdLst/>
              <a:ahLst/>
              <a:cxnLst/>
              <a:rect l="l" t="t" r="r" b="b"/>
              <a:pathLst>
                <a:path w="10822492" h="10056685">
                  <a:moveTo>
                    <a:pt x="26187" y="0"/>
                  </a:moveTo>
                  <a:lnTo>
                    <a:pt x="10796305" y="0"/>
                  </a:lnTo>
                  <a:cubicBezTo>
                    <a:pt x="10803251" y="0"/>
                    <a:pt x="10809911" y="2759"/>
                    <a:pt x="10814822" y="7670"/>
                  </a:cubicBezTo>
                  <a:cubicBezTo>
                    <a:pt x="10819733" y="12581"/>
                    <a:pt x="10822492" y="19242"/>
                    <a:pt x="10822492" y="26187"/>
                  </a:cubicBezTo>
                  <a:lnTo>
                    <a:pt x="10822492" y="10030499"/>
                  </a:lnTo>
                  <a:cubicBezTo>
                    <a:pt x="10822492" y="10037444"/>
                    <a:pt x="10819733" y="10044105"/>
                    <a:pt x="10814822" y="10049015"/>
                  </a:cubicBezTo>
                  <a:cubicBezTo>
                    <a:pt x="10809911" y="10053927"/>
                    <a:pt x="10803251" y="10056685"/>
                    <a:pt x="10796305" y="10056685"/>
                  </a:cubicBezTo>
                  <a:lnTo>
                    <a:pt x="26187" y="10056685"/>
                  </a:lnTo>
                  <a:cubicBezTo>
                    <a:pt x="19242" y="10056685"/>
                    <a:pt x="12581" y="10053927"/>
                    <a:pt x="7670" y="10049015"/>
                  </a:cubicBezTo>
                  <a:cubicBezTo>
                    <a:pt x="2759" y="10044105"/>
                    <a:pt x="0" y="10037444"/>
                    <a:pt x="0" y="10030499"/>
                  </a:cubicBezTo>
                  <a:lnTo>
                    <a:pt x="0" y="26187"/>
                  </a:lnTo>
                  <a:cubicBezTo>
                    <a:pt x="0" y="19242"/>
                    <a:pt x="2759" y="12581"/>
                    <a:pt x="7670" y="7670"/>
                  </a:cubicBezTo>
                  <a:cubicBezTo>
                    <a:pt x="12581" y="2759"/>
                    <a:pt x="19242" y="0"/>
                    <a:pt x="26187" y="0"/>
                  </a:cubicBezTo>
                  <a:close/>
                </a:path>
              </a:pathLst>
            </a:custGeom>
            <a:solidFill>
              <a:srgbClr val="FFFFFF"/>
            </a:solidFill>
          </p:spPr>
        </p:sp>
        <p:sp>
          <p:nvSpPr>
            <p:cNvPr id="5" name="TextBox 5"/>
            <p:cNvSpPr txBox="1"/>
            <p:nvPr/>
          </p:nvSpPr>
          <p:spPr>
            <a:xfrm>
              <a:off x="0" y="-28575"/>
              <a:ext cx="10822492" cy="10085260"/>
            </a:xfrm>
            <a:prstGeom prst="rect">
              <a:avLst/>
            </a:prstGeom>
          </p:spPr>
          <p:txBody>
            <a:bodyPr lIns="50800" tIns="50800" rIns="50800" bIns="50800" rtlCol="0" anchor="ctr"/>
            <a:lstStyle/>
            <a:p>
              <a:pPr algn="ctr">
                <a:lnSpc>
                  <a:spcPts val="1960"/>
                </a:lnSpc>
                <a:spcBef>
                  <a:spcPct val="0"/>
                </a:spcBef>
              </a:pPr>
              <a:endParaRPr/>
            </a:p>
          </p:txBody>
        </p:sp>
      </p:grpSp>
      <p:sp>
        <p:nvSpPr>
          <p:cNvPr id="6" name="Freeform 6"/>
          <p:cNvSpPr/>
          <p:nvPr/>
        </p:nvSpPr>
        <p:spPr>
          <a:xfrm>
            <a:off x="-68891" y="0"/>
            <a:ext cx="11234351" cy="6881789"/>
          </a:xfrm>
          <a:custGeom>
            <a:avLst/>
            <a:gdLst/>
            <a:ahLst/>
            <a:cxnLst/>
            <a:rect l="l" t="t" r="r" b="b"/>
            <a:pathLst>
              <a:path w="11535744" h="6881789">
                <a:moveTo>
                  <a:pt x="0" y="0"/>
                </a:moveTo>
                <a:lnTo>
                  <a:pt x="11535744" y="0"/>
                </a:lnTo>
                <a:lnTo>
                  <a:pt x="11535744" y="6881789"/>
                </a:lnTo>
                <a:lnTo>
                  <a:pt x="0" y="6881789"/>
                </a:lnTo>
                <a:lnTo>
                  <a:pt x="0" y="0"/>
                </a:lnTo>
                <a:close/>
              </a:path>
            </a:pathLst>
          </a:custGeom>
          <a:blipFill>
            <a:blip r:embed="rId3"/>
            <a:stretch>
              <a:fillRect/>
            </a:stretch>
          </a:blipFill>
        </p:spPr>
      </p:sp>
      <p:sp>
        <p:nvSpPr>
          <p:cNvPr id="7" name="TextBox 7"/>
          <p:cNvSpPr txBox="1"/>
          <p:nvPr/>
        </p:nvSpPr>
        <p:spPr>
          <a:xfrm>
            <a:off x="11466856" y="267603"/>
            <a:ext cx="6083944" cy="1514946"/>
          </a:xfrm>
          <a:prstGeom prst="rect">
            <a:avLst/>
          </a:prstGeom>
        </p:spPr>
        <p:txBody>
          <a:bodyPr lIns="0" tIns="0" rIns="0" bIns="0" rtlCol="0" anchor="t">
            <a:spAutoFit/>
          </a:bodyPr>
          <a:lstStyle/>
          <a:p>
            <a:pPr marL="0" lvl="0" indent="0" algn="l">
              <a:lnSpc>
                <a:spcPts val="6005"/>
              </a:lnSpc>
              <a:spcBef>
                <a:spcPct val="0"/>
              </a:spcBef>
            </a:pPr>
            <a:r>
              <a:rPr lang="en-US" sz="5176" b="1" spc="-264">
                <a:solidFill>
                  <a:srgbClr val="0097B2"/>
                </a:solidFill>
                <a:latin typeface="Open Sauce Semi-Bold"/>
                <a:ea typeface="Open Sauce Semi-Bold"/>
                <a:cs typeface="Open Sauce Semi-Bold"/>
                <a:sym typeface="Open Sauce Semi-Bold"/>
              </a:rPr>
              <a:t>XGBoost Feature Importance</a:t>
            </a:r>
          </a:p>
        </p:txBody>
      </p:sp>
      <p:sp>
        <p:nvSpPr>
          <p:cNvPr id="8" name="TextBox 8"/>
          <p:cNvSpPr txBox="1"/>
          <p:nvPr/>
        </p:nvSpPr>
        <p:spPr>
          <a:xfrm>
            <a:off x="452976" y="6911451"/>
            <a:ext cx="10712484" cy="3700146"/>
          </a:xfrm>
          <a:prstGeom prst="rect">
            <a:avLst/>
          </a:prstGeom>
        </p:spPr>
        <p:txBody>
          <a:bodyPr lIns="0" tIns="0" rIns="0" bIns="0" rtlCol="0" anchor="t">
            <a:spAutoFit/>
          </a:bodyPr>
          <a:lstStyle/>
          <a:p>
            <a:pPr algn="l">
              <a:lnSpc>
                <a:spcPts val="3639"/>
              </a:lnSpc>
            </a:pPr>
            <a:r>
              <a:rPr lang="en-US" sz="2599" b="1" dirty="0">
                <a:solidFill>
                  <a:srgbClr val="0097B2"/>
                </a:solidFill>
                <a:latin typeface="Open Sauce Bold"/>
                <a:ea typeface="Open Sauce Bold"/>
                <a:cs typeface="Open Sauce Bold"/>
                <a:sym typeface="Open Sauce Bold"/>
              </a:rPr>
              <a:t>From the </a:t>
            </a:r>
            <a:r>
              <a:rPr lang="en-US" sz="2599" b="1" dirty="0" err="1">
                <a:solidFill>
                  <a:srgbClr val="0097B2"/>
                </a:solidFill>
                <a:latin typeface="Open Sauce Bold"/>
                <a:ea typeface="Open Sauce Bold"/>
                <a:cs typeface="Open Sauce Bold"/>
                <a:sym typeface="Open Sauce Bold"/>
              </a:rPr>
              <a:t>XGBoost</a:t>
            </a:r>
            <a:r>
              <a:rPr lang="en-US" sz="2599" b="1" dirty="0">
                <a:solidFill>
                  <a:srgbClr val="0097B2"/>
                </a:solidFill>
                <a:latin typeface="Open Sauce Bold"/>
                <a:ea typeface="Open Sauce Bold"/>
                <a:cs typeface="Open Sauce Bold"/>
                <a:sym typeface="Open Sauce Bold"/>
              </a:rPr>
              <a:t> model, the top features influencing churn are:</a:t>
            </a:r>
          </a:p>
          <a:p>
            <a:pPr algn="l">
              <a:lnSpc>
                <a:spcPts val="3639"/>
              </a:lnSpc>
            </a:pPr>
            <a:endParaRPr lang="en-US" sz="2599" b="1" dirty="0">
              <a:solidFill>
                <a:srgbClr val="0097B2"/>
              </a:solidFill>
              <a:latin typeface="Open Sauce Bold"/>
              <a:ea typeface="Open Sauce Bold"/>
              <a:cs typeface="Open Sauce Bold"/>
              <a:sym typeface="Open Sauce Bold"/>
            </a:endParaRPr>
          </a:p>
          <a:p>
            <a:pPr algn="l">
              <a:lnSpc>
                <a:spcPts val="3219"/>
              </a:lnSpc>
              <a:spcBef>
                <a:spcPct val="0"/>
              </a:spcBef>
            </a:pPr>
            <a:r>
              <a:rPr lang="en-US" sz="2299" dirty="0">
                <a:solidFill>
                  <a:srgbClr val="0097B2"/>
                </a:solidFill>
                <a:latin typeface="Open Sauce"/>
                <a:ea typeface="Open Sauce"/>
                <a:cs typeface="Open Sauce"/>
                <a:sym typeface="Open Sauce"/>
              </a:rPr>
              <a:t>1. Total Transaction count  (0.33) –</a:t>
            </a:r>
            <a:r>
              <a:rPr lang="en-US" sz="2299" dirty="0">
                <a:solidFill>
                  <a:srgbClr val="4D5154"/>
                </a:solidFill>
                <a:latin typeface="Open Sauce"/>
                <a:ea typeface="Open Sauce"/>
                <a:cs typeface="Open Sauce"/>
                <a:sym typeface="Open Sauce"/>
              </a:rPr>
              <a:t> Customers with fewer transactions are more likely to churn. </a:t>
            </a:r>
          </a:p>
          <a:p>
            <a:pPr algn="l">
              <a:lnSpc>
                <a:spcPts val="3219"/>
              </a:lnSpc>
              <a:spcBef>
                <a:spcPct val="0"/>
              </a:spcBef>
            </a:pPr>
            <a:r>
              <a:rPr lang="en-US" sz="2299" dirty="0">
                <a:solidFill>
                  <a:srgbClr val="0097B2"/>
                </a:solidFill>
                <a:latin typeface="Open Sauce"/>
                <a:ea typeface="Open Sauce"/>
                <a:cs typeface="Open Sauce"/>
                <a:sym typeface="Open Sauce"/>
              </a:rPr>
              <a:t>2. Total Revolving Balance (0.13) – </a:t>
            </a:r>
            <a:r>
              <a:rPr lang="en-US" sz="2299" dirty="0">
                <a:solidFill>
                  <a:srgbClr val="4D5154"/>
                </a:solidFill>
                <a:latin typeface="Open Sauce"/>
                <a:ea typeface="Open Sauce"/>
                <a:cs typeface="Open Sauce"/>
                <a:sym typeface="Open Sauce"/>
              </a:rPr>
              <a:t>Higher revolving balances may indicate engagement or risk; impacts churn likelihood.</a:t>
            </a:r>
            <a:r>
              <a:rPr lang="en-US" sz="2299" dirty="0">
                <a:solidFill>
                  <a:srgbClr val="0097B2"/>
                </a:solidFill>
                <a:latin typeface="Open Sauce"/>
                <a:ea typeface="Open Sauce"/>
                <a:cs typeface="Open Sauce"/>
                <a:sym typeface="Open Sauce"/>
              </a:rPr>
              <a:t> </a:t>
            </a:r>
          </a:p>
          <a:p>
            <a:pPr algn="l">
              <a:lnSpc>
                <a:spcPts val="3219"/>
              </a:lnSpc>
              <a:spcBef>
                <a:spcPct val="0"/>
              </a:spcBef>
            </a:pPr>
            <a:r>
              <a:rPr lang="en-US" sz="2299" dirty="0">
                <a:solidFill>
                  <a:srgbClr val="0097B2"/>
                </a:solidFill>
                <a:latin typeface="Open Sauce"/>
                <a:ea typeface="Open Sauce"/>
                <a:cs typeface="Open Sauce"/>
                <a:sym typeface="Open Sauce"/>
              </a:rPr>
              <a:t>3. Total Relationship Count (0.10) –</a:t>
            </a:r>
            <a:r>
              <a:rPr lang="en-US" sz="2299" dirty="0">
                <a:solidFill>
                  <a:srgbClr val="4D5154"/>
                </a:solidFill>
                <a:latin typeface="Open Sauce"/>
                <a:ea typeface="Open Sauce"/>
                <a:cs typeface="Open Sauce"/>
                <a:sym typeface="Open Sauce"/>
              </a:rPr>
              <a:t> Customers with more relationships (products) are less likely to leave.</a:t>
            </a:r>
          </a:p>
          <a:p>
            <a:pPr algn="l">
              <a:lnSpc>
                <a:spcPts val="3219"/>
              </a:lnSpc>
              <a:spcBef>
                <a:spcPct val="0"/>
              </a:spcBef>
            </a:pPr>
            <a:endParaRPr lang="en-US" sz="2299" dirty="0">
              <a:solidFill>
                <a:srgbClr val="4D5154"/>
              </a:solidFill>
              <a:latin typeface="Open Sauce"/>
              <a:ea typeface="Open Sauce"/>
              <a:cs typeface="Open Sauce"/>
              <a:sym typeface="Open Sauce"/>
            </a:endParaRPr>
          </a:p>
        </p:txBody>
      </p:sp>
      <p:sp>
        <p:nvSpPr>
          <p:cNvPr id="9" name="TextBox 9"/>
          <p:cNvSpPr txBox="1"/>
          <p:nvPr/>
        </p:nvSpPr>
        <p:spPr>
          <a:xfrm>
            <a:off x="11466856" y="2456044"/>
            <a:ext cx="5792444" cy="6844666"/>
          </a:xfrm>
          <a:prstGeom prst="rect">
            <a:avLst/>
          </a:prstGeom>
        </p:spPr>
        <p:txBody>
          <a:bodyPr lIns="0" tIns="0" rIns="0" bIns="0" rtlCol="0" anchor="t">
            <a:spAutoFit/>
          </a:bodyPr>
          <a:lstStyle/>
          <a:p>
            <a:pPr algn="l">
              <a:lnSpc>
                <a:spcPts val="3359"/>
              </a:lnSpc>
              <a:spcBef>
                <a:spcPct val="0"/>
              </a:spcBef>
            </a:pPr>
            <a:r>
              <a:rPr lang="en-US" sz="2399">
                <a:solidFill>
                  <a:srgbClr val="4D5154"/>
                </a:solidFill>
                <a:latin typeface="Open Sauce"/>
                <a:ea typeface="Open Sauce"/>
                <a:cs typeface="Open Sauce"/>
                <a:sym typeface="Open Sauce"/>
              </a:rPr>
              <a:t>Other features like contacts, account changes, marital status, age, and credit limit have smaller impact. </a:t>
            </a:r>
          </a:p>
          <a:p>
            <a:pPr algn="ctr">
              <a:lnSpc>
                <a:spcPts val="3359"/>
              </a:lnSpc>
              <a:spcBef>
                <a:spcPct val="0"/>
              </a:spcBef>
            </a:pPr>
            <a:endParaRPr lang="en-US" sz="2399">
              <a:solidFill>
                <a:srgbClr val="4D5154"/>
              </a:solidFill>
              <a:latin typeface="Open Sauce"/>
              <a:ea typeface="Open Sauce"/>
              <a:cs typeface="Open Sauce"/>
              <a:sym typeface="Open Sauce"/>
            </a:endParaRPr>
          </a:p>
          <a:p>
            <a:pPr algn="ctr">
              <a:lnSpc>
                <a:spcPts val="3919"/>
              </a:lnSpc>
              <a:spcBef>
                <a:spcPct val="0"/>
              </a:spcBef>
            </a:pPr>
            <a:r>
              <a:rPr lang="en-US" sz="2799" b="1">
                <a:solidFill>
                  <a:srgbClr val="0097B2"/>
                </a:solidFill>
                <a:latin typeface="Open Sauce Bold"/>
                <a:ea typeface="Open Sauce Bold"/>
                <a:cs typeface="Open Sauce Bold"/>
                <a:sym typeface="Open Sauce Bold"/>
              </a:rPr>
              <a:t>Implications for the bank:</a:t>
            </a:r>
          </a:p>
          <a:p>
            <a:pPr algn="ctr">
              <a:lnSpc>
                <a:spcPts val="3919"/>
              </a:lnSpc>
              <a:spcBef>
                <a:spcPct val="0"/>
              </a:spcBef>
            </a:pPr>
            <a:endParaRPr lang="en-US" sz="2799" b="1">
              <a:solidFill>
                <a:srgbClr val="0097B2"/>
              </a:solidFill>
              <a:latin typeface="Open Sauce Bold"/>
              <a:ea typeface="Open Sauce Bold"/>
              <a:cs typeface="Open Sauce Bold"/>
              <a:sym typeface="Open Sauce Bold"/>
            </a:endParaRPr>
          </a:p>
          <a:p>
            <a:pPr algn="l">
              <a:lnSpc>
                <a:spcPts val="3359"/>
              </a:lnSpc>
              <a:spcBef>
                <a:spcPct val="0"/>
              </a:spcBef>
            </a:pPr>
            <a:r>
              <a:rPr lang="en-US" sz="2399">
                <a:solidFill>
                  <a:srgbClr val="0097B2"/>
                </a:solidFill>
                <a:latin typeface="Open Sauce"/>
                <a:ea typeface="Open Sauce"/>
                <a:cs typeface="Open Sauce"/>
                <a:sym typeface="Open Sauce"/>
              </a:rPr>
              <a:t>-</a:t>
            </a:r>
            <a:r>
              <a:rPr lang="en-US" sz="2399">
                <a:solidFill>
                  <a:srgbClr val="4D5154"/>
                </a:solidFill>
                <a:latin typeface="Open Sauce"/>
                <a:ea typeface="Open Sauce"/>
                <a:cs typeface="Open Sauce"/>
                <a:sym typeface="Open Sauce"/>
              </a:rPr>
              <a:t> Focus retention efforts on customers with low transactions, few products, or long inactivity. </a:t>
            </a:r>
          </a:p>
          <a:p>
            <a:pPr algn="l">
              <a:lnSpc>
                <a:spcPts val="3359"/>
              </a:lnSpc>
              <a:spcBef>
                <a:spcPct val="0"/>
              </a:spcBef>
            </a:pPr>
            <a:r>
              <a:rPr lang="en-US" sz="2399">
                <a:solidFill>
                  <a:srgbClr val="4D5154"/>
                </a:solidFill>
                <a:latin typeface="Open Sauce"/>
                <a:ea typeface="Open Sauce"/>
                <a:cs typeface="Open Sauce"/>
                <a:sym typeface="Open Sauce"/>
              </a:rPr>
              <a:t>- Encourage engagement through offers or personalized services. </a:t>
            </a:r>
          </a:p>
          <a:p>
            <a:pPr algn="l">
              <a:lnSpc>
                <a:spcPts val="3359"/>
              </a:lnSpc>
              <a:spcBef>
                <a:spcPct val="0"/>
              </a:spcBef>
            </a:pPr>
            <a:r>
              <a:rPr lang="en-US" sz="2399">
                <a:solidFill>
                  <a:srgbClr val="4D5154"/>
                </a:solidFill>
                <a:latin typeface="Open Sauce"/>
                <a:ea typeface="Open Sauce"/>
                <a:cs typeface="Open Sauce"/>
                <a:sym typeface="Open Sauce"/>
              </a:rPr>
              <a:t>- Monitor revolving balances and transaction patterns to proactively identify at-risk customers.</a:t>
            </a:r>
          </a:p>
          <a:p>
            <a:pPr algn="l">
              <a:lnSpc>
                <a:spcPts val="3359"/>
              </a:lnSpc>
              <a:spcBef>
                <a:spcPct val="0"/>
              </a:spcBef>
            </a:pPr>
            <a:endParaRPr lang="en-US" sz="2399">
              <a:solidFill>
                <a:srgbClr val="4D5154"/>
              </a:solidFill>
              <a:latin typeface="Open Sauce"/>
              <a:ea typeface="Open Sauce"/>
              <a:cs typeface="Open Sauce"/>
              <a:sym typeface="Open Sauce"/>
            </a:endParaRPr>
          </a:p>
          <a:p>
            <a:pPr algn="l">
              <a:lnSpc>
                <a:spcPts val="3359"/>
              </a:lnSpc>
              <a:spcBef>
                <a:spcPct val="0"/>
              </a:spcBef>
            </a:pPr>
            <a:endParaRPr lang="en-US" sz="2399">
              <a:solidFill>
                <a:srgbClr val="4D5154"/>
              </a:solidFill>
              <a:latin typeface="Open Sauce"/>
              <a:ea typeface="Open Sauce"/>
              <a:cs typeface="Open Sauce"/>
              <a:sym typeface="Open Sauc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348615" y="3461035"/>
            <a:ext cx="14225497" cy="2940159"/>
          </a:xfrm>
          <a:prstGeom prst="rect">
            <a:avLst/>
          </a:prstGeom>
        </p:spPr>
        <p:txBody>
          <a:bodyPr lIns="0" tIns="0" rIns="0" bIns="0" rtlCol="0" anchor="t">
            <a:spAutoFit/>
          </a:bodyPr>
          <a:lstStyle/>
          <a:p>
            <a:pPr algn="l">
              <a:lnSpc>
                <a:spcPts val="11295"/>
              </a:lnSpc>
            </a:pPr>
            <a:r>
              <a:rPr lang="en-US" sz="12016" b="1" spc="-252">
                <a:solidFill>
                  <a:srgbClr val="FFFFFF"/>
                </a:solidFill>
                <a:latin typeface="Open Sauce Bold"/>
                <a:ea typeface="Open Sauce Bold"/>
                <a:cs typeface="Open Sauce Bold"/>
                <a:sym typeface="Open Sauce Bold"/>
              </a:rPr>
              <a:t>Next Steps &amp; Strategic Direction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9432241" y="1597975"/>
            <a:ext cx="8240557" cy="2430952"/>
            <a:chOff x="0" y="0"/>
            <a:chExt cx="6698093" cy="1975928"/>
          </a:xfrm>
        </p:grpSpPr>
        <p:sp>
          <p:nvSpPr>
            <p:cNvPr id="4" name="Freeform 4"/>
            <p:cNvSpPr/>
            <p:nvPr/>
          </p:nvSpPr>
          <p:spPr>
            <a:xfrm>
              <a:off x="0" y="0"/>
              <a:ext cx="6698093" cy="1975927"/>
            </a:xfrm>
            <a:custGeom>
              <a:avLst/>
              <a:gdLst/>
              <a:ahLst/>
              <a:cxnLst/>
              <a:rect l="l" t="t" r="r" b="b"/>
              <a:pathLst>
                <a:path w="6698093" h="1975927">
                  <a:moveTo>
                    <a:pt x="35701" y="0"/>
                  </a:moveTo>
                  <a:lnTo>
                    <a:pt x="6662393" y="0"/>
                  </a:lnTo>
                  <a:cubicBezTo>
                    <a:pt x="6671861" y="0"/>
                    <a:pt x="6680942" y="3761"/>
                    <a:pt x="6687637" y="10456"/>
                  </a:cubicBezTo>
                  <a:cubicBezTo>
                    <a:pt x="6694332" y="17152"/>
                    <a:pt x="6698093" y="26232"/>
                    <a:pt x="6698093" y="35701"/>
                  </a:cubicBezTo>
                  <a:lnTo>
                    <a:pt x="6698093" y="1940227"/>
                  </a:lnTo>
                  <a:cubicBezTo>
                    <a:pt x="6698093" y="1949695"/>
                    <a:pt x="6694332" y="1958776"/>
                    <a:pt x="6687637" y="1965471"/>
                  </a:cubicBezTo>
                  <a:cubicBezTo>
                    <a:pt x="6680942" y="1972166"/>
                    <a:pt x="6671861" y="1975927"/>
                    <a:pt x="6662393" y="1975927"/>
                  </a:cubicBezTo>
                  <a:lnTo>
                    <a:pt x="35701" y="1975927"/>
                  </a:lnTo>
                  <a:cubicBezTo>
                    <a:pt x="15984" y="1975927"/>
                    <a:pt x="0" y="1959944"/>
                    <a:pt x="0" y="1940227"/>
                  </a:cubicBezTo>
                  <a:lnTo>
                    <a:pt x="0" y="35701"/>
                  </a:lnTo>
                  <a:cubicBezTo>
                    <a:pt x="0" y="26232"/>
                    <a:pt x="3761" y="17152"/>
                    <a:pt x="10456" y="10456"/>
                  </a:cubicBezTo>
                  <a:cubicBezTo>
                    <a:pt x="17152" y="3761"/>
                    <a:pt x="26232" y="0"/>
                    <a:pt x="35701" y="0"/>
                  </a:cubicBezTo>
                  <a:close/>
                </a:path>
              </a:pathLst>
            </a:custGeom>
            <a:solidFill>
              <a:srgbClr val="0097B2"/>
            </a:solidFill>
          </p:spPr>
        </p:sp>
        <p:sp>
          <p:nvSpPr>
            <p:cNvPr id="5" name="TextBox 5"/>
            <p:cNvSpPr txBox="1"/>
            <p:nvPr/>
          </p:nvSpPr>
          <p:spPr>
            <a:xfrm>
              <a:off x="0" y="-28575"/>
              <a:ext cx="6698093" cy="2004503"/>
            </a:xfrm>
            <a:prstGeom prst="rect">
              <a:avLst/>
            </a:prstGeom>
          </p:spPr>
          <p:txBody>
            <a:bodyPr lIns="50800" tIns="50800" rIns="50800" bIns="50800" rtlCol="0" anchor="ctr"/>
            <a:lstStyle/>
            <a:p>
              <a:pPr algn="ctr">
                <a:lnSpc>
                  <a:spcPts val="1960"/>
                </a:lnSpc>
                <a:spcBef>
                  <a:spcPct val="0"/>
                </a:spcBef>
              </a:pPr>
              <a:endParaRPr/>
            </a:p>
          </p:txBody>
        </p:sp>
      </p:grpSp>
      <p:grpSp>
        <p:nvGrpSpPr>
          <p:cNvPr id="6" name="Group 6"/>
          <p:cNvGrpSpPr/>
          <p:nvPr/>
        </p:nvGrpSpPr>
        <p:grpSpPr>
          <a:xfrm>
            <a:off x="9432241" y="4516613"/>
            <a:ext cx="8240557" cy="2430952"/>
            <a:chOff x="0" y="0"/>
            <a:chExt cx="6698093" cy="1975928"/>
          </a:xfrm>
        </p:grpSpPr>
        <p:sp>
          <p:nvSpPr>
            <p:cNvPr id="7" name="Freeform 7"/>
            <p:cNvSpPr/>
            <p:nvPr/>
          </p:nvSpPr>
          <p:spPr>
            <a:xfrm>
              <a:off x="0" y="0"/>
              <a:ext cx="6698093" cy="1975927"/>
            </a:xfrm>
            <a:custGeom>
              <a:avLst/>
              <a:gdLst/>
              <a:ahLst/>
              <a:cxnLst/>
              <a:rect l="l" t="t" r="r" b="b"/>
              <a:pathLst>
                <a:path w="6698093" h="1975927">
                  <a:moveTo>
                    <a:pt x="35701" y="0"/>
                  </a:moveTo>
                  <a:lnTo>
                    <a:pt x="6662393" y="0"/>
                  </a:lnTo>
                  <a:cubicBezTo>
                    <a:pt x="6671861" y="0"/>
                    <a:pt x="6680942" y="3761"/>
                    <a:pt x="6687637" y="10456"/>
                  </a:cubicBezTo>
                  <a:cubicBezTo>
                    <a:pt x="6694332" y="17152"/>
                    <a:pt x="6698093" y="26232"/>
                    <a:pt x="6698093" y="35701"/>
                  </a:cubicBezTo>
                  <a:lnTo>
                    <a:pt x="6698093" y="1940227"/>
                  </a:lnTo>
                  <a:cubicBezTo>
                    <a:pt x="6698093" y="1949695"/>
                    <a:pt x="6694332" y="1958776"/>
                    <a:pt x="6687637" y="1965471"/>
                  </a:cubicBezTo>
                  <a:cubicBezTo>
                    <a:pt x="6680942" y="1972166"/>
                    <a:pt x="6671861" y="1975927"/>
                    <a:pt x="6662393" y="1975927"/>
                  </a:cubicBezTo>
                  <a:lnTo>
                    <a:pt x="35701" y="1975927"/>
                  </a:lnTo>
                  <a:cubicBezTo>
                    <a:pt x="15984" y="1975927"/>
                    <a:pt x="0" y="1959944"/>
                    <a:pt x="0" y="1940227"/>
                  </a:cubicBezTo>
                  <a:lnTo>
                    <a:pt x="0" y="35701"/>
                  </a:lnTo>
                  <a:cubicBezTo>
                    <a:pt x="0" y="26232"/>
                    <a:pt x="3761" y="17152"/>
                    <a:pt x="10456" y="10456"/>
                  </a:cubicBezTo>
                  <a:cubicBezTo>
                    <a:pt x="17152" y="3761"/>
                    <a:pt x="26232" y="0"/>
                    <a:pt x="35701" y="0"/>
                  </a:cubicBezTo>
                  <a:close/>
                </a:path>
              </a:pathLst>
            </a:custGeom>
            <a:solidFill>
              <a:srgbClr val="EA9186"/>
            </a:solidFill>
          </p:spPr>
        </p:sp>
        <p:sp>
          <p:nvSpPr>
            <p:cNvPr id="8" name="TextBox 8"/>
            <p:cNvSpPr txBox="1"/>
            <p:nvPr/>
          </p:nvSpPr>
          <p:spPr>
            <a:xfrm>
              <a:off x="0" y="-28575"/>
              <a:ext cx="6698093" cy="2004503"/>
            </a:xfrm>
            <a:prstGeom prst="rect">
              <a:avLst/>
            </a:prstGeom>
          </p:spPr>
          <p:txBody>
            <a:bodyPr lIns="50800" tIns="50800" rIns="50800" bIns="50800" rtlCol="0" anchor="ctr"/>
            <a:lstStyle/>
            <a:p>
              <a:pPr algn="ctr">
                <a:lnSpc>
                  <a:spcPts val="1960"/>
                </a:lnSpc>
                <a:spcBef>
                  <a:spcPct val="0"/>
                </a:spcBef>
              </a:pPr>
              <a:endParaRPr/>
            </a:p>
          </p:txBody>
        </p:sp>
      </p:grpSp>
      <p:sp>
        <p:nvSpPr>
          <p:cNvPr id="9" name="TextBox 9"/>
          <p:cNvSpPr txBox="1"/>
          <p:nvPr/>
        </p:nvSpPr>
        <p:spPr>
          <a:xfrm>
            <a:off x="9432241" y="2474781"/>
            <a:ext cx="1457302" cy="614130"/>
          </a:xfrm>
          <a:prstGeom prst="rect">
            <a:avLst/>
          </a:prstGeom>
        </p:spPr>
        <p:txBody>
          <a:bodyPr lIns="0" tIns="0" rIns="0" bIns="0" rtlCol="0" anchor="t">
            <a:spAutoFit/>
          </a:bodyPr>
          <a:lstStyle/>
          <a:p>
            <a:pPr marL="0" lvl="0" indent="0" algn="ctr">
              <a:lnSpc>
                <a:spcPts val="4552"/>
              </a:lnSpc>
              <a:spcBef>
                <a:spcPct val="0"/>
              </a:spcBef>
            </a:pPr>
            <a:r>
              <a:rPr lang="en-US" sz="4948" spc="-202">
                <a:solidFill>
                  <a:srgbClr val="FFFFFF"/>
                </a:solidFill>
                <a:latin typeface="Open Sauce"/>
                <a:ea typeface="Open Sauce"/>
                <a:cs typeface="Open Sauce"/>
                <a:sym typeface="Open Sauce"/>
              </a:rPr>
              <a:t>03</a:t>
            </a:r>
          </a:p>
        </p:txBody>
      </p:sp>
      <p:sp>
        <p:nvSpPr>
          <p:cNvPr id="10" name="TextBox 10"/>
          <p:cNvSpPr txBox="1"/>
          <p:nvPr/>
        </p:nvSpPr>
        <p:spPr>
          <a:xfrm>
            <a:off x="9432241" y="5393419"/>
            <a:ext cx="1457302" cy="614130"/>
          </a:xfrm>
          <a:prstGeom prst="rect">
            <a:avLst/>
          </a:prstGeom>
        </p:spPr>
        <p:txBody>
          <a:bodyPr lIns="0" tIns="0" rIns="0" bIns="0" rtlCol="0" anchor="t">
            <a:spAutoFit/>
          </a:bodyPr>
          <a:lstStyle/>
          <a:p>
            <a:pPr marL="0" lvl="0" indent="0" algn="ctr">
              <a:lnSpc>
                <a:spcPts val="4552"/>
              </a:lnSpc>
              <a:spcBef>
                <a:spcPct val="0"/>
              </a:spcBef>
            </a:pPr>
            <a:r>
              <a:rPr lang="en-US" sz="4948" spc="-202">
                <a:solidFill>
                  <a:srgbClr val="FFFFFF"/>
                </a:solidFill>
                <a:latin typeface="Open Sauce"/>
                <a:ea typeface="Open Sauce"/>
                <a:cs typeface="Open Sauce"/>
                <a:sym typeface="Open Sauce"/>
              </a:rPr>
              <a:t>04</a:t>
            </a:r>
          </a:p>
        </p:txBody>
      </p:sp>
      <p:grpSp>
        <p:nvGrpSpPr>
          <p:cNvPr id="11" name="Group 11"/>
          <p:cNvGrpSpPr/>
          <p:nvPr/>
        </p:nvGrpSpPr>
        <p:grpSpPr>
          <a:xfrm>
            <a:off x="9432241" y="7302974"/>
            <a:ext cx="8240557" cy="2507380"/>
            <a:chOff x="0" y="0"/>
            <a:chExt cx="6493927" cy="1975928"/>
          </a:xfrm>
        </p:grpSpPr>
        <p:sp>
          <p:nvSpPr>
            <p:cNvPr id="12" name="Freeform 12"/>
            <p:cNvSpPr/>
            <p:nvPr/>
          </p:nvSpPr>
          <p:spPr>
            <a:xfrm>
              <a:off x="0" y="0"/>
              <a:ext cx="6493927" cy="1975927"/>
            </a:xfrm>
            <a:custGeom>
              <a:avLst/>
              <a:gdLst/>
              <a:ahLst/>
              <a:cxnLst/>
              <a:rect l="l" t="t" r="r" b="b"/>
              <a:pathLst>
                <a:path w="6493927" h="1975927">
                  <a:moveTo>
                    <a:pt x="35701" y="0"/>
                  </a:moveTo>
                  <a:lnTo>
                    <a:pt x="6458226" y="0"/>
                  </a:lnTo>
                  <a:cubicBezTo>
                    <a:pt x="6467695" y="0"/>
                    <a:pt x="6476775" y="3761"/>
                    <a:pt x="6483471" y="10456"/>
                  </a:cubicBezTo>
                  <a:cubicBezTo>
                    <a:pt x="6490165" y="17152"/>
                    <a:pt x="6493927" y="26232"/>
                    <a:pt x="6493927" y="35701"/>
                  </a:cubicBezTo>
                  <a:lnTo>
                    <a:pt x="6493927" y="1940227"/>
                  </a:lnTo>
                  <a:cubicBezTo>
                    <a:pt x="6493927" y="1949695"/>
                    <a:pt x="6490165" y="1958776"/>
                    <a:pt x="6483471" y="1965471"/>
                  </a:cubicBezTo>
                  <a:cubicBezTo>
                    <a:pt x="6476775" y="1972166"/>
                    <a:pt x="6467695" y="1975927"/>
                    <a:pt x="6458226" y="1975927"/>
                  </a:cubicBezTo>
                  <a:lnTo>
                    <a:pt x="35701" y="1975927"/>
                  </a:lnTo>
                  <a:cubicBezTo>
                    <a:pt x="15984" y="1975927"/>
                    <a:pt x="0" y="1959944"/>
                    <a:pt x="0" y="1940227"/>
                  </a:cubicBezTo>
                  <a:lnTo>
                    <a:pt x="0" y="35701"/>
                  </a:lnTo>
                  <a:cubicBezTo>
                    <a:pt x="0" y="26232"/>
                    <a:pt x="3761" y="17152"/>
                    <a:pt x="10456" y="10456"/>
                  </a:cubicBezTo>
                  <a:cubicBezTo>
                    <a:pt x="17152" y="3761"/>
                    <a:pt x="26232" y="0"/>
                    <a:pt x="35701" y="0"/>
                  </a:cubicBezTo>
                  <a:close/>
                </a:path>
              </a:pathLst>
            </a:custGeom>
            <a:solidFill>
              <a:srgbClr val="0097B2"/>
            </a:solidFill>
          </p:spPr>
        </p:sp>
        <p:sp>
          <p:nvSpPr>
            <p:cNvPr id="13" name="TextBox 13"/>
            <p:cNvSpPr txBox="1"/>
            <p:nvPr/>
          </p:nvSpPr>
          <p:spPr>
            <a:xfrm>
              <a:off x="0" y="-28575"/>
              <a:ext cx="6493927" cy="2004503"/>
            </a:xfrm>
            <a:prstGeom prst="rect">
              <a:avLst/>
            </a:prstGeom>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9432241" y="8165399"/>
            <a:ext cx="1457302" cy="614004"/>
          </a:xfrm>
          <a:prstGeom prst="rect">
            <a:avLst/>
          </a:prstGeom>
        </p:spPr>
        <p:txBody>
          <a:bodyPr lIns="0" tIns="0" rIns="0" bIns="0" rtlCol="0" anchor="t">
            <a:spAutoFit/>
          </a:bodyPr>
          <a:lstStyle/>
          <a:p>
            <a:pPr marL="0" lvl="0" indent="0" algn="ctr">
              <a:lnSpc>
                <a:spcPts val="4549"/>
              </a:lnSpc>
              <a:spcBef>
                <a:spcPct val="0"/>
              </a:spcBef>
            </a:pPr>
            <a:r>
              <a:rPr lang="en-US" sz="4945" spc="-202">
                <a:solidFill>
                  <a:srgbClr val="FFFFFF"/>
                </a:solidFill>
                <a:latin typeface="Open Sauce"/>
                <a:ea typeface="Open Sauce"/>
                <a:cs typeface="Open Sauce"/>
                <a:sym typeface="Open Sauce"/>
              </a:rPr>
              <a:t>05</a:t>
            </a:r>
          </a:p>
        </p:txBody>
      </p:sp>
      <p:sp>
        <p:nvSpPr>
          <p:cNvPr id="15" name="TextBox 15"/>
          <p:cNvSpPr txBox="1"/>
          <p:nvPr/>
        </p:nvSpPr>
        <p:spPr>
          <a:xfrm>
            <a:off x="1217840" y="1837393"/>
            <a:ext cx="7110611" cy="1860815"/>
          </a:xfrm>
          <a:prstGeom prst="rect">
            <a:avLst/>
          </a:prstGeom>
        </p:spPr>
        <p:txBody>
          <a:bodyPr lIns="0" tIns="0" rIns="0" bIns="0" rtlCol="0" anchor="t">
            <a:spAutoFit/>
          </a:bodyPr>
          <a:lstStyle/>
          <a:p>
            <a:pPr marL="0" lvl="0" indent="0" algn="l">
              <a:lnSpc>
                <a:spcPts val="7310"/>
              </a:lnSpc>
              <a:spcBef>
                <a:spcPct val="0"/>
              </a:spcBef>
            </a:pPr>
            <a:r>
              <a:rPr lang="en-US" sz="6302" b="1" spc="-321">
                <a:solidFill>
                  <a:srgbClr val="004AAD"/>
                </a:solidFill>
                <a:latin typeface="Open Sauce Semi-Bold"/>
                <a:ea typeface="Open Sauce Semi-Bold"/>
                <a:cs typeface="Open Sauce Semi-Bold"/>
                <a:sym typeface="Open Sauce Semi-Bold"/>
              </a:rPr>
              <a:t>Business Recommendations</a:t>
            </a:r>
          </a:p>
        </p:txBody>
      </p:sp>
      <p:grpSp>
        <p:nvGrpSpPr>
          <p:cNvPr id="16" name="Group 16"/>
          <p:cNvGrpSpPr/>
          <p:nvPr/>
        </p:nvGrpSpPr>
        <p:grpSpPr>
          <a:xfrm>
            <a:off x="1028700" y="4458684"/>
            <a:ext cx="8115300" cy="2476318"/>
            <a:chOff x="0" y="0"/>
            <a:chExt cx="6475438" cy="1975928"/>
          </a:xfrm>
        </p:grpSpPr>
        <p:sp>
          <p:nvSpPr>
            <p:cNvPr id="17" name="Freeform 17"/>
            <p:cNvSpPr/>
            <p:nvPr/>
          </p:nvSpPr>
          <p:spPr>
            <a:xfrm>
              <a:off x="0" y="0"/>
              <a:ext cx="6475438" cy="1975927"/>
            </a:xfrm>
            <a:custGeom>
              <a:avLst/>
              <a:gdLst/>
              <a:ahLst/>
              <a:cxnLst/>
              <a:rect l="l" t="t" r="r" b="b"/>
              <a:pathLst>
                <a:path w="6475438" h="1975927">
                  <a:moveTo>
                    <a:pt x="36252" y="0"/>
                  </a:moveTo>
                  <a:lnTo>
                    <a:pt x="6439186" y="0"/>
                  </a:lnTo>
                  <a:cubicBezTo>
                    <a:pt x="6448801" y="0"/>
                    <a:pt x="6458022" y="3819"/>
                    <a:pt x="6464820" y="10618"/>
                  </a:cubicBezTo>
                  <a:cubicBezTo>
                    <a:pt x="6471619" y="17416"/>
                    <a:pt x="6475438" y="26637"/>
                    <a:pt x="6475438" y="36252"/>
                  </a:cubicBezTo>
                  <a:lnTo>
                    <a:pt x="6475438" y="1939676"/>
                  </a:lnTo>
                  <a:cubicBezTo>
                    <a:pt x="6475438" y="1949290"/>
                    <a:pt x="6471619" y="1958511"/>
                    <a:pt x="6464820" y="1965310"/>
                  </a:cubicBezTo>
                  <a:cubicBezTo>
                    <a:pt x="6458022" y="1972108"/>
                    <a:pt x="6448801" y="1975927"/>
                    <a:pt x="6439186" y="1975927"/>
                  </a:cubicBezTo>
                  <a:lnTo>
                    <a:pt x="36252" y="1975927"/>
                  </a:lnTo>
                  <a:cubicBezTo>
                    <a:pt x="26637" y="1975927"/>
                    <a:pt x="17416" y="1972108"/>
                    <a:pt x="10618" y="1965310"/>
                  </a:cubicBezTo>
                  <a:cubicBezTo>
                    <a:pt x="3819" y="1958511"/>
                    <a:pt x="0" y="1949290"/>
                    <a:pt x="0" y="1939676"/>
                  </a:cubicBezTo>
                  <a:lnTo>
                    <a:pt x="0" y="36252"/>
                  </a:lnTo>
                  <a:cubicBezTo>
                    <a:pt x="0" y="26637"/>
                    <a:pt x="3819" y="17416"/>
                    <a:pt x="10618" y="10618"/>
                  </a:cubicBezTo>
                  <a:cubicBezTo>
                    <a:pt x="17416" y="3819"/>
                    <a:pt x="26637" y="0"/>
                    <a:pt x="36252" y="0"/>
                  </a:cubicBezTo>
                  <a:close/>
                </a:path>
              </a:pathLst>
            </a:custGeom>
            <a:solidFill>
              <a:srgbClr val="0097B2"/>
            </a:solidFill>
          </p:spPr>
        </p:sp>
        <p:sp>
          <p:nvSpPr>
            <p:cNvPr id="18" name="TextBox 18"/>
            <p:cNvSpPr txBox="1"/>
            <p:nvPr/>
          </p:nvSpPr>
          <p:spPr>
            <a:xfrm>
              <a:off x="0" y="-28575"/>
              <a:ext cx="6475438" cy="2004503"/>
            </a:xfrm>
            <a:prstGeom prst="rect">
              <a:avLst/>
            </a:prstGeom>
          </p:spPr>
          <p:txBody>
            <a:bodyPr lIns="50800" tIns="50800" rIns="50800" bIns="50800" rtlCol="0" anchor="ctr"/>
            <a:lstStyle/>
            <a:p>
              <a:pPr algn="ctr">
                <a:lnSpc>
                  <a:spcPts val="1960"/>
                </a:lnSpc>
                <a:spcBef>
                  <a:spcPct val="0"/>
                </a:spcBef>
              </a:pPr>
              <a:endParaRPr/>
            </a:p>
          </p:txBody>
        </p:sp>
      </p:grpSp>
      <p:sp>
        <p:nvSpPr>
          <p:cNvPr id="19" name="TextBox 19"/>
          <p:cNvSpPr txBox="1"/>
          <p:nvPr/>
        </p:nvSpPr>
        <p:spPr>
          <a:xfrm>
            <a:off x="1028700" y="5312076"/>
            <a:ext cx="1435151" cy="614721"/>
          </a:xfrm>
          <a:prstGeom prst="rect">
            <a:avLst/>
          </a:prstGeom>
        </p:spPr>
        <p:txBody>
          <a:bodyPr lIns="0" tIns="0" rIns="0" bIns="0" rtlCol="0" anchor="t">
            <a:spAutoFit/>
          </a:bodyPr>
          <a:lstStyle/>
          <a:p>
            <a:pPr marL="0" lvl="0" indent="0" algn="ctr">
              <a:lnSpc>
                <a:spcPts val="4568"/>
              </a:lnSpc>
              <a:spcBef>
                <a:spcPct val="0"/>
              </a:spcBef>
            </a:pPr>
            <a:r>
              <a:rPr lang="en-US" sz="4965" spc="-203">
                <a:solidFill>
                  <a:srgbClr val="FFFFFF"/>
                </a:solidFill>
                <a:latin typeface="Open Sauce"/>
                <a:ea typeface="Open Sauce"/>
                <a:cs typeface="Open Sauce"/>
                <a:sym typeface="Open Sauce"/>
              </a:rPr>
              <a:t>01</a:t>
            </a:r>
          </a:p>
        </p:txBody>
      </p:sp>
      <p:sp>
        <p:nvSpPr>
          <p:cNvPr id="20" name="TextBox 20"/>
          <p:cNvSpPr txBox="1"/>
          <p:nvPr/>
        </p:nvSpPr>
        <p:spPr>
          <a:xfrm>
            <a:off x="2463851" y="4606643"/>
            <a:ext cx="6198729" cy="2216654"/>
          </a:xfrm>
          <a:prstGeom prst="rect">
            <a:avLst/>
          </a:prstGeom>
        </p:spPr>
        <p:txBody>
          <a:bodyPr lIns="0" tIns="0" rIns="0" bIns="0" rtlCol="0" anchor="t">
            <a:spAutoFit/>
          </a:bodyPr>
          <a:lstStyle/>
          <a:p>
            <a:pPr marL="0" lvl="0" indent="0" algn="ctr">
              <a:lnSpc>
                <a:spcPts val="2894"/>
              </a:lnSpc>
            </a:pPr>
            <a:r>
              <a:rPr lang="en-US" sz="2244" b="1">
                <a:solidFill>
                  <a:srgbClr val="FFFFFF"/>
                </a:solidFill>
                <a:latin typeface="Open Sauce Bold"/>
                <a:ea typeface="Open Sauce Bold"/>
                <a:cs typeface="Open Sauce Bold"/>
                <a:sym typeface="Open Sauce Bold"/>
              </a:rPr>
              <a:t>Incre</a:t>
            </a:r>
            <a:r>
              <a:rPr lang="en-US" sz="2244" b="1" u="none">
                <a:solidFill>
                  <a:srgbClr val="FFFFFF"/>
                </a:solidFill>
                <a:latin typeface="Open Sauce Bold"/>
                <a:ea typeface="Open Sauce Bold"/>
                <a:cs typeface="Open Sauce Bold"/>
                <a:sym typeface="Open Sauce Bold"/>
              </a:rPr>
              <a:t>ase Relationship Depth</a:t>
            </a:r>
          </a:p>
          <a:p>
            <a:pPr marL="0" lvl="0" indent="0" algn="ctr">
              <a:lnSpc>
                <a:spcPts val="2894"/>
              </a:lnSpc>
            </a:pPr>
            <a:endParaRPr lang="en-US" sz="2244" b="1" u="none">
              <a:solidFill>
                <a:srgbClr val="FFFFFF"/>
              </a:solidFill>
              <a:latin typeface="Open Sauce Bold"/>
              <a:ea typeface="Open Sauce Bold"/>
              <a:cs typeface="Open Sauce Bold"/>
              <a:sym typeface="Open Sauce Bold"/>
            </a:endParaRPr>
          </a:p>
          <a:p>
            <a:pPr marL="0" lvl="0" indent="0" algn="ctr">
              <a:lnSpc>
                <a:spcPts val="2507"/>
              </a:lnSpc>
            </a:pPr>
            <a:r>
              <a:rPr lang="en-US" sz="1944" b="1" u="none">
                <a:solidFill>
                  <a:srgbClr val="FFFFFF"/>
                </a:solidFill>
                <a:latin typeface="Open Sauce Bold"/>
                <a:ea typeface="Open Sauce Bold"/>
                <a:cs typeface="Open Sauce Bold"/>
                <a:sym typeface="Open Sauce Bold"/>
              </a:rPr>
              <a:t>Customers with fewer banking products (e.g., only one account) churn more easily. Encouraging them to add savings accounts, credit cards, or other services helps increase loyalty.</a:t>
            </a:r>
          </a:p>
          <a:p>
            <a:pPr marL="0" lvl="0" indent="0" algn="just">
              <a:lnSpc>
                <a:spcPts val="2008"/>
              </a:lnSpc>
            </a:pPr>
            <a:endParaRPr lang="en-US" sz="1944" b="1" u="none">
              <a:solidFill>
                <a:srgbClr val="FFFFFF"/>
              </a:solidFill>
              <a:latin typeface="Open Sauce Bold"/>
              <a:ea typeface="Open Sauce Bold"/>
              <a:cs typeface="Open Sauce Bold"/>
              <a:sym typeface="Open Sauce Bold"/>
            </a:endParaRPr>
          </a:p>
        </p:txBody>
      </p:sp>
      <p:grpSp>
        <p:nvGrpSpPr>
          <p:cNvPr id="21" name="Group 21"/>
          <p:cNvGrpSpPr/>
          <p:nvPr/>
        </p:nvGrpSpPr>
        <p:grpSpPr>
          <a:xfrm>
            <a:off x="1028700" y="7401216"/>
            <a:ext cx="8115300" cy="2410077"/>
            <a:chOff x="0" y="0"/>
            <a:chExt cx="6653416" cy="1975928"/>
          </a:xfrm>
        </p:grpSpPr>
        <p:sp>
          <p:nvSpPr>
            <p:cNvPr id="22" name="Freeform 22"/>
            <p:cNvSpPr/>
            <p:nvPr/>
          </p:nvSpPr>
          <p:spPr>
            <a:xfrm>
              <a:off x="0" y="0"/>
              <a:ext cx="6653416" cy="1975927"/>
            </a:xfrm>
            <a:custGeom>
              <a:avLst/>
              <a:gdLst/>
              <a:ahLst/>
              <a:cxnLst/>
              <a:rect l="l" t="t" r="r" b="b"/>
              <a:pathLst>
                <a:path w="6653416" h="1975927">
                  <a:moveTo>
                    <a:pt x="36252" y="0"/>
                  </a:moveTo>
                  <a:lnTo>
                    <a:pt x="6617165" y="0"/>
                  </a:lnTo>
                  <a:cubicBezTo>
                    <a:pt x="6626779" y="0"/>
                    <a:pt x="6636000" y="3819"/>
                    <a:pt x="6642798" y="10618"/>
                  </a:cubicBezTo>
                  <a:cubicBezTo>
                    <a:pt x="6649597" y="17416"/>
                    <a:pt x="6653416" y="26637"/>
                    <a:pt x="6653416" y="36252"/>
                  </a:cubicBezTo>
                  <a:lnTo>
                    <a:pt x="6653416" y="1939676"/>
                  </a:lnTo>
                  <a:cubicBezTo>
                    <a:pt x="6653416" y="1949290"/>
                    <a:pt x="6649597" y="1958511"/>
                    <a:pt x="6642798" y="1965310"/>
                  </a:cubicBezTo>
                  <a:cubicBezTo>
                    <a:pt x="6636000" y="1972108"/>
                    <a:pt x="6626779" y="1975927"/>
                    <a:pt x="6617165" y="1975927"/>
                  </a:cubicBezTo>
                  <a:lnTo>
                    <a:pt x="36252" y="1975927"/>
                  </a:lnTo>
                  <a:cubicBezTo>
                    <a:pt x="26637" y="1975927"/>
                    <a:pt x="17416" y="1972108"/>
                    <a:pt x="10618" y="1965310"/>
                  </a:cubicBezTo>
                  <a:cubicBezTo>
                    <a:pt x="3819" y="1958511"/>
                    <a:pt x="0" y="1949290"/>
                    <a:pt x="0" y="1939676"/>
                  </a:cubicBezTo>
                  <a:lnTo>
                    <a:pt x="0" y="36252"/>
                  </a:lnTo>
                  <a:cubicBezTo>
                    <a:pt x="0" y="26637"/>
                    <a:pt x="3819" y="17416"/>
                    <a:pt x="10618" y="10618"/>
                  </a:cubicBezTo>
                  <a:cubicBezTo>
                    <a:pt x="17416" y="3819"/>
                    <a:pt x="26637" y="0"/>
                    <a:pt x="36252" y="0"/>
                  </a:cubicBezTo>
                  <a:close/>
                </a:path>
              </a:pathLst>
            </a:custGeom>
            <a:solidFill>
              <a:srgbClr val="EA9186"/>
            </a:solidFill>
          </p:spPr>
        </p:sp>
        <p:sp>
          <p:nvSpPr>
            <p:cNvPr id="23" name="TextBox 23"/>
            <p:cNvSpPr txBox="1"/>
            <p:nvPr/>
          </p:nvSpPr>
          <p:spPr>
            <a:xfrm>
              <a:off x="0" y="-28575"/>
              <a:ext cx="6653416" cy="2004503"/>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2185224" y="7504866"/>
            <a:ext cx="6764234" cy="2510370"/>
          </a:xfrm>
          <a:prstGeom prst="rect">
            <a:avLst/>
          </a:prstGeom>
        </p:spPr>
        <p:txBody>
          <a:bodyPr lIns="0" tIns="0" rIns="0" bIns="0" rtlCol="0" anchor="t">
            <a:spAutoFit/>
          </a:bodyPr>
          <a:lstStyle/>
          <a:p>
            <a:pPr marL="0" lvl="0" indent="0" algn="ctr">
              <a:lnSpc>
                <a:spcPts val="2882"/>
              </a:lnSpc>
            </a:pPr>
            <a:r>
              <a:rPr lang="en-US" sz="2234" b="1">
                <a:solidFill>
                  <a:srgbClr val="FFFFFF"/>
                </a:solidFill>
                <a:latin typeface="Open Sauce Bold"/>
                <a:ea typeface="Open Sauce Bold"/>
                <a:cs typeface="Open Sauce Bold"/>
                <a:sym typeface="Open Sauce Bold"/>
              </a:rPr>
              <a:t>T</a:t>
            </a:r>
            <a:r>
              <a:rPr lang="en-US" sz="2234" b="1" u="none">
                <a:solidFill>
                  <a:srgbClr val="FFFFFF"/>
                </a:solidFill>
                <a:latin typeface="Open Sauce Bold"/>
                <a:ea typeface="Open Sauce Bold"/>
                <a:cs typeface="Open Sauce Bold"/>
                <a:sym typeface="Open Sauce Bold"/>
              </a:rPr>
              <a:t>rack and React to Inactive Customers</a:t>
            </a:r>
          </a:p>
          <a:p>
            <a:pPr marL="0" lvl="0" indent="0" algn="ctr">
              <a:lnSpc>
                <a:spcPts val="2501"/>
              </a:lnSpc>
            </a:pPr>
            <a:endParaRPr lang="en-US" sz="2234" b="1" u="none">
              <a:solidFill>
                <a:srgbClr val="FFFFFF"/>
              </a:solidFill>
              <a:latin typeface="Open Sauce Bold"/>
              <a:ea typeface="Open Sauce Bold"/>
              <a:cs typeface="Open Sauce Bold"/>
              <a:sym typeface="Open Sauce Bold"/>
            </a:endParaRPr>
          </a:p>
          <a:p>
            <a:pPr marL="0" lvl="0" indent="0" algn="ctr">
              <a:lnSpc>
                <a:spcPts val="2501"/>
              </a:lnSpc>
            </a:pPr>
            <a:r>
              <a:rPr lang="en-US" sz="1939" b="1" u="none">
                <a:solidFill>
                  <a:srgbClr val="FFFFFF"/>
                </a:solidFill>
                <a:latin typeface="Open Sauce Bold"/>
                <a:ea typeface="Open Sauce Bold"/>
                <a:cs typeface="Open Sauce Bold"/>
                <a:sym typeface="Open Sauce Bold"/>
              </a:rPr>
              <a:t>A long period of inactivity is a strong churn signal. Sending reactivation messages, offering incentives, or having relationship managers reach out can help reduce this risk.</a:t>
            </a:r>
          </a:p>
          <a:p>
            <a:pPr marL="0" lvl="0" indent="0" algn="l">
              <a:lnSpc>
                <a:spcPts val="2372"/>
              </a:lnSpc>
            </a:pPr>
            <a:endParaRPr lang="en-US" sz="1939" b="1" u="none">
              <a:solidFill>
                <a:srgbClr val="FFFFFF"/>
              </a:solidFill>
              <a:latin typeface="Open Sauce Bold"/>
              <a:ea typeface="Open Sauce Bold"/>
              <a:cs typeface="Open Sauce Bold"/>
              <a:sym typeface="Open Sauce Bold"/>
            </a:endParaRPr>
          </a:p>
          <a:p>
            <a:pPr marL="0" lvl="0" indent="0" algn="l">
              <a:lnSpc>
                <a:spcPts val="2372"/>
              </a:lnSpc>
            </a:pPr>
            <a:endParaRPr lang="en-US" sz="1939" b="1" u="none">
              <a:solidFill>
                <a:srgbClr val="FFFFFF"/>
              </a:solidFill>
              <a:latin typeface="Open Sauce Bold"/>
              <a:ea typeface="Open Sauce Bold"/>
              <a:cs typeface="Open Sauce Bold"/>
              <a:sym typeface="Open Sauce Bold"/>
            </a:endParaRPr>
          </a:p>
        </p:txBody>
      </p:sp>
      <p:sp>
        <p:nvSpPr>
          <p:cNvPr id="25" name="TextBox 25"/>
          <p:cNvSpPr txBox="1"/>
          <p:nvPr/>
        </p:nvSpPr>
        <p:spPr>
          <a:xfrm>
            <a:off x="1062921" y="8223312"/>
            <a:ext cx="1375682" cy="612453"/>
          </a:xfrm>
          <a:prstGeom prst="rect">
            <a:avLst/>
          </a:prstGeom>
        </p:spPr>
        <p:txBody>
          <a:bodyPr lIns="0" tIns="0" rIns="0" bIns="0" rtlCol="0" anchor="t">
            <a:spAutoFit/>
          </a:bodyPr>
          <a:lstStyle/>
          <a:p>
            <a:pPr marL="0" lvl="0" indent="0" algn="ctr">
              <a:lnSpc>
                <a:spcPts val="4509"/>
              </a:lnSpc>
              <a:spcBef>
                <a:spcPct val="0"/>
              </a:spcBef>
            </a:pPr>
            <a:r>
              <a:rPr lang="en-US" sz="4901" spc="-200">
                <a:solidFill>
                  <a:srgbClr val="FFFFFF"/>
                </a:solidFill>
                <a:latin typeface="Open Sauce"/>
                <a:ea typeface="Open Sauce"/>
                <a:cs typeface="Open Sauce"/>
                <a:sym typeface="Open Sauce"/>
              </a:rPr>
              <a:t>02</a:t>
            </a:r>
          </a:p>
        </p:txBody>
      </p:sp>
      <p:sp>
        <p:nvSpPr>
          <p:cNvPr id="26" name="TextBox 26"/>
          <p:cNvSpPr txBox="1"/>
          <p:nvPr/>
        </p:nvSpPr>
        <p:spPr>
          <a:xfrm>
            <a:off x="10579151" y="1738556"/>
            <a:ext cx="6990541" cy="2557839"/>
          </a:xfrm>
          <a:prstGeom prst="rect">
            <a:avLst/>
          </a:prstGeom>
        </p:spPr>
        <p:txBody>
          <a:bodyPr lIns="0" tIns="0" rIns="0" bIns="0" rtlCol="0" anchor="t">
            <a:spAutoFit/>
          </a:bodyPr>
          <a:lstStyle/>
          <a:p>
            <a:pPr marL="0" lvl="0" indent="0" algn="ctr">
              <a:lnSpc>
                <a:spcPts val="2894"/>
              </a:lnSpc>
            </a:pPr>
            <a:r>
              <a:rPr lang="en-US" sz="2244" b="1">
                <a:solidFill>
                  <a:srgbClr val="FFFFFF"/>
                </a:solidFill>
                <a:latin typeface="Open Sauce Bold"/>
                <a:ea typeface="Open Sauce Bold"/>
                <a:cs typeface="Open Sauce Bold"/>
                <a:sym typeface="Open Sauce Bold"/>
              </a:rPr>
              <a:t> Monitor </a:t>
            </a:r>
            <a:r>
              <a:rPr lang="en-US" sz="2244" b="1" u="none">
                <a:solidFill>
                  <a:srgbClr val="FFFFFF"/>
                </a:solidFill>
                <a:latin typeface="Open Sauce Bold"/>
                <a:ea typeface="Open Sauce Bold"/>
                <a:cs typeface="Open Sauce Bold"/>
                <a:sym typeface="Open Sauce Bold"/>
              </a:rPr>
              <a:t>Low-Engagement Customers</a:t>
            </a:r>
          </a:p>
          <a:p>
            <a:pPr marL="0" lvl="0" indent="0" algn="ctr">
              <a:lnSpc>
                <a:spcPts val="2894"/>
              </a:lnSpc>
            </a:pPr>
            <a:endParaRPr lang="en-US" sz="2244" b="1" u="none">
              <a:solidFill>
                <a:srgbClr val="FFFFFF"/>
              </a:solidFill>
              <a:latin typeface="Open Sauce Bold"/>
              <a:ea typeface="Open Sauce Bold"/>
              <a:cs typeface="Open Sauce Bold"/>
              <a:sym typeface="Open Sauce Bold"/>
            </a:endParaRPr>
          </a:p>
          <a:p>
            <a:pPr marL="0" lvl="0" indent="0" algn="ctr">
              <a:lnSpc>
                <a:spcPts val="2524"/>
              </a:lnSpc>
            </a:pPr>
            <a:r>
              <a:rPr lang="en-US" sz="1956" b="1" u="none">
                <a:solidFill>
                  <a:srgbClr val="FFFFFF"/>
                </a:solidFill>
                <a:latin typeface="Open Sauce Bold"/>
                <a:ea typeface="Open Sauce Bold"/>
                <a:cs typeface="Open Sauce Bold"/>
                <a:sym typeface="Open Sauce Bold"/>
              </a:rPr>
              <a:t>Customers with low transaction counts or low activity levels are more likely to leave. The bank should identify these customers early and re-engage them through personalized offers or reminders.</a:t>
            </a:r>
          </a:p>
          <a:p>
            <a:pPr marL="0" lvl="0" indent="0" algn="ctr">
              <a:lnSpc>
                <a:spcPts val="2395"/>
              </a:lnSpc>
            </a:pPr>
            <a:endParaRPr lang="en-US" sz="1956" b="1" u="none">
              <a:solidFill>
                <a:srgbClr val="FFFFFF"/>
              </a:solidFill>
              <a:latin typeface="Open Sauce Bold"/>
              <a:ea typeface="Open Sauce Bold"/>
              <a:cs typeface="Open Sauce Bold"/>
              <a:sym typeface="Open Sauce Bold"/>
            </a:endParaRPr>
          </a:p>
          <a:p>
            <a:pPr marL="0" lvl="0" indent="0" algn="ctr">
              <a:lnSpc>
                <a:spcPts val="2395"/>
              </a:lnSpc>
            </a:pPr>
            <a:endParaRPr lang="en-US" sz="1956" b="1" u="none">
              <a:solidFill>
                <a:srgbClr val="FFFFFF"/>
              </a:solidFill>
              <a:latin typeface="Open Sauce Bold"/>
              <a:ea typeface="Open Sauce Bold"/>
              <a:cs typeface="Open Sauce Bold"/>
              <a:sym typeface="Open Sauce Bold"/>
            </a:endParaRPr>
          </a:p>
        </p:txBody>
      </p:sp>
      <p:sp>
        <p:nvSpPr>
          <p:cNvPr id="27" name="TextBox 27"/>
          <p:cNvSpPr txBox="1"/>
          <p:nvPr/>
        </p:nvSpPr>
        <p:spPr>
          <a:xfrm>
            <a:off x="10315552" y="4657386"/>
            <a:ext cx="7357247" cy="2139882"/>
          </a:xfrm>
          <a:prstGeom prst="rect">
            <a:avLst/>
          </a:prstGeom>
        </p:spPr>
        <p:txBody>
          <a:bodyPr lIns="0" tIns="0" rIns="0" bIns="0" rtlCol="0" anchor="t">
            <a:spAutoFit/>
          </a:bodyPr>
          <a:lstStyle/>
          <a:p>
            <a:pPr marL="0" lvl="0" indent="0" algn="ctr">
              <a:lnSpc>
                <a:spcPts val="2765"/>
              </a:lnSpc>
            </a:pPr>
            <a:r>
              <a:rPr lang="en-US" sz="2144" b="1">
                <a:solidFill>
                  <a:srgbClr val="FFFFFF"/>
                </a:solidFill>
                <a:latin typeface="Open Sauce Bold"/>
                <a:ea typeface="Open Sauce Bold"/>
                <a:cs typeface="Open Sauce Bold"/>
                <a:sym typeface="Open Sauce Bold"/>
              </a:rPr>
              <a:t>Suppor</a:t>
            </a:r>
            <a:r>
              <a:rPr lang="en-US" sz="2144" b="1" u="none">
                <a:solidFill>
                  <a:srgbClr val="FFFFFF"/>
                </a:solidFill>
                <a:latin typeface="Open Sauce Bold"/>
                <a:ea typeface="Open Sauce Bold"/>
                <a:cs typeface="Open Sauce Bold"/>
                <a:sym typeface="Open Sauce Bold"/>
              </a:rPr>
              <a:t>t Customers With High Complaint Frequency</a:t>
            </a:r>
          </a:p>
          <a:p>
            <a:pPr marL="0" lvl="0" indent="0" algn="ctr">
              <a:lnSpc>
                <a:spcPts val="2765"/>
              </a:lnSpc>
            </a:pPr>
            <a:endParaRPr lang="en-US" sz="2144" b="1" u="none">
              <a:solidFill>
                <a:srgbClr val="FFFFFF"/>
              </a:solidFill>
              <a:latin typeface="Open Sauce Bold"/>
              <a:ea typeface="Open Sauce Bold"/>
              <a:cs typeface="Open Sauce Bold"/>
              <a:sym typeface="Open Sauce Bold"/>
            </a:endParaRPr>
          </a:p>
          <a:p>
            <a:pPr marL="0" lvl="0" indent="0" algn="ctr">
              <a:lnSpc>
                <a:spcPts val="2378"/>
              </a:lnSpc>
            </a:pPr>
            <a:r>
              <a:rPr lang="en-US" sz="1844" b="1" u="none">
                <a:solidFill>
                  <a:srgbClr val="FFFFFF"/>
                </a:solidFill>
                <a:latin typeface="Open Sauce Bold"/>
                <a:ea typeface="Open Sauce Bold"/>
                <a:cs typeface="Open Sauce Bold"/>
                <a:sym typeface="Open Sauce Bold"/>
              </a:rPr>
              <a:t>Customers who contact the bank many times are usually frustrated. The bank should investigate common issues, improve service quality, and provide quicker support to prevent them from leaving.</a:t>
            </a:r>
          </a:p>
          <a:p>
            <a:pPr marL="0" lvl="0" indent="0" algn="ctr">
              <a:lnSpc>
                <a:spcPts val="2266"/>
              </a:lnSpc>
            </a:pPr>
            <a:endParaRPr lang="en-US" sz="1844" b="1" u="none">
              <a:solidFill>
                <a:srgbClr val="FFFFFF"/>
              </a:solidFill>
              <a:latin typeface="Open Sauce Bold"/>
              <a:ea typeface="Open Sauce Bold"/>
              <a:cs typeface="Open Sauce Bold"/>
              <a:sym typeface="Open Sauce Bold"/>
            </a:endParaRPr>
          </a:p>
        </p:txBody>
      </p:sp>
      <p:sp>
        <p:nvSpPr>
          <p:cNvPr id="28" name="TextBox 28"/>
          <p:cNvSpPr txBox="1"/>
          <p:nvPr/>
        </p:nvSpPr>
        <p:spPr>
          <a:xfrm>
            <a:off x="10579151" y="7523903"/>
            <a:ext cx="6990541" cy="2130835"/>
          </a:xfrm>
          <a:prstGeom prst="rect">
            <a:avLst/>
          </a:prstGeom>
        </p:spPr>
        <p:txBody>
          <a:bodyPr lIns="0" tIns="0" rIns="0" bIns="0" rtlCol="0" anchor="t">
            <a:spAutoFit/>
          </a:bodyPr>
          <a:lstStyle/>
          <a:p>
            <a:pPr marL="0" lvl="0" indent="0" algn="ctr">
              <a:lnSpc>
                <a:spcPts val="2852"/>
              </a:lnSpc>
            </a:pPr>
            <a:r>
              <a:rPr lang="en-US" sz="2211" b="1">
                <a:solidFill>
                  <a:srgbClr val="FFFFFF"/>
                </a:solidFill>
                <a:latin typeface="Open Sauce Bold"/>
                <a:ea typeface="Open Sauce Bold"/>
                <a:cs typeface="Open Sauce Bold"/>
                <a:sym typeface="Open Sauce Bold"/>
              </a:rPr>
              <a:t>U</a:t>
            </a:r>
            <a:r>
              <a:rPr lang="en-US" sz="2211" b="1" u="none">
                <a:solidFill>
                  <a:srgbClr val="FFFFFF"/>
                </a:solidFill>
                <a:latin typeface="Open Sauce Bold"/>
                <a:ea typeface="Open Sauce Bold"/>
                <a:cs typeface="Open Sauce Bold"/>
                <a:sym typeface="Open Sauce Bold"/>
              </a:rPr>
              <a:t>se the Churn Prediction Model Proactively</a:t>
            </a:r>
          </a:p>
          <a:p>
            <a:pPr marL="0" lvl="0" indent="0" algn="ctr">
              <a:lnSpc>
                <a:spcPts val="2459"/>
              </a:lnSpc>
            </a:pPr>
            <a:endParaRPr lang="en-US" sz="2211" b="1" u="none">
              <a:solidFill>
                <a:srgbClr val="FFFFFF"/>
              </a:solidFill>
              <a:latin typeface="Open Sauce Bold"/>
              <a:ea typeface="Open Sauce Bold"/>
              <a:cs typeface="Open Sauce Bold"/>
              <a:sym typeface="Open Sauce Bold"/>
            </a:endParaRPr>
          </a:p>
          <a:p>
            <a:pPr marL="0" lvl="0" indent="0" algn="ctr">
              <a:lnSpc>
                <a:spcPts val="2459"/>
              </a:lnSpc>
            </a:pPr>
            <a:r>
              <a:rPr lang="en-US" sz="1906" b="1" u="none">
                <a:solidFill>
                  <a:srgbClr val="FFFFFF"/>
                </a:solidFill>
                <a:latin typeface="Open Sauce Bold"/>
                <a:ea typeface="Open Sauce Bold"/>
                <a:cs typeface="Open Sauce Bold"/>
                <a:sym typeface="Open Sauce Bold"/>
              </a:rPr>
              <a:t>The XGBoost model can be used to assign a monthly churn score to each customer. High-risk customers should receive immediate attention, while medium-risk customers can be targeted with engagement strategies.</a:t>
            </a:r>
          </a:p>
          <a:p>
            <a:pPr marL="0" lvl="0" indent="0" algn="ctr">
              <a:lnSpc>
                <a:spcPts val="2071"/>
              </a:lnSpc>
            </a:pPr>
            <a:endParaRPr lang="en-US" sz="1906" b="1" u="none">
              <a:solidFill>
                <a:srgbClr val="FFFFFF"/>
              </a:solidFill>
              <a:latin typeface="Open Sauce Bold"/>
              <a:ea typeface="Open Sauce Bold"/>
              <a:cs typeface="Open Sauce Bold"/>
              <a:sym typeface="Open Sauce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9432241" y="1597975"/>
            <a:ext cx="8240557" cy="2430952"/>
            <a:chOff x="0" y="0"/>
            <a:chExt cx="6698093" cy="1975928"/>
          </a:xfrm>
        </p:grpSpPr>
        <p:sp>
          <p:nvSpPr>
            <p:cNvPr id="4" name="Freeform 4"/>
            <p:cNvSpPr/>
            <p:nvPr/>
          </p:nvSpPr>
          <p:spPr>
            <a:xfrm>
              <a:off x="0" y="0"/>
              <a:ext cx="6698093" cy="1975927"/>
            </a:xfrm>
            <a:custGeom>
              <a:avLst/>
              <a:gdLst/>
              <a:ahLst/>
              <a:cxnLst/>
              <a:rect l="l" t="t" r="r" b="b"/>
              <a:pathLst>
                <a:path w="6698093" h="1975927">
                  <a:moveTo>
                    <a:pt x="35701" y="0"/>
                  </a:moveTo>
                  <a:lnTo>
                    <a:pt x="6662393" y="0"/>
                  </a:lnTo>
                  <a:cubicBezTo>
                    <a:pt x="6671861" y="0"/>
                    <a:pt x="6680942" y="3761"/>
                    <a:pt x="6687637" y="10456"/>
                  </a:cubicBezTo>
                  <a:cubicBezTo>
                    <a:pt x="6694332" y="17152"/>
                    <a:pt x="6698093" y="26232"/>
                    <a:pt x="6698093" y="35701"/>
                  </a:cubicBezTo>
                  <a:lnTo>
                    <a:pt x="6698093" y="1940227"/>
                  </a:lnTo>
                  <a:cubicBezTo>
                    <a:pt x="6698093" y="1949695"/>
                    <a:pt x="6694332" y="1958776"/>
                    <a:pt x="6687637" y="1965471"/>
                  </a:cubicBezTo>
                  <a:cubicBezTo>
                    <a:pt x="6680942" y="1972166"/>
                    <a:pt x="6671861" y="1975927"/>
                    <a:pt x="6662393" y="1975927"/>
                  </a:cubicBezTo>
                  <a:lnTo>
                    <a:pt x="35701" y="1975927"/>
                  </a:lnTo>
                  <a:cubicBezTo>
                    <a:pt x="15984" y="1975927"/>
                    <a:pt x="0" y="1959944"/>
                    <a:pt x="0" y="1940227"/>
                  </a:cubicBezTo>
                  <a:lnTo>
                    <a:pt x="0" y="35701"/>
                  </a:lnTo>
                  <a:cubicBezTo>
                    <a:pt x="0" y="26232"/>
                    <a:pt x="3761" y="17152"/>
                    <a:pt x="10456" y="10456"/>
                  </a:cubicBezTo>
                  <a:cubicBezTo>
                    <a:pt x="17152" y="3761"/>
                    <a:pt x="26232" y="0"/>
                    <a:pt x="35701" y="0"/>
                  </a:cubicBezTo>
                  <a:close/>
                </a:path>
              </a:pathLst>
            </a:custGeom>
            <a:solidFill>
              <a:srgbClr val="0097B2"/>
            </a:solidFill>
          </p:spPr>
        </p:sp>
        <p:sp>
          <p:nvSpPr>
            <p:cNvPr id="5" name="TextBox 5"/>
            <p:cNvSpPr txBox="1"/>
            <p:nvPr/>
          </p:nvSpPr>
          <p:spPr>
            <a:xfrm>
              <a:off x="0" y="-28575"/>
              <a:ext cx="6698093" cy="2004503"/>
            </a:xfrm>
            <a:prstGeom prst="rect">
              <a:avLst/>
            </a:prstGeom>
          </p:spPr>
          <p:txBody>
            <a:bodyPr lIns="50800" tIns="50800" rIns="50800" bIns="50800" rtlCol="0" anchor="ctr"/>
            <a:lstStyle/>
            <a:p>
              <a:pPr algn="ctr">
                <a:lnSpc>
                  <a:spcPts val="1960"/>
                </a:lnSpc>
                <a:spcBef>
                  <a:spcPct val="0"/>
                </a:spcBef>
              </a:pPr>
              <a:endParaRPr/>
            </a:p>
          </p:txBody>
        </p:sp>
      </p:grpSp>
      <p:grpSp>
        <p:nvGrpSpPr>
          <p:cNvPr id="6" name="Group 6"/>
          <p:cNvGrpSpPr/>
          <p:nvPr/>
        </p:nvGrpSpPr>
        <p:grpSpPr>
          <a:xfrm>
            <a:off x="9432241" y="4516613"/>
            <a:ext cx="8240557" cy="2430952"/>
            <a:chOff x="0" y="0"/>
            <a:chExt cx="6698093" cy="1975928"/>
          </a:xfrm>
        </p:grpSpPr>
        <p:sp>
          <p:nvSpPr>
            <p:cNvPr id="7" name="Freeform 7"/>
            <p:cNvSpPr/>
            <p:nvPr/>
          </p:nvSpPr>
          <p:spPr>
            <a:xfrm>
              <a:off x="0" y="0"/>
              <a:ext cx="6698093" cy="1975927"/>
            </a:xfrm>
            <a:custGeom>
              <a:avLst/>
              <a:gdLst/>
              <a:ahLst/>
              <a:cxnLst/>
              <a:rect l="l" t="t" r="r" b="b"/>
              <a:pathLst>
                <a:path w="6698093" h="1975927">
                  <a:moveTo>
                    <a:pt x="35701" y="0"/>
                  </a:moveTo>
                  <a:lnTo>
                    <a:pt x="6662393" y="0"/>
                  </a:lnTo>
                  <a:cubicBezTo>
                    <a:pt x="6671861" y="0"/>
                    <a:pt x="6680942" y="3761"/>
                    <a:pt x="6687637" y="10456"/>
                  </a:cubicBezTo>
                  <a:cubicBezTo>
                    <a:pt x="6694332" y="17152"/>
                    <a:pt x="6698093" y="26232"/>
                    <a:pt x="6698093" y="35701"/>
                  </a:cubicBezTo>
                  <a:lnTo>
                    <a:pt x="6698093" y="1940227"/>
                  </a:lnTo>
                  <a:cubicBezTo>
                    <a:pt x="6698093" y="1949695"/>
                    <a:pt x="6694332" y="1958776"/>
                    <a:pt x="6687637" y="1965471"/>
                  </a:cubicBezTo>
                  <a:cubicBezTo>
                    <a:pt x="6680942" y="1972166"/>
                    <a:pt x="6671861" y="1975927"/>
                    <a:pt x="6662393" y="1975927"/>
                  </a:cubicBezTo>
                  <a:lnTo>
                    <a:pt x="35701" y="1975927"/>
                  </a:lnTo>
                  <a:cubicBezTo>
                    <a:pt x="15984" y="1975927"/>
                    <a:pt x="0" y="1959944"/>
                    <a:pt x="0" y="1940227"/>
                  </a:cubicBezTo>
                  <a:lnTo>
                    <a:pt x="0" y="35701"/>
                  </a:lnTo>
                  <a:cubicBezTo>
                    <a:pt x="0" y="26232"/>
                    <a:pt x="3761" y="17152"/>
                    <a:pt x="10456" y="10456"/>
                  </a:cubicBezTo>
                  <a:cubicBezTo>
                    <a:pt x="17152" y="3761"/>
                    <a:pt x="26232" y="0"/>
                    <a:pt x="35701" y="0"/>
                  </a:cubicBezTo>
                  <a:close/>
                </a:path>
              </a:pathLst>
            </a:custGeom>
            <a:solidFill>
              <a:srgbClr val="EA9186"/>
            </a:solidFill>
          </p:spPr>
        </p:sp>
        <p:sp>
          <p:nvSpPr>
            <p:cNvPr id="8" name="TextBox 8"/>
            <p:cNvSpPr txBox="1"/>
            <p:nvPr/>
          </p:nvSpPr>
          <p:spPr>
            <a:xfrm>
              <a:off x="0" y="-28575"/>
              <a:ext cx="6698093" cy="2004503"/>
            </a:xfrm>
            <a:prstGeom prst="rect">
              <a:avLst/>
            </a:prstGeom>
          </p:spPr>
          <p:txBody>
            <a:bodyPr lIns="50800" tIns="50800" rIns="50800" bIns="50800" rtlCol="0" anchor="ctr"/>
            <a:lstStyle/>
            <a:p>
              <a:pPr algn="ctr">
                <a:lnSpc>
                  <a:spcPts val="1960"/>
                </a:lnSpc>
                <a:spcBef>
                  <a:spcPct val="0"/>
                </a:spcBef>
              </a:pPr>
              <a:endParaRPr/>
            </a:p>
          </p:txBody>
        </p:sp>
      </p:grpSp>
      <p:sp>
        <p:nvSpPr>
          <p:cNvPr id="9" name="TextBox 9"/>
          <p:cNvSpPr txBox="1"/>
          <p:nvPr/>
        </p:nvSpPr>
        <p:spPr>
          <a:xfrm>
            <a:off x="9432241" y="2474781"/>
            <a:ext cx="1457302" cy="614130"/>
          </a:xfrm>
          <a:prstGeom prst="rect">
            <a:avLst/>
          </a:prstGeom>
        </p:spPr>
        <p:txBody>
          <a:bodyPr lIns="0" tIns="0" rIns="0" bIns="0" rtlCol="0" anchor="t">
            <a:spAutoFit/>
          </a:bodyPr>
          <a:lstStyle/>
          <a:p>
            <a:pPr marL="0" lvl="0" indent="0" algn="ctr">
              <a:lnSpc>
                <a:spcPts val="4552"/>
              </a:lnSpc>
              <a:spcBef>
                <a:spcPct val="0"/>
              </a:spcBef>
            </a:pPr>
            <a:r>
              <a:rPr lang="en-US" sz="4948" spc="-202">
                <a:solidFill>
                  <a:srgbClr val="FFFFFF"/>
                </a:solidFill>
                <a:latin typeface="Open Sauce"/>
                <a:ea typeface="Open Sauce"/>
                <a:cs typeface="Open Sauce"/>
                <a:sym typeface="Open Sauce"/>
              </a:rPr>
              <a:t>01</a:t>
            </a:r>
          </a:p>
        </p:txBody>
      </p:sp>
      <p:sp>
        <p:nvSpPr>
          <p:cNvPr id="10" name="TextBox 10"/>
          <p:cNvSpPr txBox="1"/>
          <p:nvPr/>
        </p:nvSpPr>
        <p:spPr>
          <a:xfrm>
            <a:off x="9432241" y="5393419"/>
            <a:ext cx="1457302" cy="627211"/>
          </a:xfrm>
          <a:prstGeom prst="rect">
            <a:avLst/>
          </a:prstGeom>
        </p:spPr>
        <p:txBody>
          <a:bodyPr lIns="0" tIns="0" rIns="0" bIns="0" rtlCol="0" anchor="t">
            <a:spAutoFit/>
          </a:bodyPr>
          <a:lstStyle/>
          <a:p>
            <a:pPr marL="0" lvl="0" indent="0" algn="ctr">
              <a:lnSpc>
                <a:spcPts val="4644"/>
              </a:lnSpc>
              <a:spcBef>
                <a:spcPct val="0"/>
              </a:spcBef>
            </a:pPr>
            <a:r>
              <a:rPr lang="en-US" sz="5048" spc="-207">
                <a:solidFill>
                  <a:srgbClr val="FFFFFF"/>
                </a:solidFill>
                <a:latin typeface="Open Sauce"/>
                <a:ea typeface="Open Sauce"/>
                <a:cs typeface="Open Sauce"/>
                <a:sym typeface="Open Sauce"/>
              </a:rPr>
              <a:t>02</a:t>
            </a:r>
          </a:p>
        </p:txBody>
      </p:sp>
      <p:grpSp>
        <p:nvGrpSpPr>
          <p:cNvPr id="11" name="Group 11"/>
          <p:cNvGrpSpPr/>
          <p:nvPr/>
        </p:nvGrpSpPr>
        <p:grpSpPr>
          <a:xfrm>
            <a:off x="9432241" y="7302974"/>
            <a:ext cx="8240557" cy="2507380"/>
            <a:chOff x="0" y="0"/>
            <a:chExt cx="6493927" cy="1975928"/>
          </a:xfrm>
        </p:grpSpPr>
        <p:sp>
          <p:nvSpPr>
            <p:cNvPr id="12" name="Freeform 12"/>
            <p:cNvSpPr/>
            <p:nvPr/>
          </p:nvSpPr>
          <p:spPr>
            <a:xfrm>
              <a:off x="0" y="0"/>
              <a:ext cx="6493927" cy="1975927"/>
            </a:xfrm>
            <a:custGeom>
              <a:avLst/>
              <a:gdLst/>
              <a:ahLst/>
              <a:cxnLst/>
              <a:rect l="l" t="t" r="r" b="b"/>
              <a:pathLst>
                <a:path w="6493927" h="1975927">
                  <a:moveTo>
                    <a:pt x="35701" y="0"/>
                  </a:moveTo>
                  <a:lnTo>
                    <a:pt x="6458226" y="0"/>
                  </a:lnTo>
                  <a:cubicBezTo>
                    <a:pt x="6467695" y="0"/>
                    <a:pt x="6476775" y="3761"/>
                    <a:pt x="6483471" y="10456"/>
                  </a:cubicBezTo>
                  <a:cubicBezTo>
                    <a:pt x="6490165" y="17152"/>
                    <a:pt x="6493927" y="26232"/>
                    <a:pt x="6493927" y="35701"/>
                  </a:cubicBezTo>
                  <a:lnTo>
                    <a:pt x="6493927" y="1940227"/>
                  </a:lnTo>
                  <a:cubicBezTo>
                    <a:pt x="6493927" y="1949695"/>
                    <a:pt x="6490165" y="1958776"/>
                    <a:pt x="6483471" y="1965471"/>
                  </a:cubicBezTo>
                  <a:cubicBezTo>
                    <a:pt x="6476775" y="1972166"/>
                    <a:pt x="6467695" y="1975927"/>
                    <a:pt x="6458226" y="1975927"/>
                  </a:cubicBezTo>
                  <a:lnTo>
                    <a:pt x="35701" y="1975927"/>
                  </a:lnTo>
                  <a:cubicBezTo>
                    <a:pt x="15984" y="1975927"/>
                    <a:pt x="0" y="1959944"/>
                    <a:pt x="0" y="1940227"/>
                  </a:cubicBezTo>
                  <a:lnTo>
                    <a:pt x="0" y="35701"/>
                  </a:lnTo>
                  <a:cubicBezTo>
                    <a:pt x="0" y="26232"/>
                    <a:pt x="3761" y="17152"/>
                    <a:pt x="10456" y="10456"/>
                  </a:cubicBezTo>
                  <a:cubicBezTo>
                    <a:pt x="17152" y="3761"/>
                    <a:pt x="26232" y="0"/>
                    <a:pt x="35701" y="0"/>
                  </a:cubicBezTo>
                  <a:close/>
                </a:path>
              </a:pathLst>
            </a:custGeom>
            <a:solidFill>
              <a:srgbClr val="0097B2"/>
            </a:solidFill>
          </p:spPr>
        </p:sp>
        <p:sp>
          <p:nvSpPr>
            <p:cNvPr id="13" name="TextBox 13"/>
            <p:cNvSpPr txBox="1"/>
            <p:nvPr/>
          </p:nvSpPr>
          <p:spPr>
            <a:xfrm>
              <a:off x="0" y="-28575"/>
              <a:ext cx="6493927" cy="2004503"/>
            </a:xfrm>
            <a:prstGeom prst="rect">
              <a:avLst/>
            </a:prstGeom>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9432241" y="8165399"/>
            <a:ext cx="1457302" cy="614004"/>
          </a:xfrm>
          <a:prstGeom prst="rect">
            <a:avLst/>
          </a:prstGeom>
        </p:spPr>
        <p:txBody>
          <a:bodyPr lIns="0" tIns="0" rIns="0" bIns="0" rtlCol="0" anchor="t">
            <a:spAutoFit/>
          </a:bodyPr>
          <a:lstStyle/>
          <a:p>
            <a:pPr marL="0" lvl="0" indent="0" algn="ctr">
              <a:lnSpc>
                <a:spcPts val="4549"/>
              </a:lnSpc>
              <a:spcBef>
                <a:spcPct val="0"/>
              </a:spcBef>
            </a:pPr>
            <a:r>
              <a:rPr lang="en-US" sz="4945" spc="-202">
                <a:solidFill>
                  <a:srgbClr val="FFFFFF"/>
                </a:solidFill>
                <a:latin typeface="Open Sauce"/>
                <a:ea typeface="Open Sauce"/>
                <a:cs typeface="Open Sauce"/>
                <a:sym typeface="Open Sauce"/>
              </a:rPr>
              <a:t>03</a:t>
            </a:r>
          </a:p>
        </p:txBody>
      </p:sp>
      <p:sp>
        <p:nvSpPr>
          <p:cNvPr id="15" name="TextBox 15"/>
          <p:cNvSpPr txBox="1"/>
          <p:nvPr/>
        </p:nvSpPr>
        <p:spPr>
          <a:xfrm>
            <a:off x="1217840" y="1837393"/>
            <a:ext cx="7110611" cy="1860815"/>
          </a:xfrm>
          <a:prstGeom prst="rect">
            <a:avLst/>
          </a:prstGeom>
        </p:spPr>
        <p:txBody>
          <a:bodyPr lIns="0" tIns="0" rIns="0" bIns="0" rtlCol="0" anchor="t">
            <a:spAutoFit/>
          </a:bodyPr>
          <a:lstStyle/>
          <a:p>
            <a:pPr marL="0" lvl="0" indent="0" algn="l">
              <a:lnSpc>
                <a:spcPts val="7310"/>
              </a:lnSpc>
              <a:spcBef>
                <a:spcPct val="0"/>
              </a:spcBef>
            </a:pPr>
            <a:r>
              <a:rPr lang="en-US" sz="6302" b="1" spc="-321">
                <a:solidFill>
                  <a:srgbClr val="004AAD"/>
                </a:solidFill>
                <a:latin typeface="Open Sauce Semi-Bold"/>
                <a:ea typeface="Open Sauce Semi-Bold"/>
                <a:cs typeface="Open Sauce Semi-Bold"/>
                <a:sym typeface="Open Sauce Semi-Bold"/>
              </a:rPr>
              <a:t>Model Regularization</a:t>
            </a:r>
          </a:p>
        </p:txBody>
      </p:sp>
      <p:sp>
        <p:nvSpPr>
          <p:cNvPr id="16" name="TextBox 16"/>
          <p:cNvSpPr txBox="1"/>
          <p:nvPr/>
        </p:nvSpPr>
        <p:spPr>
          <a:xfrm>
            <a:off x="1028700" y="4491080"/>
            <a:ext cx="7566376" cy="3712252"/>
          </a:xfrm>
          <a:prstGeom prst="rect">
            <a:avLst/>
          </a:prstGeom>
        </p:spPr>
        <p:txBody>
          <a:bodyPr lIns="0" tIns="0" rIns="0" bIns="0" rtlCol="0" anchor="t">
            <a:spAutoFit/>
          </a:bodyPr>
          <a:lstStyle/>
          <a:p>
            <a:pPr marL="0" lvl="0" indent="0" algn="l">
              <a:lnSpc>
                <a:spcPts val="3298"/>
              </a:lnSpc>
            </a:pPr>
            <a:r>
              <a:rPr lang="en-US" sz="2557" b="1">
                <a:solidFill>
                  <a:srgbClr val="4D5154"/>
                </a:solidFill>
                <a:latin typeface="Open Sauce Bold"/>
                <a:ea typeface="Open Sauce Bold"/>
                <a:cs typeface="Open Sauce Bold"/>
                <a:sym typeface="Open Sauce Bold"/>
              </a:rPr>
              <a:t>This</a:t>
            </a:r>
            <a:r>
              <a:rPr lang="en-US" sz="2557" b="1" u="none">
                <a:solidFill>
                  <a:srgbClr val="4D5154"/>
                </a:solidFill>
                <a:latin typeface="Open Sauce Bold"/>
                <a:ea typeface="Open Sauce Bold"/>
                <a:cs typeface="Open Sauce Bold"/>
                <a:sym typeface="Open Sauce Bold"/>
              </a:rPr>
              <a:t> model gives a strong foundation for predicting customer attrition, but maintaining its value requires ongoing attention.</a:t>
            </a:r>
          </a:p>
          <a:p>
            <a:pPr marL="0" lvl="0" indent="0" algn="l">
              <a:lnSpc>
                <a:spcPts val="3298"/>
              </a:lnSpc>
            </a:pPr>
            <a:endParaRPr lang="en-US" sz="2557" b="1" u="none">
              <a:solidFill>
                <a:srgbClr val="4D5154"/>
              </a:solidFill>
              <a:latin typeface="Open Sauce Bold"/>
              <a:ea typeface="Open Sauce Bold"/>
              <a:cs typeface="Open Sauce Bold"/>
              <a:sym typeface="Open Sauce Bold"/>
            </a:endParaRPr>
          </a:p>
          <a:p>
            <a:pPr marL="0" lvl="0" indent="0" algn="l">
              <a:lnSpc>
                <a:spcPts val="3298"/>
              </a:lnSpc>
            </a:pPr>
            <a:r>
              <a:rPr lang="en-US" sz="2557" b="1" u="none">
                <a:solidFill>
                  <a:srgbClr val="4D5154"/>
                </a:solidFill>
                <a:latin typeface="Open Sauce Bold"/>
                <a:ea typeface="Open Sauce Bold"/>
                <a:cs typeface="Open Sauce Bold"/>
                <a:sym typeface="Open Sauce Bold"/>
              </a:rPr>
              <a:t> Customer behavior evolves over time, so the model should evolve with it.</a:t>
            </a:r>
          </a:p>
          <a:p>
            <a:pPr marL="0" lvl="0" indent="0" algn="l">
              <a:lnSpc>
                <a:spcPts val="3298"/>
              </a:lnSpc>
            </a:pPr>
            <a:endParaRPr lang="en-US" sz="2557" b="1" u="none">
              <a:solidFill>
                <a:srgbClr val="4D5154"/>
              </a:solidFill>
              <a:latin typeface="Open Sauce Bold"/>
              <a:ea typeface="Open Sauce Bold"/>
              <a:cs typeface="Open Sauce Bold"/>
              <a:sym typeface="Open Sauce Bold"/>
            </a:endParaRPr>
          </a:p>
          <a:p>
            <a:pPr marL="0" lvl="0" indent="0" algn="l">
              <a:lnSpc>
                <a:spcPts val="3298"/>
              </a:lnSpc>
            </a:pPr>
            <a:r>
              <a:rPr lang="en-US" sz="2557" b="1" u="none">
                <a:solidFill>
                  <a:srgbClr val="4D5154"/>
                </a:solidFill>
                <a:latin typeface="Open Sauce Bold"/>
                <a:ea typeface="Open Sauce Bold"/>
                <a:cs typeface="Open Sauce Bold"/>
                <a:sym typeface="Open Sauce Bold"/>
              </a:rPr>
              <a:t> Here are the key next steps to ensure longterm effectiveness and business impact.</a:t>
            </a:r>
          </a:p>
        </p:txBody>
      </p:sp>
      <p:sp>
        <p:nvSpPr>
          <p:cNvPr id="17" name="TextBox 17"/>
          <p:cNvSpPr txBox="1"/>
          <p:nvPr/>
        </p:nvSpPr>
        <p:spPr>
          <a:xfrm>
            <a:off x="10579151" y="1738747"/>
            <a:ext cx="6680149" cy="2139882"/>
          </a:xfrm>
          <a:prstGeom prst="rect">
            <a:avLst/>
          </a:prstGeom>
        </p:spPr>
        <p:txBody>
          <a:bodyPr lIns="0" tIns="0" rIns="0" bIns="0" rtlCol="0" anchor="t">
            <a:spAutoFit/>
          </a:bodyPr>
          <a:lstStyle/>
          <a:p>
            <a:pPr marL="0" lvl="0" indent="0" algn="ctr">
              <a:lnSpc>
                <a:spcPts val="2765"/>
              </a:lnSpc>
            </a:pPr>
            <a:r>
              <a:rPr lang="en-US" sz="2144" b="1">
                <a:solidFill>
                  <a:srgbClr val="FFFFFF"/>
                </a:solidFill>
                <a:latin typeface="Open Sauce Bold"/>
                <a:ea typeface="Open Sauce Bold"/>
                <a:cs typeface="Open Sauce Bold"/>
                <a:sym typeface="Open Sauce Bold"/>
              </a:rPr>
              <a:t>Regular Model Monitori</a:t>
            </a:r>
            <a:r>
              <a:rPr lang="en-US" sz="2144" b="1" u="none">
                <a:solidFill>
                  <a:srgbClr val="FFFFFF"/>
                </a:solidFill>
                <a:latin typeface="Open Sauce Bold"/>
                <a:ea typeface="Open Sauce Bold"/>
                <a:cs typeface="Open Sauce Bold"/>
                <a:sym typeface="Open Sauce Bold"/>
              </a:rPr>
              <a:t>ng &amp; Retraining</a:t>
            </a:r>
          </a:p>
          <a:p>
            <a:pPr marL="0" lvl="0" indent="0" algn="ctr">
              <a:lnSpc>
                <a:spcPts val="2765"/>
              </a:lnSpc>
            </a:pPr>
            <a:endParaRPr lang="en-US" sz="2144" b="1" u="none">
              <a:solidFill>
                <a:srgbClr val="FFFFFF"/>
              </a:solidFill>
              <a:latin typeface="Open Sauce Bold"/>
              <a:ea typeface="Open Sauce Bold"/>
              <a:cs typeface="Open Sauce Bold"/>
              <a:sym typeface="Open Sauce Bold"/>
            </a:endParaRPr>
          </a:p>
          <a:p>
            <a:pPr marL="0" lvl="0" indent="0" algn="ctr">
              <a:lnSpc>
                <a:spcPts val="2378"/>
              </a:lnSpc>
            </a:pPr>
            <a:r>
              <a:rPr lang="en-US" sz="1844" b="1" u="none">
                <a:solidFill>
                  <a:srgbClr val="FFFFFF"/>
                </a:solidFill>
                <a:latin typeface="Open Sauce Bold"/>
                <a:ea typeface="Open Sauce Bold"/>
                <a:cs typeface="Open Sauce Bold"/>
                <a:sym typeface="Open Sauce Bold"/>
              </a:rPr>
              <a:t>The model should be checked frequently to detect performance drift. As new customer data becomes available, retraining and hyperparameter tuning will help keep predictions accurate and reliable.</a:t>
            </a:r>
          </a:p>
          <a:p>
            <a:pPr marL="0" lvl="0" indent="0" algn="ctr">
              <a:lnSpc>
                <a:spcPts val="2266"/>
              </a:lnSpc>
            </a:pPr>
            <a:endParaRPr lang="en-US" sz="1844" b="1" u="none">
              <a:solidFill>
                <a:srgbClr val="FFFFFF"/>
              </a:solidFill>
              <a:latin typeface="Open Sauce Bold"/>
              <a:ea typeface="Open Sauce Bold"/>
              <a:cs typeface="Open Sauce Bold"/>
              <a:sym typeface="Open Sauce Bold"/>
            </a:endParaRPr>
          </a:p>
        </p:txBody>
      </p:sp>
      <p:sp>
        <p:nvSpPr>
          <p:cNvPr id="18" name="TextBox 18"/>
          <p:cNvSpPr txBox="1"/>
          <p:nvPr/>
        </p:nvSpPr>
        <p:spPr>
          <a:xfrm>
            <a:off x="10731178" y="4657386"/>
            <a:ext cx="6680149" cy="2139882"/>
          </a:xfrm>
          <a:prstGeom prst="rect">
            <a:avLst/>
          </a:prstGeom>
        </p:spPr>
        <p:txBody>
          <a:bodyPr lIns="0" tIns="0" rIns="0" bIns="0" rtlCol="0" anchor="t">
            <a:spAutoFit/>
          </a:bodyPr>
          <a:lstStyle/>
          <a:p>
            <a:pPr marL="0" lvl="0" indent="0" algn="ctr">
              <a:lnSpc>
                <a:spcPts val="2765"/>
              </a:lnSpc>
            </a:pPr>
            <a:r>
              <a:rPr lang="en-US" sz="2144" b="1">
                <a:solidFill>
                  <a:srgbClr val="FFFFFF"/>
                </a:solidFill>
                <a:latin typeface="Open Sauce Bold"/>
                <a:ea typeface="Open Sauce Bold"/>
                <a:cs typeface="Open Sauce Bold"/>
                <a:sym typeface="Open Sauce Bold"/>
              </a:rPr>
              <a:t>Integra</a:t>
            </a:r>
            <a:r>
              <a:rPr lang="en-US" sz="2144" b="1" u="none">
                <a:solidFill>
                  <a:srgbClr val="FFFFFF"/>
                </a:solidFill>
                <a:latin typeface="Open Sauce Bold"/>
                <a:ea typeface="Open Sauce Bold"/>
                <a:cs typeface="Open Sauce Bold"/>
                <a:sym typeface="Open Sauce Bold"/>
              </a:rPr>
              <a:t>te Live Customer Data</a:t>
            </a:r>
          </a:p>
          <a:p>
            <a:pPr marL="0" lvl="0" indent="0" algn="ctr">
              <a:lnSpc>
                <a:spcPts val="2765"/>
              </a:lnSpc>
            </a:pPr>
            <a:endParaRPr lang="en-US" sz="2144" b="1" u="none">
              <a:solidFill>
                <a:srgbClr val="FFFFFF"/>
              </a:solidFill>
              <a:latin typeface="Open Sauce Bold"/>
              <a:ea typeface="Open Sauce Bold"/>
              <a:cs typeface="Open Sauce Bold"/>
              <a:sym typeface="Open Sauce Bold"/>
            </a:endParaRPr>
          </a:p>
          <a:p>
            <a:pPr marL="0" lvl="0" indent="0" algn="ctr">
              <a:lnSpc>
                <a:spcPts val="2378"/>
              </a:lnSpc>
            </a:pPr>
            <a:r>
              <a:rPr lang="en-US" sz="1844" b="1" u="none">
                <a:solidFill>
                  <a:srgbClr val="FFFFFF"/>
                </a:solidFill>
                <a:latin typeface="Open Sauce Bold"/>
                <a:ea typeface="Open Sauce Bold"/>
                <a:cs typeface="Open Sauce Bold"/>
                <a:sym typeface="Open Sauce Bold"/>
              </a:rPr>
              <a:t>Connecting the model to real-time transaction behavior, complaints, or engagement data will allow the bank to identify at-risk customers earlier and intervene before churn happens.</a:t>
            </a:r>
          </a:p>
          <a:p>
            <a:pPr marL="0" lvl="0" indent="0" algn="l">
              <a:lnSpc>
                <a:spcPts val="2266"/>
              </a:lnSpc>
            </a:pPr>
            <a:endParaRPr lang="en-US" sz="1844" b="1" u="none">
              <a:solidFill>
                <a:srgbClr val="FFFFFF"/>
              </a:solidFill>
              <a:latin typeface="Open Sauce Bold"/>
              <a:ea typeface="Open Sauce Bold"/>
              <a:cs typeface="Open Sauce Bold"/>
              <a:sym typeface="Open Sauce Bold"/>
            </a:endParaRPr>
          </a:p>
        </p:txBody>
      </p:sp>
      <p:sp>
        <p:nvSpPr>
          <p:cNvPr id="19" name="TextBox 19"/>
          <p:cNvSpPr txBox="1"/>
          <p:nvPr/>
        </p:nvSpPr>
        <p:spPr>
          <a:xfrm>
            <a:off x="10731178" y="7443109"/>
            <a:ext cx="6680149" cy="2142075"/>
          </a:xfrm>
          <a:prstGeom prst="rect">
            <a:avLst/>
          </a:prstGeom>
        </p:spPr>
        <p:txBody>
          <a:bodyPr lIns="0" tIns="0" rIns="0" bIns="0" rtlCol="0" anchor="t">
            <a:spAutoFit/>
          </a:bodyPr>
          <a:lstStyle/>
          <a:p>
            <a:pPr marL="0" lvl="0" indent="0" algn="ctr">
              <a:lnSpc>
                <a:spcPts val="2852"/>
              </a:lnSpc>
            </a:pPr>
            <a:r>
              <a:rPr lang="en-US" sz="2211" b="1">
                <a:solidFill>
                  <a:srgbClr val="FFFFFF"/>
                </a:solidFill>
                <a:latin typeface="Open Sauce Bold"/>
                <a:ea typeface="Open Sauce Bold"/>
                <a:cs typeface="Open Sauce Bold"/>
                <a:sym typeface="Open Sauce Bold"/>
              </a:rPr>
              <a:t>Build an</a:t>
            </a:r>
            <a:r>
              <a:rPr lang="en-US" sz="2211" b="1" u="none">
                <a:solidFill>
                  <a:srgbClr val="FFFFFF"/>
                </a:solidFill>
                <a:latin typeface="Open Sauce Bold"/>
                <a:ea typeface="Open Sauce Bold"/>
                <a:cs typeface="Open Sauce Bold"/>
                <a:sym typeface="Open Sauce Bold"/>
              </a:rPr>
              <a:t> Internal Churn Insights Dashboard</a:t>
            </a:r>
          </a:p>
          <a:p>
            <a:pPr marL="0" lvl="0" indent="0" algn="ctr">
              <a:lnSpc>
                <a:spcPts val="2852"/>
              </a:lnSpc>
            </a:pPr>
            <a:endParaRPr lang="en-US" sz="2211" b="1" u="none">
              <a:solidFill>
                <a:srgbClr val="FFFFFF"/>
              </a:solidFill>
              <a:latin typeface="Open Sauce Bold"/>
              <a:ea typeface="Open Sauce Bold"/>
              <a:cs typeface="Open Sauce Bold"/>
              <a:sym typeface="Open Sauce Bold"/>
            </a:endParaRPr>
          </a:p>
          <a:p>
            <a:pPr marL="0" lvl="0" indent="0" algn="ctr">
              <a:lnSpc>
                <a:spcPts val="2465"/>
              </a:lnSpc>
            </a:pPr>
            <a:r>
              <a:rPr lang="en-US" sz="1911" b="1" u="none">
                <a:solidFill>
                  <a:srgbClr val="FFFFFF"/>
                </a:solidFill>
                <a:latin typeface="Open Sauce Bold"/>
                <a:ea typeface="Open Sauce Bold"/>
                <a:cs typeface="Open Sauce Bold"/>
                <a:sym typeface="Open Sauce Bold"/>
              </a:rPr>
              <a:t>A dashboard can help teams track churn patterns, risk levels, feature importance, and emerging behavioral trends. This supports faster decision-making and makes the model more actionable for business teams.</a:t>
            </a:r>
          </a:p>
          <a:p>
            <a:pPr marL="0" lvl="0" indent="0" algn="just">
              <a:lnSpc>
                <a:spcPts val="1684"/>
              </a:lnSpc>
            </a:pPr>
            <a:endParaRPr lang="en-US" sz="1911" b="1" u="none">
              <a:solidFill>
                <a:srgbClr val="FFFFFF"/>
              </a:solidFill>
              <a:latin typeface="Open Sauce Bold"/>
              <a:ea typeface="Open Sauce Bold"/>
              <a:cs typeface="Open Sauce Bold"/>
              <a:sym typeface="Open Sauce 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5553704" y="1535307"/>
            <a:ext cx="7180593" cy="1174125"/>
          </a:xfrm>
          <a:prstGeom prst="rect">
            <a:avLst/>
          </a:prstGeom>
        </p:spPr>
        <p:txBody>
          <a:bodyPr lIns="0" tIns="0" rIns="0" bIns="0" rtlCol="0" anchor="t">
            <a:spAutoFit/>
          </a:bodyPr>
          <a:lstStyle/>
          <a:p>
            <a:pPr marL="0" lvl="0" indent="0" algn="ctr">
              <a:lnSpc>
                <a:spcPts val="9282"/>
              </a:lnSpc>
              <a:spcBef>
                <a:spcPct val="0"/>
              </a:spcBef>
            </a:pPr>
            <a:r>
              <a:rPr lang="en-US" sz="8001" b="1" u="none" strike="noStrike" spc="-408">
                <a:solidFill>
                  <a:srgbClr val="004AAD"/>
                </a:solidFill>
                <a:latin typeface="Open Sauce Semi-Bold"/>
                <a:ea typeface="Open Sauce Semi-Bold"/>
                <a:cs typeface="Open Sauce Semi-Bold"/>
                <a:sym typeface="Open Sauce Semi-Bold"/>
              </a:rPr>
              <a:t>Conclusion</a:t>
            </a:r>
          </a:p>
        </p:txBody>
      </p:sp>
      <p:sp>
        <p:nvSpPr>
          <p:cNvPr id="4" name="TextBox 4"/>
          <p:cNvSpPr txBox="1"/>
          <p:nvPr/>
        </p:nvSpPr>
        <p:spPr>
          <a:xfrm>
            <a:off x="2202316" y="3534513"/>
            <a:ext cx="14603765" cy="5022957"/>
          </a:xfrm>
          <a:prstGeom prst="rect">
            <a:avLst/>
          </a:prstGeom>
        </p:spPr>
        <p:txBody>
          <a:bodyPr lIns="0" tIns="0" rIns="0" bIns="0" rtlCol="0" anchor="t">
            <a:spAutoFit/>
          </a:bodyPr>
          <a:lstStyle/>
          <a:p>
            <a:pPr marL="0" lvl="0" indent="0" algn="ctr">
              <a:lnSpc>
                <a:spcPts val="3962"/>
              </a:lnSpc>
              <a:spcBef>
                <a:spcPct val="0"/>
              </a:spcBef>
            </a:pPr>
            <a:r>
              <a:rPr lang="en-US" sz="3144" b="1" spc="9">
                <a:solidFill>
                  <a:srgbClr val="4D5154"/>
                </a:solidFill>
                <a:latin typeface="Open Sauce Medium"/>
                <a:ea typeface="Open Sauce Medium"/>
                <a:cs typeface="Open Sauce Medium"/>
                <a:sym typeface="Open Sauce Medium"/>
              </a:rPr>
              <a:t>This p</a:t>
            </a:r>
            <a:r>
              <a:rPr lang="en-US" sz="3144" b="1" u="none" strike="noStrike" spc="9">
                <a:solidFill>
                  <a:srgbClr val="4D5154"/>
                </a:solidFill>
                <a:latin typeface="Open Sauce Medium"/>
                <a:ea typeface="Open Sauce Medium"/>
                <a:cs typeface="Open Sauce Medium"/>
                <a:sym typeface="Open Sauce Medium"/>
              </a:rPr>
              <a:t>roject has shown that customer churn isn’t random, it follows patterns we can identify, understand, and act on. By uncovering the key factors driving customers away, we’ve built a foundation for smarter decisions and stronger retention strategies.</a:t>
            </a:r>
          </a:p>
          <a:p>
            <a:pPr marL="0" lvl="0" indent="0" algn="ctr">
              <a:lnSpc>
                <a:spcPts val="3962"/>
              </a:lnSpc>
              <a:spcBef>
                <a:spcPct val="0"/>
              </a:spcBef>
            </a:pPr>
            <a:endParaRPr lang="en-US" sz="3144" b="1" u="none" strike="noStrike" spc="9">
              <a:solidFill>
                <a:srgbClr val="4D5154"/>
              </a:solidFill>
              <a:latin typeface="Open Sauce Medium"/>
              <a:ea typeface="Open Sauce Medium"/>
              <a:cs typeface="Open Sauce Medium"/>
              <a:sym typeface="Open Sauce Medium"/>
            </a:endParaRPr>
          </a:p>
          <a:p>
            <a:pPr marL="0" lvl="0" indent="0" algn="ctr">
              <a:lnSpc>
                <a:spcPts val="3962"/>
              </a:lnSpc>
              <a:spcBef>
                <a:spcPct val="0"/>
              </a:spcBef>
            </a:pPr>
            <a:r>
              <a:rPr lang="en-US" sz="3144" b="1" u="none" strike="noStrike" spc="9">
                <a:solidFill>
                  <a:srgbClr val="4D5154"/>
                </a:solidFill>
                <a:latin typeface="Open Sauce Medium"/>
                <a:ea typeface="Open Sauce Medium"/>
                <a:cs typeface="Open Sauce Medium"/>
                <a:sym typeface="Open Sauce Medium"/>
              </a:rPr>
              <a:t>But this is only the beginning. A model is not a one-time creation, it must grow, adapt, and evolve as customers do. With continuous monitoring and improvement, this work can become a powerful tool that keeps the business ahead of churn and closer to its customers.</a:t>
            </a:r>
          </a:p>
          <a:p>
            <a:pPr marL="0" lvl="0" indent="0" algn="ctr">
              <a:lnSpc>
                <a:spcPts val="3962"/>
              </a:lnSpc>
              <a:spcBef>
                <a:spcPct val="0"/>
              </a:spcBef>
            </a:pPr>
            <a:endParaRPr lang="en-US" sz="3144" b="1" u="none" strike="noStrike" spc="9">
              <a:solidFill>
                <a:srgbClr val="4D5154"/>
              </a:solidFill>
              <a:latin typeface="Open Sauce Medium"/>
              <a:ea typeface="Open Sauce Medium"/>
              <a:cs typeface="Open Sauce Medium"/>
              <a:sym typeface="Open Sauce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444101" y="5998596"/>
            <a:ext cx="2815199" cy="3259704"/>
          </a:xfrm>
          <a:custGeom>
            <a:avLst/>
            <a:gdLst/>
            <a:ahLst/>
            <a:cxnLst/>
            <a:rect l="l" t="t" r="r" b="b"/>
            <a:pathLst>
              <a:path w="2815199" h="3259704">
                <a:moveTo>
                  <a:pt x="0" y="0"/>
                </a:moveTo>
                <a:lnTo>
                  <a:pt x="2815199" y="0"/>
                </a:lnTo>
                <a:lnTo>
                  <a:pt x="2815199" y="3259704"/>
                </a:lnTo>
                <a:lnTo>
                  <a:pt x="0" y="325970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5191964" y="2561695"/>
            <a:ext cx="7904071" cy="4933362"/>
          </a:xfrm>
          <a:prstGeom prst="rect">
            <a:avLst/>
          </a:prstGeom>
        </p:spPr>
        <p:txBody>
          <a:bodyPr lIns="0" tIns="0" rIns="0" bIns="0" rtlCol="0" anchor="t">
            <a:spAutoFit/>
          </a:bodyPr>
          <a:lstStyle/>
          <a:p>
            <a:pPr algn="ctr">
              <a:lnSpc>
                <a:spcPts val="12727"/>
              </a:lnSpc>
            </a:pPr>
            <a:r>
              <a:rPr lang="en-US" sz="13539" b="1" spc="-284">
                <a:solidFill>
                  <a:srgbClr val="FFFFFF"/>
                </a:solidFill>
                <a:latin typeface="Open Sauce Bold"/>
                <a:ea typeface="Open Sauce Bold"/>
                <a:cs typeface="Open Sauce Bold"/>
                <a:sym typeface="Open Sauce Bold"/>
              </a:rPr>
              <a:t>Thank you very much!</a:t>
            </a:r>
          </a:p>
        </p:txBody>
      </p:sp>
      <p:sp>
        <p:nvSpPr>
          <p:cNvPr id="4" name="TextBox 4"/>
          <p:cNvSpPr txBox="1"/>
          <p:nvPr/>
        </p:nvSpPr>
        <p:spPr>
          <a:xfrm>
            <a:off x="374665" y="9473765"/>
            <a:ext cx="6259334" cy="430530"/>
          </a:xfrm>
          <a:prstGeom prst="rect">
            <a:avLst/>
          </a:prstGeom>
        </p:spPr>
        <p:txBody>
          <a:bodyPr lIns="0" tIns="0" rIns="0" bIns="0" rtlCol="0" anchor="t">
            <a:spAutoFit/>
          </a:bodyPr>
          <a:lstStyle/>
          <a:p>
            <a:pPr algn="ctr">
              <a:lnSpc>
                <a:spcPts val="3255"/>
              </a:lnSpc>
            </a:pPr>
            <a:r>
              <a:rPr lang="en-US" sz="3100" spc="-24">
                <a:solidFill>
                  <a:srgbClr val="FFFFFF"/>
                </a:solidFill>
                <a:latin typeface="Open Sauce"/>
                <a:ea typeface="Open Sauce"/>
                <a:cs typeface="Open Sauce"/>
                <a:sym typeface="Open Sauce"/>
              </a:rPr>
              <a:t>satalisonn@gmail.com</a:t>
            </a:r>
          </a:p>
        </p:txBody>
      </p:sp>
      <p:sp>
        <p:nvSpPr>
          <p:cNvPr id="5" name="Freeform 5"/>
          <p:cNvSpPr/>
          <p:nvPr/>
        </p:nvSpPr>
        <p:spPr>
          <a:xfrm>
            <a:off x="1028700" y="1028700"/>
            <a:ext cx="3945047" cy="2625249"/>
          </a:xfrm>
          <a:custGeom>
            <a:avLst/>
            <a:gdLst/>
            <a:ahLst/>
            <a:cxnLst/>
            <a:rect l="l" t="t" r="r" b="b"/>
            <a:pathLst>
              <a:path w="3945047" h="2625249">
                <a:moveTo>
                  <a:pt x="0" y="0"/>
                </a:moveTo>
                <a:lnTo>
                  <a:pt x="3945047" y="0"/>
                </a:lnTo>
                <a:lnTo>
                  <a:pt x="3945047" y="2625249"/>
                </a:lnTo>
                <a:lnTo>
                  <a:pt x="0" y="262524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6" name="TextBox 6"/>
          <p:cNvSpPr txBox="1"/>
          <p:nvPr/>
        </p:nvSpPr>
        <p:spPr>
          <a:xfrm>
            <a:off x="374665" y="8795385"/>
            <a:ext cx="6259334" cy="462915"/>
          </a:xfrm>
          <a:prstGeom prst="rect">
            <a:avLst/>
          </a:prstGeom>
        </p:spPr>
        <p:txBody>
          <a:bodyPr lIns="0" tIns="0" rIns="0" bIns="0" rtlCol="0" anchor="t">
            <a:spAutoFit/>
          </a:bodyPr>
          <a:lstStyle/>
          <a:p>
            <a:pPr algn="ctr">
              <a:lnSpc>
                <a:spcPts val="3465"/>
              </a:lnSpc>
            </a:pPr>
            <a:r>
              <a:rPr lang="en-US" sz="3300" spc="-26">
                <a:solidFill>
                  <a:srgbClr val="FFFFFF"/>
                </a:solidFill>
                <a:latin typeface="Open Sauce"/>
                <a:ea typeface="Open Sauce"/>
                <a:cs typeface="Open Sauce"/>
                <a:sym typeface="Open Sauce"/>
              </a:rPr>
              <a:t>Satelite Alison Ndayikunda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1839</Words>
  <Application>Microsoft Office PowerPoint</Application>
  <PresentationFormat>Custom</PresentationFormat>
  <Paragraphs>237</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Open Sauce</vt:lpstr>
      <vt:lpstr>Open Sauce Medium</vt:lpstr>
      <vt:lpstr>Open Sauce Bold</vt:lpstr>
      <vt:lpstr>Wingdings</vt:lpstr>
      <vt:lpstr>Open Sauce Semi-Bold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White Simple Personal Finance Presentation</dc:title>
  <cp:lastModifiedBy>Satelite Alison Ndayikunda</cp:lastModifiedBy>
  <cp:revision>4</cp:revision>
  <dcterms:created xsi:type="dcterms:W3CDTF">2006-08-16T00:00:00Z</dcterms:created>
  <dcterms:modified xsi:type="dcterms:W3CDTF">2025-11-21T06:20:36Z</dcterms:modified>
  <dc:identifier>DAG5LMcv_PM</dc:identifier>
</cp:coreProperties>
</file>